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Тема работы: как правильно проверять, что одна модель машинного обучения действительно лучше другой. Я покажу на расчётах, где обычный подход ломается, а где нет.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Две модели дали, например, 0.950 и 0.933 точности. Значима эта разница или нам просто повезло с разбиением? Чтобы ответить, нужна проверка статистической гипотезы. В систематическом обзоре Király и соавторов (121 подходящая работа NeurIPS 2017 из выборки в 679 аннотаций) лишь 3% сообщали о формальном сравнении алгоритма с baseline, и 32% приводили доверительные интервалы. Важно: это не то же самое, что «3% применяли t-test».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Пример десяти частей данных. В первом фолде проверка идёт на части 1, а обучение на частях 2–10. Во втором фолде проверка на части 2, обучение на частях 1 и 3–10. Общие части обучения: с 3 по 10, то есть 8 из 9. Поэтому две модели, обученные в этих фолдах, почти одинаковы, и их ошибки связаны. Парный t-test же считает, что 10 разностей независимы, как 10 бросков монеты. Формально это допущение нарушено. Насколько это важно на практике, проверяет симуляция в конце работы.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Цель — не придумать новую статистику, а честно проверить известные методы на современных моделях и открытых данных. Пять шагов плана перед вами. Напомню, как читать p-value: маленькое значение означает, что такая разница редко получается случайно.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Пятнадцать открытых датасетов разного размера: от 178 до 5404 объектов, от 4 до 64 признаков, от 2 до 10 классов. Чем больше разных датасетов, тем надёжнее групповое сравнение моделей: в классических работах по этой теме берут 14–30. В credit_g есть категориальные признаки, поэтому их кодирование (one-hot) встроено в модель и выполняется в каждом фолде отдельно.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Код загружает все 15 датасетов в один словарь. Три берутся из sklearn, остальные с сайта OpenML по названию. Параметр as_frame=True возвращает таблицу pandas: у столбцов сохраняются типы, и категориальные признаки можно отличить от числовых. Метки классов приводятся к массиву. Справа размеры нескольких датасетов, как их показывает таблица info в ноутбуке.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Три семейства моделей: линейная, бэггинг и бустинг. Тюнинг гиперпараметров не делается намеренно: настройка на тех же данных, на которых потом сравнивают модели, исказила бы сравнение. Точность считается по 10-fold кросс-валидации. Масштабирование признаков (нужно логистической регрессии, иначе она не сходится) и кодирование категорий встроены в модель как конвейер и выполняются отдельно в каждом фолде.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make_models собирает три модели. Каждая это конвейер: сначала предобработка, потом сама модель. Предобработка внутри конвейера обучается только на обучающей части каждого фолда, поэтому информация из проверочной части не попадает в обучение. cross_val_score делит данные на 10 фолдов и возвращает 10 значений точности. Мы сохраняем весь массив, а не среднее: тестам нужны значения по фолдам.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Цвет считается внутри строки: чем темнее клетка, тем лучше модель на этом датасете, самая светлая это худшая. Числа в клетках — средняя точность. Цвет показывает порядок моделей, а величину разрыва нужно читать по числам. Важный момент: до стандартизации признаков логистическая регрессия не сходилась и выглядела худшей почти везде. После исправления ни одна модель не лидирует везде.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Все четыре теста проверяют одну и ту же нулевую гипотезу о равенстве моделей, но устроены по-разному. Наивный и corrected используют одни и те же фолды кросс-валидации, у corrected дисперсия увеличена. Corrected-тест берётся из библиотеки baycomp, где реализована поправка Nadeau и Bengio. Обратите внимание: функция paired_ttest_kfold_cv из mlxtend поправки не содержит, она считает обычный t-test. 5×2cv использует половинные разбиения. McNemar смотрит только на объекты, где модели расходятся, поэтому он отвечает на немного другой вопрос.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Одна и та же пара моделей, один и тот же вопрос, но четыре разных p-value.Наивный тест (0.026) находит значимую разницу. Corrected (0.100), 5×2cv (0.140) и McNemar (0.118) значимости не находят. Разница между наивным и corrected только в знаменателе: у corrected стандартная ошибка больше в 1.45 раза из-за зависимости фолдов. McNemar смотрит на 15 объектов из 450, где модели расходятся: RF права 4 раза, LogReg 11 раз.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Наивный тест принимает два массива точности по фолдам. Corrected-тест: функция CorrelatedTTest.probs из библиотеки baycomp возвращает две вероятности, это два хвоста распределения разности. Двустороннее p-value равно удвоенной меньшей из них. Поправку Nadeau и Bengio библиотека применяет внутри сама, вручную её писать не нужно. 5×2cv берётся из mlxtend: он принимает сами модели и данные, делит данные пополам пять раз.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Одно разбиение на обучение и проверку, обе модели обучаются один раз. mcnemar_table строит таблицу два на два: на диагонали объекты, где модели согласны, вне диагонали те, где расходятся. Когда расходящихся объектов мало (меньше 25), приближённая формула хи-квадрат неточна, и используется точный биномиальный тест. Здесь расходятся 15 объектов: 4 против 11, p = 0.118.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Три пары моделей на 15 датасетах, всего 45 сравнений. Каждая точка это одно сравнение: по горизонтали p-value наивного теста, по вертикали p-value теста с поправкой, обе шкалы логарифмические. Диагональ пунктиром означает «p одинаковые». Все точки выше диагонали: поправка всегда увеличивает p. Пунктирные линии это порог 0.05. Оранжевые квадраты левее вертикального порога и выше горизонтального: наивный тест называл разницу значимой, а с поправкой она уже незначима. Точки у левого края это p меньше 0.00002 (показаны на границе). Справа сколько сравнений каждый тест называет значимым.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Функция считает все четыре теста для одной пары моделей на одном датасете. Наивный и corrected тесты берут готовые значения точности по фолдам, поэтому они считаются по одним и тем же фолдам. 5×2cv и McNemar зависят от случайного разбиения, поэтому берётся медиана p-value по нескольким разным разбиениям: 5 для 5×2cv и 10 для McNemar. Для 45 сравнений функция вызывается параллельно, результат собирается в таблицу all_pairs.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Как читать: у каждой пары две линии. Подпись слева «RF минус LogReg, digits» значит, что считается разница точности «RF минус LogReg» на датасете digits. Точка на линии это средняя разница по 10 фолдам. Отрезок это диапазон, в котором истинная разница может лежать с вероятностью 95%. Пунктир на нуле означает «разницы нет». Если отрезок накрывает ноль, ноль нельзя исключить. Синяя линия считается с обычной стандартной ошибкой, оранжевая с поправкой на зависимость фолдов, поэтому она шире. Центр отрезка это просто средняя разность, а ширина показывает неопределённость.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Интервал строится как среднее плюс-минус критическое значение t, умноженное на стандартную ошибку. Единственное отличие синего интервала от оранжевого это стандартная ошибка: у оранжевого она больше, потому что дисперсия берётся с поправкой Nadeau и Bengio из библиотеки baycomp. На паре RF и LogReg на digits наивный интервал не накрывает ноль, а интервал с поправкой накрывает.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 каждом из 15 датасетов три модели ранжируются по точности: 1 лучшая, 3 худшая. Затем ранги усредняются по датасетам. Если бы одна модель была лучше других, её средний ранг был бы заметно меньше. Здесь ранги почти равны: 1.83, 1.93 и 2.23. Критерий Фридмана проверяет, можно ли отличить такой разброс рангов от случайного, и отвечает «нет» (p = 0.52). Поэтому пост-тест Неменьи формально не нужен, он показан для полноты. Критическая разность рангов около 0.86, а наибольшая наблюдаемая разность 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 таблица средней точности: 15 датасетов, три модели. Критерий Фридмана получает три колонки и проверяет, одинаковы ли ранги моделей. Он незначим (p = 0.52). Пост-тест Неменьи при этом показан для полноты: он выдаёт матрицу p-value для всех пар, и все они далеки от 0.05. Средние ранги затем идут на диаграмму критических различий.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Каждый тест проверяет 45 гипотез. Если на каждую смотреть с порогом 0.05, то даже без реальных различий в среднем 45 умножить на 0.05, то есть около 2 сравнений, окажутся «значимыми» случайно. Метод Холма пересчитывает p-value так, чтобы вероятность хотя бы одной ложной находки среди всех 45 не превышала 0.05. Слева число значимых сравнений до поправки, справа после. Те шесть сравнений, что остались у наивного и corrected тестов, имеют разрыв между моделями от 2 до 16 процентных пунктов: это настоящие различия, и все тесты их видят.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Для каждого из четырёх тестов берётся столбец из 45 p-value и передаётся в multipletests с методом holm. Функция возвращает исправленные p-value и флаги reject: отвергается ли гипотеза после поправки. Потом считаем, сколько сравнений было значимо до поправки (p меньше 0.05) и сколько осталось после.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 реальных данных мы не знаем истинной разницы между моделями, поэтому сравнивать тесты «по правоте» нельзя. Здесь данные генерируются так, что ответ известен: у каждого объекта два независимых вида признаков, модель A видит первый, модель B второй. При одинаковой силе сигнала ожидаемая точность равна, то есть H₀ верна. Повторные случайные разбиения добавлены потому, что именно для них Nadeau и Bengio придумали поправку.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Три ключевых куска кода. Первая функция превращает вектор разностей точности в p-value, и именно через множитель дисперсии различаются наивный тест и тест с поправкой. Вторая генерирует данные с двумя независимыми видами признаков. Цикл прогоняет пятьсот повторов для каждого сценария и считает долю случаев, когда p меньше 0.05.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Слева ошибка первого рода: при равных моделях хороший тест должен давать около 5%. Наивный t-test на повторных случайных разбиениях ошибается в 59% случаев, потому что пересечение обучающих выборок там максимально. Поправка Nadeau и Bengio возвращает ошибку к 3.8%. Наивный тест на 10-fold в этом дизайне в норме, 3%. А поправка на 10-fold слишком консервативна: мощность падает с 53% до 25%. Поэтому большие p-value у corrected теста на реальных данных отчасти объясняются потерей мощности. Результат получен на одном дизайне, цифры на других данных будут иными.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Главный вывод: метод проверки нужно выбирать и обосновывать, а не брать по умолчанию. Одни и те же данные дают разные ответы: наивный тест называет значимыми 20 сравнений из 45, corrected 14. Там, где разрыв между моделями большой, все тесты согласны. Расходятся они на пограничных результатах. Симуляция показала, что наивный тест действительно ломается на повторных случайных разбиениях, а на 10-fold он близок к норме, и поправка там излишне осторожна. Групповое сравнение не нашло лучшей модели в целом: когда логистическую регрессию правильно подготовили (стандартизация признаков), она перестала быть худшей.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Ограничения, которые остались после исправлений. Пятнадцать датасетов это уровень классических работ, но групповой тест всё равно может не заметить небольшие различия. Гиперпараметры не настраивались намеренно. Истинная разница на реальных данных неизвестна, поэтому о правильности тестов можно судить только по симуляции, где ответ задан. Симуляция это один дизайн, хотя размер выборки менялся. Уже исправленные ограничения: стандартизация признаков для логистической регрессии, кодирование категорий внутри фолдов, поправка Nadeau и Bengio берётся из библиотеки, а не пишется вручную, 5×2cv и McNemar усреднены по разбиениям.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Основные источники: Dietterich предложил 5×2cv и McNemar для сравнения алгоритмов, Nadeau и Bengio — поправку к дисперсии, Demšar — схему группового сравнения (Фридман и Неменьи), García и Herrera — поправки на множественные сравнения. Обзор Király и соавторов — аргумент о том, что статистическую проверку на практике проводят редко.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Если спросят, почему корректные p-value больше: частично это исправление наивного теста, а частично потеря мощности у поправки на 10-fold, это видно по симуляции.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BF8"/>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29360"/>
            <a:ext cx="10566400" cy="467360"/>
          </a:xfrm>
          <a:prstGeom prst="rect">
            <a:avLst/>
          </a:prstGeom>
          <a:noFill/>
          <a:ln/>
        </p:spPr>
        <p:txBody>
          <a:bodyPr wrap="square" lIns="0" tIns="0" rIns="0" bIns="0" rtlCol="0" anchor="t"/>
          <a:lstStyle>
            <a:lvl1pPr algn="l" indent="0" marL="0">
              <a:lnSpc>
                <a:spcPct val="115000"/>
              </a:lnSpc>
              <a:buNone/>
              <a:defRPr lang="en-US" sz="3200" dirty="0">
                <a:solidFill>
                  <a:srgbClr val="1A1A1A"/>
                </a:solidFill>
                <a:latin typeface="Arial" pitchFamily="34" charset="0"/>
                <a:ea typeface="Arial" pitchFamily="34" charset="-122"/>
                <a:cs typeface="Arial"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001520"/>
            <a:ext cx="10566400" cy="4043680"/>
          </a:xfrm>
          <a:prstGeom prst="rect">
            <a:avLst/>
          </a:prstGeom>
          <a:noFill/>
          <a:ln/>
        </p:spPr>
        <p:txBody>
          <a:bodyPr wrap="square" lIns="0" tIns="0" rIns="0" bIns="0" rtlCol="0" anchor="t"/>
          <a:lstStyle>
            <a:lvl1pPr algn="l" indent="0" marL="0">
              <a:lnSpc>
                <a:spcPct val="140000"/>
              </a:lnSpc>
              <a:buNone/>
              <a:defRPr lang="en-US" sz="1600" dirty="0">
                <a:solidFill>
                  <a:srgbClr val="1A1A1A"/>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BF8"/>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29360"/>
            <a:ext cx="10566400" cy="467360"/>
          </a:xfrm>
          <a:prstGeom prst="rect">
            <a:avLst/>
          </a:prstGeom>
          <a:noFill/>
          <a:ln/>
        </p:spPr>
        <p:txBody>
          <a:bodyPr wrap="square" lIns="0" tIns="0" rIns="0" bIns="0" rtlCol="0" anchor="t"/>
          <a:lstStyle>
            <a:lvl1pPr algn="l" indent="0" marL="0">
              <a:lnSpc>
                <a:spcPct val="115000"/>
              </a:lnSpc>
              <a:buNone/>
              <a:defRPr lang="en-US" sz="3200" dirty="0">
                <a:solidFill>
                  <a:srgbClr val="1A1A1A"/>
                </a:solidFill>
                <a:latin typeface="Arial" pitchFamily="34" charset="0"/>
                <a:ea typeface="Arial" pitchFamily="34" charset="-122"/>
                <a:cs typeface="Arial"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001520"/>
            <a:ext cx="10566400" cy="4043680"/>
          </a:xfrm>
          <a:prstGeom prst="rect">
            <a:avLst/>
          </a:prstGeom>
          <a:noFill/>
          <a:ln/>
        </p:spPr>
        <p:txBody>
          <a:bodyPr wrap="square" lIns="0" tIns="0" rIns="0" bIns="0" rtlCol="0" anchor="t"/>
          <a:lstStyle>
            <a:lvl1pPr algn="l" indent="0" marL="0">
              <a:lnSpc>
                <a:spcPct val="140000"/>
              </a:lnSpc>
              <a:buNone/>
              <a:defRPr lang="en-US" sz="1600" dirty="0">
                <a:solidFill>
                  <a:srgbClr val="1A1A1A"/>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02B"/>
        </a:solidFill>
      </p:bgPr>
    </p:bg>
    <p:spTree>
      <p:nvGrpSpPr>
        <p:cNvPr id="1" name=""/>
        <p:cNvGrpSpPr/>
        <p:nvPr/>
      </p:nvGrpSpPr>
      <p:grpSpPr>
        <a:xfrm>
          <a:off x="0" y="0"/>
          <a:ext cx="0" cy="0"/>
          <a:chOff x="0" y="0"/>
          <a:chExt cx="0" cy="0"/>
        </a:xfrm>
      </p:grpSpPr>
      <p:sp>
        <p:nvSpPr>
          <p:cNvPr id="2" name="Text 0"/>
          <p:cNvSpPr/>
          <p:nvPr/>
        </p:nvSpPr>
        <p:spPr>
          <a:xfrm>
            <a:off x="812800" y="167132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8AB8F0"/>
                </a:solidFill>
                <a:latin typeface="Arial" pitchFamily="34" charset="0"/>
                <a:ea typeface="Arial" pitchFamily="34" charset="-122"/>
                <a:cs typeface="Arial" pitchFamily="34" charset="-120"/>
              </a:rPr>
              <a:t>КУРСОВОЙ ПРОЕКТ · СТАТИСТИЧЕСКИЙ АНАЛИЗ ДАННЫХ</a:t>
            </a:r>
            <a:endParaRPr lang="en-US" sz="1400" dirty="0"/>
          </a:p>
        </p:txBody>
      </p:sp>
      <p:sp>
        <p:nvSpPr>
          <p:cNvPr id="3" name="Shape 1"/>
          <p:cNvSpPr/>
          <p:nvPr/>
        </p:nvSpPr>
        <p:spPr>
          <a:xfrm>
            <a:off x="812800" y="2174240"/>
            <a:ext cx="609600" cy="50800"/>
          </a:xfrm>
          <a:prstGeom prst="rect">
            <a:avLst/>
          </a:prstGeom>
          <a:solidFill>
            <a:srgbClr val="2A78D6"/>
          </a:solidFill>
          <a:ln/>
        </p:spPr>
      </p:sp>
      <p:sp>
        <p:nvSpPr>
          <p:cNvPr id="4" name="Text 2"/>
          <p:cNvSpPr/>
          <p:nvPr>
            <p:ph type="title"/>
          </p:nvPr>
        </p:nvSpPr>
        <p:spPr>
          <a:xfrm>
            <a:off x="812800" y="2479040"/>
            <a:ext cx="9810750" cy="1254760"/>
          </a:xfrm>
          <a:prstGeom prst="rect">
            <a:avLst/>
          </a:prstGeom>
          <a:noFill/>
          <a:ln/>
        </p:spPr>
        <p:txBody>
          <a:bodyPr wrap="square" lIns="0" tIns="0" rIns="0" bIns="0" rtlCol="0" anchor="t">
            <a:normAutofit/>
          </a:bodyPr>
          <a:lstStyle/>
          <a:p>
            <a:pPr algn="l" indent="0" marL="0">
              <a:lnSpc>
                <a:spcPts val="4840"/>
              </a:lnSpc>
              <a:buNone/>
            </a:pPr>
            <a:r>
              <a:rPr lang="en-US" sz="4400" b="1" i="0" dirty="0">
                <a:solidFill>
                  <a:srgbClr val="F4F4EF"/>
                </a:solidFill>
                <a:latin typeface="Arial" pitchFamily="34" charset="0"/>
                <a:ea typeface="Arial" pitchFamily="34" charset="-122"/>
                <a:cs typeface="Arial" pitchFamily="34" charset="-120"/>
              </a:rPr>
              <a:t>Значимость различий в качестве классификаторов</a:t>
            </a:r>
            <a:endParaRPr lang="en-US" sz="4400" dirty="0"/>
          </a:p>
        </p:txBody>
      </p:sp>
      <p:sp>
        <p:nvSpPr>
          <p:cNvPr id="5" name="Text 3"/>
          <p:cNvSpPr/>
          <p:nvPr/>
        </p:nvSpPr>
        <p:spPr>
          <a:xfrm>
            <a:off x="812800" y="3962400"/>
            <a:ext cx="915670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C9D2DB"/>
                </a:solidFill>
                <a:latin typeface="Arial" pitchFamily="34" charset="0"/>
                <a:ea typeface="Arial" pitchFamily="34" charset="-122"/>
                <a:cs typeface="Arial" pitchFamily="34" charset="-120"/>
              </a:rPr>
              <a:t>Наивные и корректные методы проверки гипотез при сравнении моделей на нескольких наборах данных</a:t>
            </a:r>
            <a:endParaRPr lang="en-US" sz="2000" dirty="0"/>
          </a:p>
        </p:txBody>
      </p:sp>
      <p:sp>
        <p:nvSpPr>
          <p:cNvPr id="6" name="Text 4"/>
          <p:cNvSpPr/>
          <p:nvPr/>
        </p:nvSpPr>
        <p:spPr>
          <a:xfrm>
            <a:off x="812800" y="490220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EB8C2"/>
                </a:solidFill>
                <a:latin typeface="Arial" pitchFamily="34" charset="0"/>
                <a:ea typeface="Arial" pitchFamily="34" charset="-122"/>
                <a:cs typeface="Arial" pitchFamily="34" charset="-120"/>
              </a:rPr>
              <a:t>Кирилл Дмитриев</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2B5"/>
                </a:solidFill>
                <a:latin typeface="Arial" pitchFamily="34" charset="0"/>
                <a:ea typeface="Arial" pitchFamily="34" charset="-122"/>
                <a:cs typeface="Arial" pitchFamily="34" charset="-120"/>
              </a:rPr>
              <a:t>01 · ПОСТАНОВКА</a:t>
            </a:r>
            <a:endParaRPr lang="en-US" sz="1200" dirty="0"/>
          </a:p>
        </p:txBody>
      </p:sp>
      <p:sp>
        <p:nvSpPr>
          <p:cNvPr id="3" name="Text 1"/>
          <p:cNvSpPr/>
          <p:nvPr>
            <p:ph type="title"/>
          </p:nvPr>
        </p:nvSpPr>
        <p:spPr>
          <a:xfrm>
            <a:off x="812800" y="122936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A1A1A"/>
                </a:solidFill>
                <a:latin typeface="Arial" pitchFamily="34" charset="0"/>
                <a:ea typeface="Arial" pitchFamily="34" charset="-122"/>
                <a:cs typeface="Arial" pitchFamily="34" charset="-120"/>
              </a:rPr>
              <a:t>Разница в точности — случайная величина</a:t>
            </a:r>
            <a:endParaRPr lang="en-US" sz="3200" dirty="0"/>
          </a:p>
        </p:txBody>
      </p:sp>
      <p:sp>
        <p:nvSpPr>
          <p:cNvPr id="4" name="Shape 2"/>
          <p:cNvSpPr/>
          <p:nvPr/>
        </p:nvSpPr>
        <p:spPr>
          <a:xfrm>
            <a:off x="812800" y="1899920"/>
            <a:ext cx="5181600" cy="2947670"/>
          </a:xfrm>
          <a:prstGeom prst="roundRect">
            <a:avLst>
              <a:gd name="adj" fmla="val 3447"/>
            </a:avLst>
          </a:prstGeom>
          <a:solidFill>
            <a:srgbClr val="F1F1EC"/>
          </a:solidFill>
          <a:ln/>
        </p:spPr>
      </p:sp>
      <p:sp>
        <p:nvSpPr>
          <p:cNvPr id="5" name="Text 3"/>
          <p:cNvSpPr/>
          <p:nvPr/>
        </p:nvSpPr>
        <p:spPr>
          <a:xfrm>
            <a:off x="1117600" y="2204720"/>
            <a:ext cx="4709160" cy="1073150"/>
          </a:xfrm>
          <a:prstGeom prst="rect">
            <a:avLst/>
          </a:prstGeom>
          <a:noFill/>
          <a:ln/>
        </p:spPr>
        <p:txBody>
          <a:bodyPr wrap="square" lIns="0" tIns="0" rIns="0" bIns="0" rtlCol="0" anchor="t">
            <a:normAutofit/>
          </a:bodyPr>
          <a:lstStyle/>
          <a:p>
            <a:pPr algn="l" indent="0" marL="0">
              <a:lnSpc>
                <a:spcPts val="2750"/>
              </a:lnSpc>
              <a:buNone/>
            </a:pPr>
            <a:r>
              <a:rPr lang="en-US" sz="2200" dirty="0">
                <a:solidFill>
                  <a:srgbClr val="1A1A1A"/>
                </a:solidFill>
                <a:latin typeface="Arial" pitchFamily="34" charset="0"/>
                <a:ea typeface="Arial" pitchFamily="34" charset="-122"/>
                <a:cs typeface="Arial" pitchFamily="34" charset="-120"/>
              </a:rPr>
              <a:t>Обычно смотрят, у какой модели число больше, и считают это доказательством.</a:t>
            </a:r>
            <a:endParaRPr lang="en-US" sz="2200" dirty="0"/>
          </a:p>
        </p:txBody>
      </p:sp>
      <p:sp>
        <p:nvSpPr>
          <p:cNvPr id="6" name="Text 4"/>
          <p:cNvSpPr/>
          <p:nvPr/>
        </p:nvSpPr>
        <p:spPr>
          <a:xfrm>
            <a:off x="1117600" y="3404870"/>
            <a:ext cx="4709160" cy="1163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F6670"/>
                </a:solidFill>
                <a:latin typeface="Arial" pitchFamily="34" charset="0"/>
                <a:ea typeface="Arial" pitchFamily="34" charset="-122"/>
                <a:cs typeface="Arial" pitchFamily="34" charset="-120"/>
              </a:rPr>
              <a:t>Но точность зависит от того, на каких объектах модель обучали и проверяли. Чтобы утверждать «A лучше B», нужна проверка гипотезы.</a:t>
            </a:r>
            <a:endParaRPr lang="en-US" sz="1600" dirty="0"/>
          </a:p>
        </p:txBody>
      </p:sp>
      <p:sp>
        <p:nvSpPr>
          <p:cNvPr id="7" name="Shape 5"/>
          <p:cNvSpPr/>
          <p:nvPr/>
        </p:nvSpPr>
        <p:spPr>
          <a:xfrm>
            <a:off x="6197600" y="1899920"/>
            <a:ext cx="5181600" cy="2947670"/>
          </a:xfrm>
          <a:prstGeom prst="roundRect">
            <a:avLst>
              <a:gd name="adj" fmla="val 3447"/>
            </a:avLst>
          </a:prstGeom>
          <a:solidFill>
            <a:srgbClr val="F1F1EC"/>
          </a:solidFill>
          <a:ln/>
        </p:spPr>
      </p:sp>
      <p:sp>
        <p:nvSpPr>
          <p:cNvPr id="8" name="Text 6"/>
          <p:cNvSpPr/>
          <p:nvPr/>
        </p:nvSpPr>
        <p:spPr>
          <a:xfrm>
            <a:off x="6502400" y="2372995"/>
            <a:ext cx="4709160"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1F62B5"/>
                </a:solidFill>
                <a:latin typeface="Arial" pitchFamily="34" charset="0"/>
                <a:ea typeface="Arial" pitchFamily="34" charset="-122"/>
                <a:cs typeface="Arial" pitchFamily="34" charset="-120"/>
              </a:rPr>
              <a:t>≈3%</a:t>
            </a:r>
            <a:endParaRPr lang="en-US" sz="6000" dirty="0"/>
          </a:p>
        </p:txBody>
      </p:sp>
      <p:sp>
        <p:nvSpPr>
          <p:cNvPr id="9" name="Text 7"/>
          <p:cNvSpPr/>
          <p:nvPr/>
        </p:nvSpPr>
        <p:spPr>
          <a:xfrm>
            <a:off x="6502400" y="3236595"/>
            <a:ext cx="4709160" cy="84836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A1A1A"/>
                </a:solidFill>
                <a:latin typeface="Arial" pitchFamily="34" charset="0"/>
                <a:ea typeface="Arial" pitchFamily="34" charset="-122"/>
                <a:cs typeface="Arial" pitchFamily="34" charset="-120"/>
              </a:rPr>
              <a:t>из 121 работы NeurIPS 2017 в обзоре сообщали о формальном сравнении алгоритма с baseline</a:t>
            </a:r>
            <a:endParaRPr lang="en-US" sz="1600" dirty="0"/>
          </a:p>
        </p:txBody>
      </p:sp>
      <p:sp>
        <p:nvSpPr>
          <p:cNvPr id="10" name="Text 8"/>
          <p:cNvSpPr/>
          <p:nvPr/>
        </p:nvSpPr>
        <p:spPr>
          <a:xfrm>
            <a:off x="6502400" y="4161155"/>
            <a:ext cx="470916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Arial" pitchFamily="34" charset="0"/>
                <a:ea typeface="Arial" pitchFamily="34" charset="-122"/>
                <a:cs typeface="Arial" pitchFamily="34" charset="-120"/>
              </a:rPr>
              <a:t>Király, Mateen, Sonabend (2018), arXiv:1812.07519</a:t>
            </a:r>
            <a:endParaRPr lang="en-US" sz="1200" dirty="0"/>
          </a:p>
        </p:txBody>
      </p:sp>
      <p:sp>
        <p:nvSpPr>
          <p:cNvPr id="11" name="Text 9"/>
          <p:cNvSpPr/>
          <p:nvPr/>
        </p:nvSpPr>
        <p:spPr>
          <a:xfrm>
            <a:off x="812800" y="6238241"/>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Arial" pitchFamily="34" charset="0"/>
                <a:ea typeface="Arial" pitchFamily="34" charset="-122"/>
                <a:cs typeface="Arial" pitchFamily="34" charset="-120"/>
              </a:rPr>
              <a:t>Значимость различий в качестве классификаторов</a:t>
            </a:r>
            <a:endParaRPr lang="en-US" sz="1200" dirty="0"/>
          </a:p>
        </p:txBody>
      </p:sp>
      <p:sp>
        <p:nvSpPr>
          <p:cNvPr id="12" name="Text 10"/>
          <p:cNvSpPr/>
          <p:nvPr/>
        </p:nvSpPr>
        <p:spPr>
          <a:xfrm>
            <a:off x="10566400" y="6238241"/>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0"/>
                </a:solidFill>
                <a:latin typeface="Arial" pitchFamily="34" charset="0"/>
                <a:ea typeface="Arial" pitchFamily="34" charset="-122"/>
                <a:cs typeface="Arial"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2B5"/>
                </a:solidFill>
                <a:latin typeface="Arial" pitchFamily="34" charset="0"/>
                <a:ea typeface="Arial" pitchFamily="34" charset="-122"/>
                <a:cs typeface="Arial" pitchFamily="34" charset="-120"/>
              </a:rPr>
              <a:t>01 · ПОСТАНОВКА</a:t>
            </a:r>
            <a:endParaRPr lang="en-US" sz="1200" dirty="0"/>
          </a:p>
        </p:txBody>
      </p:sp>
      <p:sp>
        <p:nvSpPr>
          <p:cNvPr id="3" name="Text 1"/>
          <p:cNvSpPr/>
          <p:nvPr>
            <p:ph type="title"/>
          </p:nvPr>
        </p:nvSpPr>
        <p:spPr>
          <a:xfrm>
            <a:off x="812800" y="12293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A1A1A"/>
                </a:solidFill>
                <a:latin typeface="Arial" pitchFamily="34" charset="0"/>
                <a:ea typeface="Arial" pitchFamily="34" charset="-122"/>
                <a:cs typeface="Arial" pitchFamily="34" charset="-120"/>
              </a:rPr>
              <a:t>Почему очевидный тест сомнителен</a:t>
            </a:r>
            <a:endParaRPr lang="en-US" sz="3200" dirty="0"/>
          </a:p>
        </p:txBody>
      </p:sp>
      <p:sp>
        <p:nvSpPr>
          <p:cNvPr id="4" name="Text 2"/>
          <p:cNvSpPr/>
          <p:nvPr/>
        </p:nvSpPr>
        <p:spPr>
          <a:xfrm>
            <a:off x="812800" y="1899920"/>
            <a:ext cx="10883392" cy="6299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A1A1A"/>
                </a:solidFill>
                <a:latin typeface="Arial" pitchFamily="34" charset="0"/>
                <a:ea typeface="Arial" pitchFamily="34" charset="-122"/>
                <a:cs typeface="Arial" pitchFamily="34" charset="-120"/>
              </a:rPr>
              <a:t>Данные делятся на 10 частей. В каждом фолде одна часть — </a:t>
            </a:r>
            <a:r>
              <a:rPr lang="en-US" sz="1700" b="1" dirty="0">
                <a:solidFill>
                  <a:srgbClr val="C2410C"/>
                </a:solidFill>
                <a:latin typeface="Arial" pitchFamily="34" charset="0"/>
                <a:ea typeface="Arial" pitchFamily="34" charset="-122"/>
                <a:cs typeface="Arial" pitchFamily="34" charset="-120"/>
              </a:rPr>
              <a:t>проверка</a:t>
            </a:r>
            <a:r>
              <a:rPr lang="en-US" sz="1700" dirty="0">
                <a:solidFill>
                  <a:srgbClr val="1A1A1A"/>
                </a:solidFill>
                <a:latin typeface="Arial" pitchFamily="34" charset="0"/>
                <a:ea typeface="Arial" pitchFamily="34" charset="-122"/>
                <a:cs typeface="Arial" pitchFamily="34" charset="-120"/>
              </a:rPr>
              <a:t>, остальные девять — </a:t>
            </a:r>
            <a:r>
              <a:rPr lang="en-US" sz="1700" b="1" dirty="0">
                <a:solidFill>
                  <a:srgbClr val="1F62B5"/>
                </a:solidFill>
                <a:latin typeface="Arial" pitchFamily="34" charset="0"/>
                <a:ea typeface="Arial" pitchFamily="34" charset="-122"/>
                <a:cs typeface="Arial" pitchFamily="34" charset="-120"/>
              </a:rPr>
              <a:t>обучение</a:t>
            </a:r>
            <a:r>
              <a:rPr lang="en-US" sz="1700" dirty="0">
                <a:solidFill>
                  <a:srgbClr val="1A1A1A"/>
                </a:solidFill>
                <a:latin typeface="Arial" pitchFamily="34" charset="0"/>
                <a:ea typeface="Arial" pitchFamily="34" charset="-122"/>
                <a:cs typeface="Arial" pitchFamily="34" charset="-120"/>
              </a:rPr>
              <a:t>.</a:t>
            </a:r>
            <a:endParaRPr lang="en-US" sz="1700" dirty="0"/>
          </a:p>
        </p:txBody>
      </p:sp>
      <p:sp>
        <p:nvSpPr>
          <p:cNvPr id="5" name="Text 3"/>
          <p:cNvSpPr/>
          <p:nvPr/>
        </p:nvSpPr>
        <p:spPr>
          <a:xfrm>
            <a:off x="812800" y="2802891"/>
            <a:ext cx="196215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A1A1A"/>
                </a:solidFill>
                <a:latin typeface="Arial" pitchFamily="34" charset="0"/>
                <a:ea typeface="Arial" pitchFamily="34" charset="-122"/>
                <a:cs typeface="Arial" pitchFamily="34" charset="-120"/>
              </a:rPr>
              <a:t>Фолд 1</a:t>
            </a:r>
            <a:endParaRPr lang="en-US" sz="1500" dirty="0"/>
          </a:p>
        </p:txBody>
      </p:sp>
      <p:sp>
        <p:nvSpPr>
          <p:cNvPr id="6" name="Text 4"/>
          <p:cNvSpPr/>
          <p:nvPr/>
        </p:nvSpPr>
        <p:spPr>
          <a:xfrm>
            <a:off x="2768600" y="2707641"/>
            <a:ext cx="635000" cy="457200"/>
          </a:xfrm>
          <a:prstGeom prst="roundRect">
            <a:avLst>
              <a:gd name="adj" fmla="val 11111"/>
            </a:avLst>
          </a:prstGeom>
          <a:solidFill>
            <a:srgbClr val="C2410C"/>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3454400" y="2707641"/>
            <a:ext cx="635000" cy="457200"/>
          </a:xfrm>
          <a:prstGeom prst="roundRect">
            <a:avLst>
              <a:gd name="adj" fmla="val 11111"/>
            </a:avLst>
          </a:prstGeom>
          <a:solidFill>
            <a:srgbClr val="1F62B5"/>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8" name="Text 6"/>
          <p:cNvSpPr/>
          <p:nvPr/>
        </p:nvSpPr>
        <p:spPr>
          <a:xfrm>
            <a:off x="4140200" y="2707641"/>
            <a:ext cx="635000" cy="457200"/>
          </a:xfrm>
          <a:prstGeom prst="roundRect">
            <a:avLst>
              <a:gd name="adj" fmla="val 11111"/>
            </a:avLst>
          </a:prstGeom>
          <a:solidFill>
            <a:srgbClr val="1F62B5"/>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9" name="Text 7"/>
          <p:cNvSpPr/>
          <p:nvPr/>
        </p:nvSpPr>
        <p:spPr>
          <a:xfrm>
            <a:off x="4826000" y="2707641"/>
            <a:ext cx="635000" cy="457200"/>
          </a:xfrm>
          <a:prstGeom prst="roundRect">
            <a:avLst>
              <a:gd name="adj" fmla="val 11111"/>
            </a:avLst>
          </a:prstGeom>
          <a:solidFill>
            <a:srgbClr val="1F62B5"/>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0" name="Text 8"/>
          <p:cNvSpPr/>
          <p:nvPr/>
        </p:nvSpPr>
        <p:spPr>
          <a:xfrm>
            <a:off x="5511800" y="2707641"/>
            <a:ext cx="635000" cy="457200"/>
          </a:xfrm>
          <a:prstGeom prst="roundRect">
            <a:avLst>
              <a:gd name="adj" fmla="val 11111"/>
            </a:avLst>
          </a:prstGeom>
          <a:solidFill>
            <a:srgbClr val="1F62B5"/>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11" name="Text 9"/>
          <p:cNvSpPr/>
          <p:nvPr/>
        </p:nvSpPr>
        <p:spPr>
          <a:xfrm>
            <a:off x="6197600" y="2707641"/>
            <a:ext cx="635000" cy="457200"/>
          </a:xfrm>
          <a:prstGeom prst="roundRect">
            <a:avLst>
              <a:gd name="adj" fmla="val 11111"/>
            </a:avLst>
          </a:prstGeom>
          <a:solidFill>
            <a:srgbClr val="1F62B5"/>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12" name="Text 10"/>
          <p:cNvSpPr/>
          <p:nvPr/>
        </p:nvSpPr>
        <p:spPr>
          <a:xfrm>
            <a:off x="6883400" y="2707641"/>
            <a:ext cx="635000" cy="457200"/>
          </a:xfrm>
          <a:prstGeom prst="roundRect">
            <a:avLst>
              <a:gd name="adj" fmla="val 11111"/>
            </a:avLst>
          </a:prstGeom>
          <a:solidFill>
            <a:srgbClr val="1F62B5"/>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Arial" pitchFamily="34" charset="0"/>
                <a:ea typeface="Arial" pitchFamily="34" charset="-122"/>
                <a:cs typeface="Arial" pitchFamily="34" charset="-120"/>
              </a:rPr>
              <a:t>7</a:t>
            </a:r>
            <a:endParaRPr lang="en-US" sz="1400" dirty="0"/>
          </a:p>
        </p:txBody>
      </p:sp>
      <p:sp>
        <p:nvSpPr>
          <p:cNvPr id="13" name="Text 11"/>
          <p:cNvSpPr/>
          <p:nvPr/>
        </p:nvSpPr>
        <p:spPr>
          <a:xfrm>
            <a:off x="7569200" y="2707641"/>
            <a:ext cx="635000" cy="457200"/>
          </a:xfrm>
          <a:prstGeom prst="roundRect">
            <a:avLst>
              <a:gd name="adj" fmla="val 11111"/>
            </a:avLst>
          </a:prstGeom>
          <a:solidFill>
            <a:srgbClr val="1F62B5"/>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Arial" pitchFamily="34" charset="0"/>
                <a:ea typeface="Arial" pitchFamily="34" charset="-122"/>
                <a:cs typeface="Arial" pitchFamily="34" charset="-120"/>
              </a:rPr>
              <a:t>8</a:t>
            </a:r>
            <a:endParaRPr lang="en-US" sz="1400" dirty="0"/>
          </a:p>
        </p:txBody>
      </p:sp>
      <p:sp>
        <p:nvSpPr>
          <p:cNvPr id="14" name="Text 12"/>
          <p:cNvSpPr/>
          <p:nvPr/>
        </p:nvSpPr>
        <p:spPr>
          <a:xfrm>
            <a:off x="8255000" y="2707641"/>
            <a:ext cx="635000" cy="457200"/>
          </a:xfrm>
          <a:prstGeom prst="roundRect">
            <a:avLst>
              <a:gd name="adj" fmla="val 11111"/>
            </a:avLst>
          </a:prstGeom>
          <a:solidFill>
            <a:srgbClr val="1F62B5"/>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Arial" pitchFamily="34" charset="0"/>
                <a:ea typeface="Arial" pitchFamily="34" charset="-122"/>
                <a:cs typeface="Arial" pitchFamily="34" charset="-120"/>
              </a:rPr>
              <a:t>9</a:t>
            </a:r>
            <a:endParaRPr lang="en-US" sz="1400" dirty="0"/>
          </a:p>
        </p:txBody>
      </p:sp>
      <p:sp>
        <p:nvSpPr>
          <p:cNvPr id="15" name="Text 13"/>
          <p:cNvSpPr/>
          <p:nvPr/>
        </p:nvSpPr>
        <p:spPr>
          <a:xfrm>
            <a:off x="8940800" y="2707641"/>
            <a:ext cx="635000" cy="457200"/>
          </a:xfrm>
          <a:prstGeom prst="roundRect">
            <a:avLst>
              <a:gd name="adj" fmla="val 11111"/>
            </a:avLst>
          </a:prstGeom>
          <a:solidFill>
            <a:srgbClr val="1F62B5"/>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Arial" pitchFamily="34" charset="0"/>
                <a:ea typeface="Arial" pitchFamily="34" charset="-122"/>
                <a:cs typeface="Arial" pitchFamily="34" charset="-120"/>
              </a:rPr>
              <a:t>10</a:t>
            </a:r>
            <a:endParaRPr lang="en-US" sz="1400" dirty="0"/>
          </a:p>
        </p:txBody>
      </p:sp>
      <p:sp>
        <p:nvSpPr>
          <p:cNvPr id="16" name="Text 14"/>
          <p:cNvSpPr/>
          <p:nvPr/>
        </p:nvSpPr>
        <p:spPr>
          <a:xfrm>
            <a:off x="812800" y="3361691"/>
            <a:ext cx="196215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A1A1A"/>
                </a:solidFill>
                <a:latin typeface="Arial" pitchFamily="34" charset="0"/>
                <a:ea typeface="Arial" pitchFamily="34" charset="-122"/>
                <a:cs typeface="Arial" pitchFamily="34" charset="-120"/>
              </a:rPr>
              <a:t>Фолд 2</a:t>
            </a:r>
            <a:endParaRPr lang="en-US" sz="1500" dirty="0"/>
          </a:p>
        </p:txBody>
      </p:sp>
      <p:sp>
        <p:nvSpPr>
          <p:cNvPr id="17" name="Text 15"/>
          <p:cNvSpPr/>
          <p:nvPr/>
        </p:nvSpPr>
        <p:spPr>
          <a:xfrm>
            <a:off x="2768600" y="3266441"/>
            <a:ext cx="635000" cy="457200"/>
          </a:xfrm>
          <a:prstGeom prst="roundRect">
            <a:avLst>
              <a:gd name="adj" fmla="val 11111"/>
            </a:avLst>
          </a:prstGeom>
          <a:solidFill>
            <a:srgbClr val="1F62B5"/>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8" name="Text 16"/>
          <p:cNvSpPr/>
          <p:nvPr/>
        </p:nvSpPr>
        <p:spPr>
          <a:xfrm>
            <a:off x="3454400" y="3266441"/>
            <a:ext cx="635000" cy="457200"/>
          </a:xfrm>
          <a:prstGeom prst="roundRect">
            <a:avLst>
              <a:gd name="adj" fmla="val 11111"/>
            </a:avLst>
          </a:prstGeom>
          <a:solidFill>
            <a:srgbClr val="C2410C"/>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9" name="Text 17"/>
          <p:cNvSpPr/>
          <p:nvPr/>
        </p:nvSpPr>
        <p:spPr>
          <a:xfrm>
            <a:off x="4140200" y="3266441"/>
            <a:ext cx="635000" cy="457200"/>
          </a:xfrm>
          <a:prstGeom prst="roundRect">
            <a:avLst>
              <a:gd name="adj" fmla="val 11111"/>
            </a:avLst>
          </a:prstGeom>
          <a:solidFill>
            <a:srgbClr val="1F62B5"/>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8"/>
          <p:cNvSpPr/>
          <p:nvPr/>
        </p:nvSpPr>
        <p:spPr>
          <a:xfrm>
            <a:off x="4826000" y="3266441"/>
            <a:ext cx="635000" cy="457200"/>
          </a:xfrm>
          <a:prstGeom prst="roundRect">
            <a:avLst>
              <a:gd name="adj" fmla="val 11111"/>
            </a:avLst>
          </a:prstGeom>
          <a:solidFill>
            <a:srgbClr val="1F62B5"/>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1" name="Text 19"/>
          <p:cNvSpPr/>
          <p:nvPr/>
        </p:nvSpPr>
        <p:spPr>
          <a:xfrm>
            <a:off x="5511800" y="3266441"/>
            <a:ext cx="635000" cy="457200"/>
          </a:xfrm>
          <a:prstGeom prst="roundRect">
            <a:avLst>
              <a:gd name="adj" fmla="val 11111"/>
            </a:avLst>
          </a:prstGeom>
          <a:solidFill>
            <a:srgbClr val="1F62B5"/>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2" name="Text 20"/>
          <p:cNvSpPr/>
          <p:nvPr/>
        </p:nvSpPr>
        <p:spPr>
          <a:xfrm>
            <a:off x="6197600" y="3266441"/>
            <a:ext cx="635000" cy="457200"/>
          </a:xfrm>
          <a:prstGeom prst="roundRect">
            <a:avLst>
              <a:gd name="adj" fmla="val 11111"/>
            </a:avLst>
          </a:prstGeom>
          <a:solidFill>
            <a:srgbClr val="1F62B5"/>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3" name="Text 21"/>
          <p:cNvSpPr/>
          <p:nvPr/>
        </p:nvSpPr>
        <p:spPr>
          <a:xfrm>
            <a:off x="6883400" y="3266441"/>
            <a:ext cx="635000" cy="457200"/>
          </a:xfrm>
          <a:prstGeom prst="roundRect">
            <a:avLst>
              <a:gd name="adj" fmla="val 11111"/>
            </a:avLst>
          </a:prstGeom>
          <a:solidFill>
            <a:srgbClr val="1F62B5"/>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Arial" pitchFamily="34" charset="0"/>
                <a:ea typeface="Arial" pitchFamily="34" charset="-122"/>
                <a:cs typeface="Arial" pitchFamily="34" charset="-120"/>
              </a:rPr>
              <a:t>7</a:t>
            </a:r>
            <a:endParaRPr lang="en-US" sz="1400" dirty="0"/>
          </a:p>
        </p:txBody>
      </p:sp>
      <p:sp>
        <p:nvSpPr>
          <p:cNvPr id="24" name="Text 22"/>
          <p:cNvSpPr/>
          <p:nvPr/>
        </p:nvSpPr>
        <p:spPr>
          <a:xfrm>
            <a:off x="7569200" y="3266441"/>
            <a:ext cx="635000" cy="457200"/>
          </a:xfrm>
          <a:prstGeom prst="roundRect">
            <a:avLst>
              <a:gd name="adj" fmla="val 11111"/>
            </a:avLst>
          </a:prstGeom>
          <a:solidFill>
            <a:srgbClr val="1F62B5"/>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Arial" pitchFamily="34" charset="0"/>
                <a:ea typeface="Arial" pitchFamily="34" charset="-122"/>
                <a:cs typeface="Arial" pitchFamily="34" charset="-120"/>
              </a:rPr>
              <a:t>8</a:t>
            </a:r>
            <a:endParaRPr lang="en-US" sz="1400" dirty="0"/>
          </a:p>
        </p:txBody>
      </p:sp>
      <p:sp>
        <p:nvSpPr>
          <p:cNvPr id="25" name="Text 23"/>
          <p:cNvSpPr/>
          <p:nvPr/>
        </p:nvSpPr>
        <p:spPr>
          <a:xfrm>
            <a:off x="8255000" y="3266441"/>
            <a:ext cx="635000" cy="457200"/>
          </a:xfrm>
          <a:prstGeom prst="roundRect">
            <a:avLst>
              <a:gd name="adj" fmla="val 11111"/>
            </a:avLst>
          </a:prstGeom>
          <a:solidFill>
            <a:srgbClr val="1F62B5"/>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Arial" pitchFamily="34" charset="0"/>
                <a:ea typeface="Arial" pitchFamily="34" charset="-122"/>
                <a:cs typeface="Arial" pitchFamily="34" charset="-120"/>
              </a:rPr>
              <a:t>9</a:t>
            </a:r>
            <a:endParaRPr lang="en-US" sz="1400" dirty="0"/>
          </a:p>
        </p:txBody>
      </p:sp>
      <p:sp>
        <p:nvSpPr>
          <p:cNvPr id="26" name="Text 24"/>
          <p:cNvSpPr/>
          <p:nvPr/>
        </p:nvSpPr>
        <p:spPr>
          <a:xfrm>
            <a:off x="8940800" y="3266441"/>
            <a:ext cx="635000" cy="457200"/>
          </a:xfrm>
          <a:prstGeom prst="roundRect">
            <a:avLst>
              <a:gd name="adj" fmla="val 11111"/>
            </a:avLst>
          </a:prstGeom>
          <a:solidFill>
            <a:srgbClr val="1F62B5"/>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Arial" pitchFamily="34" charset="0"/>
                <a:ea typeface="Arial" pitchFamily="34" charset="-122"/>
                <a:cs typeface="Arial" pitchFamily="34" charset="-120"/>
              </a:rPr>
              <a:t>10</a:t>
            </a:r>
            <a:endParaRPr lang="en-US" sz="1400" dirty="0"/>
          </a:p>
        </p:txBody>
      </p:sp>
      <p:sp>
        <p:nvSpPr>
          <p:cNvPr id="27" name="Text 25"/>
          <p:cNvSpPr/>
          <p:nvPr/>
        </p:nvSpPr>
        <p:spPr>
          <a:xfrm>
            <a:off x="812800" y="3920491"/>
            <a:ext cx="196215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F7A52"/>
                </a:solidFill>
                <a:latin typeface="Arial" pitchFamily="34" charset="0"/>
                <a:ea typeface="Arial" pitchFamily="34" charset="-122"/>
                <a:cs typeface="Arial" pitchFamily="34" charset="-120"/>
              </a:rPr>
              <a:t>Общее в обучении</a:t>
            </a:r>
            <a:endParaRPr lang="en-US" sz="1500" dirty="0"/>
          </a:p>
        </p:txBody>
      </p:sp>
      <p:sp>
        <p:nvSpPr>
          <p:cNvPr id="28" name="Text 26"/>
          <p:cNvSpPr/>
          <p:nvPr/>
        </p:nvSpPr>
        <p:spPr>
          <a:xfrm>
            <a:off x="2768600" y="3825241"/>
            <a:ext cx="635000" cy="457200"/>
          </a:xfrm>
          <a:prstGeom prst="roundRect">
            <a:avLst>
              <a:gd name="adj" fmla="val 11111"/>
            </a:avLst>
          </a:prstGeom>
          <a:solidFill>
            <a:srgbClr val="E3E2DE"/>
          </a:solidFill>
          <a:ln/>
        </p:spPr>
        <p:txBody>
          <a:bodyPr wrap="square" lIns="0" tIns="0" rIns="0" bIns="0" rtlCol="0" anchor="ctr">
            <a:normAutofit/>
          </a:bodyPr>
          <a:lstStyle/>
          <a:p>
            <a:pPr algn="ctr" indent="0" marL="0">
              <a:lnSpc>
                <a:spcPts val="1960"/>
              </a:lnSpc>
              <a:buNone/>
            </a:pPr>
            <a:r>
              <a:rPr lang="en-US" sz="1400" b="1" dirty="0">
                <a:solidFill>
                  <a:srgbClr val="5F6670"/>
                </a:solidFill>
                <a:latin typeface="Arial" pitchFamily="34" charset="0"/>
                <a:ea typeface="Arial" pitchFamily="34" charset="-122"/>
                <a:cs typeface="Arial" pitchFamily="34" charset="-120"/>
              </a:rPr>
              <a:t>1</a:t>
            </a:r>
            <a:endParaRPr lang="en-US" sz="1400" dirty="0"/>
          </a:p>
        </p:txBody>
      </p:sp>
      <p:sp>
        <p:nvSpPr>
          <p:cNvPr id="29" name="Text 27"/>
          <p:cNvSpPr/>
          <p:nvPr/>
        </p:nvSpPr>
        <p:spPr>
          <a:xfrm>
            <a:off x="3454400" y="3825241"/>
            <a:ext cx="635000" cy="457200"/>
          </a:xfrm>
          <a:prstGeom prst="roundRect">
            <a:avLst>
              <a:gd name="adj" fmla="val 11111"/>
            </a:avLst>
          </a:prstGeom>
          <a:solidFill>
            <a:srgbClr val="E3E2DE"/>
          </a:solidFill>
          <a:ln/>
        </p:spPr>
        <p:txBody>
          <a:bodyPr wrap="square" lIns="0" tIns="0" rIns="0" bIns="0" rtlCol="0" anchor="ctr">
            <a:normAutofit/>
          </a:bodyPr>
          <a:lstStyle/>
          <a:p>
            <a:pPr algn="ctr" indent="0" marL="0">
              <a:lnSpc>
                <a:spcPts val="1960"/>
              </a:lnSpc>
              <a:buNone/>
            </a:pPr>
            <a:r>
              <a:rPr lang="en-US" sz="1400" b="1" dirty="0">
                <a:solidFill>
                  <a:srgbClr val="5F6670"/>
                </a:solidFill>
                <a:latin typeface="Arial" pitchFamily="34" charset="0"/>
                <a:ea typeface="Arial" pitchFamily="34" charset="-122"/>
                <a:cs typeface="Arial" pitchFamily="34" charset="-120"/>
              </a:rPr>
              <a:t>2</a:t>
            </a:r>
            <a:endParaRPr lang="en-US" sz="1400" dirty="0"/>
          </a:p>
        </p:txBody>
      </p:sp>
      <p:sp>
        <p:nvSpPr>
          <p:cNvPr id="30" name="Text 28"/>
          <p:cNvSpPr/>
          <p:nvPr/>
        </p:nvSpPr>
        <p:spPr>
          <a:xfrm>
            <a:off x="4140200" y="3825241"/>
            <a:ext cx="635000" cy="457200"/>
          </a:xfrm>
          <a:prstGeom prst="roundRect">
            <a:avLst>
              <a:gd name="adj" fmla="val 11111"/>
            </a:avLst>
          </a:prstGeom>
          <a:solidFill>
            <a:srgbClr val="0F7A52"/>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31" name="Text 29"/>
          <p:cNvSpPr/>
          <p:nvPr/>
        </p:nvSpPr>
        <p:spPr>
          <a:xfrm>
            <a:off x="4826000" y="3825241"/>
            <a:ext cx="635000" cy="457200"/>
          </a:xfrm>
          <a:prstGeom prst="roundRect">
            <a:avLst>
              <a:gd name="adj" fmla="val 11111"/>
            </a:avLst>
          </a:prstGeom>
          <a:solidFill>
            <a:srgbClr val="0F7A52"/>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32" name="Text 30"/>
          <p:cNvSpPr/>
          <p:nvPr/>
        </p:nvSpPr>
        <p:spPr>
          <a:xfrm>
            <a:off x="5511800" y="3825241"/>
            <a:ext cx="635000" cy="457200"/>
          </a:xfrm>
          <a:prstGeom prst="roundRect">
            <a:avLst>
              <a:gd name="adj" fmla="val 11111"/>
            </a:avLst>
          </a:prstGeom>
          <a:solidFill>
            <a:srgbClr val="0F7A52"/>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33" name="Text 31"/>
          <p:cNvSpPr/>
          <p:nvPr/>
        </p:nvSpPr>
        <p:spPr>
          <a:xfrm>
            <a:off x="6197600" y="3825241"/>
            <a:ext cx="635000" cy="457200"/>
          </a:xfrm>
          <a:prstGeom prst="roundRect">
            <a:avLst>
              <a:gd name="adj" fmla="val 11111"/>
            </a:avLst>
          </a:prstGeom>
          <a:solidFill>
            <a:srgbClr val="0F7A52"/>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34" name="Text 32"/>
          <p:cNvSpPr/>
          <p:nvPr/>
        </p:nvSpPr>
        <p:spPr>
          <a:xfrm>
            <a:off x="6883400" y="3825241"/>
            <a:ext cx="635000" cy="457200"/>
          </a:xfrm>
          <a:prstGeom prst="roundRect">
            <a:avLst>
              <a:gd name="adj" fmla="val 11111"/>
            </a:avLst>
          </a:prstGeom>
          <a:solidFill>
            <a:srgbClr val="0F7A52"/>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Arial" pitchFamily="34" charset="0"/>
                <a:ea typeface="Arial" pitchFamily="34" charset="-122"/>
                <a:cs typeface="Arial" pitchFamily="34" charset="-120"/>
              </a:rPr>
              <a:t>7</a:t>
            </a:r>
            <a:endParaRPr lang="en-US" sz="1400" dirty="0"/>
          </a:p>
        </p:txBody>
      </p:sp>
      <p:sp>
        <p:nvSpPr>
          <p:cNvPr id="35" name="Text 33"/>
          <p:cNvSpPr/>
          <p:nvPr/>
        </p:nvSpPr>
        <p:spPr>
          <a:xfrm>
            <a:off x="7569200" y="3825241"/>
            <a:ext cx="635000" cy="457200"/>
          </a:xfrm>
          <a:prstGeom prst="roundRect">
            <a:avLst>
              <a:gd name="adj" fmla="val 11111"/>
            </a:avLst>
          </a:prstGeom>
          <a:solidFill>
            <a:srgbClr val="0F7A52"/>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Arial" pitchFamily="34" charset="0"/>
                <a:ea typeface="Arial" pitchFamily="34" charset="-122"/>
                <a:cs typeface="Arial" pitchFamily="34" charset="-120"/>
              </a:rPr>
              <a:t>8</a:t>
            </a:r>
            <a:endParaRPr lang="en-US" sz="1400" dirty="0"/>
          </a:p>
        </p:txBody>
      </p:sp>
      <p:sp>
        <p:nvSpPr>
          <p:cNvPr id="36" name="Text 34"/>
          <p:cNvSpPr/>
          <p:nvPr/>
        </p:nvSpPr>
        <p:spPr>
          <a:xfrm>
            <a:off x="8255000" y="3825241"/>
            <a:ext cx="635000" cy="457200"/>
          </a:xfrm>
          <a:prstGeom prst="roundRect">
            <a:avLst>
              <a:gd name="adj" fmla="val 11111"/>
            </a:avLst>
          </a:prstGeom>
          <a:solidFill>
            <a:srgbClr val="0F7A52"/>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Arial" pitchFamily="34" charset="0"/>
                <a:ea typeface="Arial" pitchFamily="34" charset="-122"/>
                <a:cs typeface="Arial" pitchFamily="34" charset="-120"/>
              </a:rPr>
              <a:t>9</a:t>
            </a:r>
            <a:endParaRPr lang="en-US" sz="1400" dirty="0"/>
          </a:p>
        </p:txBody>
      </p:sp>
      <p:sp>
        <p:nvSpPr>
          <p:cNvPr id="37" name="Text 35"/>
          <p:cNvSpPr/>
          <p:nvPr/>
        </p:nvSpPr>
        <p:spPr>
          <a:xfrm>
            <a:off x="8940800" y="3825241"/>
            <a:ext cx="635000" cy="457200"/>
          </a:xfrm>
          <a:prstGeom prst="roundRect">
            <a:avLst>
              <a:gd name="adj" fmla="val 11111"/>
            </a:avLst>
          </a:prstGeom>
          <a:solidFill>
            <a:srgbClr val="0F7A52"/>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Arial" pitchFamily="34" charset="0"/>
                <a:ea typeface="Arial" pitchFamily="34" charset="-122"/>
                <a:cs typeface="Arial" pitchFamily="34" charset="-120"/>
              </a:rPr>
              <a:t>10</a:t>
            </a:r>
            <a:endParaRPr lang="en-US" sz="1400" dirty="0"/>
          </a:p>
        </p:txBody>
      </p:sp>
      <p:sp>
        <p:nvSpPr>
          <p:cNvPr id="38" name="Text 36"/>
          <p:cNvSpPr/>
          <p:nvPr/>
        </p:nvSpPr>
        <p:spPr>
          <a:xfrm>
            <a:off x="812800" y="4485641"/>
            <a:ext cx="10883392" cy="6299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A1A1A"/>
                </a:solidFill>
                <a:latin typeface="Arial" pitchFamily="34" charset="0"/>
                <a:ea typeface="Arial" pitchFamily="34" charset="-122"/>
                <a:cs typeface="Arial" pitchFamily="34" charset="-120"/>
              </a:rPr>
              <a:t>Обучение Фолда 1 и Фолда 2 совпадает на </a:t>
            </a:r>
            <a:r>
              <a:rPr lang="en-US" sz="1700" b="1" dirty="0">
                <a:solidFill>
                  <a:srgbClr val="0F7A52"/>
                </a:solidFill>
                <a:latin typeface="Arial" pitchFamily="34" charset="0"/>
                <a:ea typeface="Arial" pitchFamily="34" charset="-122"/>
                <a:cs typeface="Arial" pitchFamily="34" charset="-120"/>
              </a:rPr>
              <a:t>8 частях из 9</a:t>
            </a:r>
            <a:r>
              <a:rPr lang="en-US" sz="1700" dirty="0">
                <a:solidFill>
                  <a:srgbClr val="1A1A1A"/>
                </a:solidFill>
                <a:latin typeface="Arial" pitchFamily="34" charset="0"/>
                <a:ea typeface="Arial" pitchFamily="34" charset="-122"/>
                <a:cs typeface="Arial" pitchFamily="34" charset="-120"/>
              </a:rPr>
              <a:t>. Результаты фолдов связаны, а t-test считает их независимыми.</a:t>
            </a:r>
            <a:endParaRPr lang="en-US" sz="1700" dirty="0"/>
          </a:p>
        </p:txBody>
      </p:sp>
      <p:sp>
        <p:nvSpPr>
          <p:cNvPr id="39" name="Text 37"/>
          <p:cNvSpPr/>
          <p:nvPr/>
        </p:nvSpPr>
        <p:spPr>
          <a:xfrm>
            <a:off x="812800" y="6238241"/>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Arial" pitchFamily="34" charset="0"/>
                <a:ea typeface="Arial" pitchFamily="34" charset="-122"/>
                <a:cs typeface="Arial" pitchFamily="34" charset="-120"/>
              </a:rPr>
              <a:t>Значимость различий в качестве классификаторов</a:t>
            </a:r>
            <a:endParaRPr lang="en-US" sz="1200" dirty="0"/>
          </a:p>
        </p:txBody>
      </p:sp>
      <p:sp>
        <p:nvSpPr>
          <p:cNvPr id="40" name="Text 38"/>
          <p:cNvSpPr/>
          <p:nvPr/>
        </p:nvSpPr>
        <p:spPr>
          <a:xfrm>
            <a:off x="10566400" y="6238241"/>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0"/>
                </a:solidFill>
                <a:latin typeface="Arial" pitchFamily="34" charset="0"/>
                <a:ea typeface="Arial" pitchFamily="34" charset="-122"/>
                <a:cs typeface="Arial"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2B5"/>
                </a:solidFill>
                <a:latin typeface="Arial" pitchFamily="34" charset="0"/>
                <a:ea typeface="Arial" pitchFamily="34" charset="-122"/>
                <a:cs typeface="Arial" pitchFamily="34" charset="-120"/>
              </a:rPr>
              <a:t>01 · ПОСТАНОВКА</a:t>
            </a:r>
            <a:endParaRPr lang="en-US" sz="1200" dirty="0"/>
          </a:p>
        </p:txBody>
      </p:sp>
      <p:sp>
        <p:nvSpPr>
          <p:cNvPr id="3" name="Text 1"/>
          <p:cNvSpPr/>
          <p:nvPr>
            <p:ph type="title"/>
          </p:nvPr>
        </p:nvSpPr>
        <p:spPr>
          <a:xfrm>
            <a:off x="812800" y="12293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A1A1A"/>
                </a:solidFill>
                <a:latin typeface="Arial" pitchFamily="34" charset="0"/>
                <a:ea typeface="Arial" pitchFamily="34" charset="-122"/>
                <a:cs typeface="Arial" pitchFamily="34" charset="-120"/>
              </a:rPr>
              <a:t>Цель и план работы</a:t>
            </a:r>
            <a:endParaRPr lang="en-US" sz="3200" dirty="0"/>
          </a:p>
        </p:txBody>
      </p:sp>
      <p:sp>
        <p:nvSpPr>
          <p:cNvPr id="4" name="Shape 2"/>
          <p:cNvSpPr/>
          <p:nvPr/>
        </p:nvSpPr>
        <p:spPr>
          <a:xfrm>
            <a:off x="812800" y="1899920"/>
            <a:ext cx="609600" cy="50800"/>
          </a:xfrm>
          <a:prstGeom prst="rect">
            <a:avLst/>
          </a:prstGeom>
          <a:solidFill>
            <a:srgbClr val="2A78D6"/>
          </a:solidFill>
          <a:ln/>
        </p:spPr>
      </p:sp>
      <p:sp>
        <p:nvSpPr>
          <p:cNvPr id="5" name="Text 3"/>
          <p:cNvSpPr/>
          <p:nvPr/>
        </p:nvSpPr>
        <p:spPr>
          <a:xfrm>
            <a:off x="812800" y="2103120"/>
            <a:ext cx="4578350" cy="1073150"/>
          </a:xfrm>
          <a:prstGeom prst="rect">
            <a:avLst/>
          </a:prstGeom>
          <a:noFill/>
          <a:ln/>
        </p:spPr>
        <p:txBody>
          <a:bodyPr wrap="square" lIns="0" tIns="0" rIns="0" bIns="0" rtlCol="0" anchor="t">
            <a:normAutofit/>
          </a:bodyPr>
          <a:lstStyle/>
          <a:p>
            <a:pPr algn="l" indent="0" marL="0">
              <a:lnSpc>
                <a:spcPts val="2750"/>
              </a:lnSpc>
              <a:buNone/>
            </a:pPr>
            <a:r>
              <a:rPr lang="en-US" sz="2200" dirty="0">
                <a:solidFill>
                  <a:srgbClr val="1A1A1A"/>
                </a:solidFill>
                <a:latin typeface="Arial" pitchFamily="34" charset="0"/>
                <a:ea typeface="Arial" pitchFamily="34" charset="-122"/>
                <a:cs typeface="Arial" pitchFamily="34" charset="-120"/>
              </a:rPr>
              <a:t>Показать на расчётах, когда наивный и корректные тесты расходятся и насколько.</a:t>
            </a:r>
            <a:endParaRPr lang="en-US" sz="2200" dirty="0"/>
          </a:p>
        </p:txBody>
      </p:sp>
      <p:sp>
        <p:nvSpPr>
          <p:cNvPr id="6" name="Text 4"/>
          <p:cNvSpPr/>
          <p:nvPr/>
        </p:nvSpPr>
        <p:spPr>
          <a:xfrm>
            <a:off x="812800" y="3303270"/>
            <a:ext cx="4578350" cy="98552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5F6670"/>
                </a:solidFill>
                <a:latin typeface="Arial" pitchFamily="34" charset="0"/>
                <a:ea typeface="Arial" pitchFamily="34" charset="-122"/>
                <a:cs typeface="Arial" pitchFamily="34" charset="-120"/>
              </a:rPr>
              <a:t>H₀: у двух моделей одинаковое качество. Маленькое p (меньше 0.05) говорит, что случайность это плохо объясняет.</a:t>
            </a:r>
            <a:endParaRPr lang="en-US" sz="1800" dirty="0"/>
          </a:p>
        </p:txBody>
      </p:sp>
      <p:sp>
        <p:nvSpPr>
          <p:cNvPr id="7" name="Shape 5"/>
          <p:cNvSpPr/>
          <p:nvPr/>
        </p:nvSpPr>
        <p:spPr>
          <a:xfrm>
            <a:off x="5664200" y="1899920"/>
            <a:ext cx="5715000" cy="3388360"/>
          </a:xfrm>
          <a:prstGeom prst="roundRect">
            <a:avLst>
              <a:gd name="adj" fmla="val 2999"/>
            </a:avLst>
          </a:prstGeom>
          <a:solidFill>
            <a:srgbClr val="F1F1EC"/>
          </a:solidFill>
          <a:ln/>
        </p:spPr>
      </p:sp>
      <p:sp>
        <p:nvSpPr>
          <p:cNvPr id="8" name="Text 6"/>
          <p:cNvSpPr/>
          <p:nvPr/>
        </p:nvSpPr>
        <p:spPr>
          <a:xfrm>
            <a:off x="5917962" y="2153920"/>
            <a:ext cx="5355828" cy="2905760"/>
          </a:xfrm>
          <a:prstGeom prst="rect">
            <a:avLst/>
          </a:prstGeom>
          <a:noFill/>
          <a:ln/>
        </p:spPr>
        <p:txBody>
          <a:bodyPr wrap="square" lIns="0" tIns="0" rIns="0" bIns="0" rtlCol="0" anchor="t">
            <a:normAutofit/>
          </a:bodyPr>
          <a:lstStyle/>
          <a:p>
            <a:pPr algn="l" marL="254238" indent="-254238">
              <a:lnSpc>
                <a:spcPts val="2520"/>
              </a:lnSpc>
              <a:buSzPct val="100000"/>
              <a:buFontTx/>
              <a:buAutoNum type="arabicPeriod" startAt="1"/>
            </a:pPr>
            <a:r>
              <a:rPr lang="en-US" sz="1800" dirty="0">
                <a:solidFill>
                  <a:srgbClr val="1A1A1A"/>
                </a:solidFill>
                <a:latin typeface="Arial" pitchFamily="34" charset="0"/>
                <a:ea typeface="Arial" pitchFamily="34" charset="-122"/>
                <a:cs typeface="Arial" pitchFamily="34" charset="-120"/>
              </a:rPr>
              <a:t>Четыре теста на одной паре, затем на 45 сравнениях</a:t>
            </a:r>
            <a:endParaRPr lang="en-US" sz="1800" dirty="0"/>
          </a:p>
          <a:p>
            <a:pPr algn="l" marL="254238" indent="-254238">
              <a:lnSpc>
                <a:spcPts val="2520"/>
              </a:lnSpc>
              <a:buSzPct val="100000"/>
              <a:buFontTx/>
              <a:buAutoNum type="arabicPeriod" startAt="1"/>
            </a:pPr>
            <a:r>
              <a:rPr lang="en-US" sz="1800" dirty="0">
                <a:solidFill>
                  <a:srgbClr val="1A1A1A"/>
                </a:solidFill>
                <a:latin typeface="Arial" pitchFamily="34" charset="0"/>
                <a:ea typeface="Arial" pitchFamily="34" charset="-122"/>
                <a:cs typeface="Arial" pitchFamily="34" charset="-120"/>
              </a:rPr>
              <a:t>Групповое сравнение: критерий Фридмана и пост-тест Неменьи</a:t>
            </a:r>
            <a:endParaRPr lang="en-US" sz="1800" dirty="0"/>
          </a:p>
          <a:p>
            <a:pPr algn="l" marL="254238" indent="-254238">
              <a:lnSpc>
                <a:spcPts val="2520"/>
              </a:lnSpc>
              <a:buSzPct val="100000"/>
              <a:buFontTx/>
              <a:buAutoNum type="arabicPeriod" startAt="1"/>
            </a:pPr>
            <a:r>
              <a:rPr lang="en-US" sz="1800" dirty="0">
                <a:solidFill>
                  <a:srgbClr val="1A1A1A"/>
                </a:solidFill>
                <a:latin typeface="Arial" pitchFamily="34" charset="0"/>
                <a:ea typeface="Arial" pitchFamily="34" charset="-122"/>
                <a:cs typeface="Arial" pitchFamily="34" charset="-120"/>
              </a:rPr>
              <a:t>Поправка Холма на множественные сравнения</a:t>
            </a:r>
            <a:endParaRPr lang="en-US" sz="1800" dirty="0"/>
          </a:p>
          <a:p>
            <a:pPr algn="l" marL="254238" indent="-254238">
              <a:lnSpc>
                <a:spcPts val="2520"/>
              </a:lnSpc>
              <a:buSzPct val="100000"/>
              <a:buFontTx/>
              <a:buAutoNum type="arabicPeriod" startAt="1"/>
            </a:pPr>
            <a:r>
              <a:rPr lang="en-US" sz="1800" dirty="0">
                <a:solidFill>
                  <a:srgbClr val="1A1A1A"/>
                </a:solidFill>
                <a:latin typeface="Arial" pitchFamily="34" charset="0"/>
                <a:ea typeface="Arial" pitchFamily="34" charset="-122"/>
                <a:cs typeface="Arial" pitchFamily="34" charset="-120"/>
              </a:rPr>
              <a:t>Доверительные интервалы для размера эффекта</a:t>
            </a:r>
            <a:endParaRPr lang="en-US" sz="1800" dirty="0"/>
          </a:p>
          <a:p>
            <a:pPr algn="l" marL="254238" indent="-254238">
              <a:lnSpc>
                <a:spcPts val="2520"/>
              </a:lnSpc>
              <a:buSzPct val="100000"/>
              <a:buFontTx/>
              <a:buAutoNum type="arabicPeriod" startAt="1"/>
            </a:pPr>
            <a:r>
              <a:rPr lang="en-US" sz="1800" dirty="0">
                <a:solidFill>
                  <a:srgbClr val="1A1A1A"/>
                </a:solidFill>
                <a:latin typeface="Arial" pitchFamily="34" charset="0"/>
                <a:ea typeface="Arial" pitchFamily="34" charset="-122"/>
                <a:cs typeface="Arial" pitchFamily="34" charset="-120"/>
              </a:rPr>
              <a:t>Симуляция: ошибка первого рода и мощность</a:t>
            </a:r>
            <a:endParaRPr lang="en-US" sz="1800" dirty="0"/>
          </a:p>
        </p:txBody>
      </p:sp>
      <p:sp>
        <p:nvSpPr>
          <p:cNvPr id="9" name="Text 7"/>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Arial" pitchFamily="34" charset="0"/>
                <a:ea typeface="Arial" pitchFamily="34" charset="-122"/>
                <a:cs typeface="Arial" pitchFamily="34" charset="-120"/>
              </a:rPr>
              <a:t>Значимость различий в качестве классификаторов</a:t>
            </a:r>
            <a:endParaRPr lang="en-US" sz="1200" dirty="0"/>
          </a:p>
        </p:txBody>
      </p:sp>
      <p:sp>
        <p:nvSpPr>
          <p:cNvPr id="10" name="Text 8"/>
          <p:cNvSpPr/>
          <p:nvPr/>
        </p:nvSpPr>
        <p:spPr>
          <a:xfrm>
            <a:off x="10566400" y="62382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0"/>
                </a:solidFill>
                <a:latin typeface="Arial" pitchFamily="34" charset="0"/>
                <a:ea typeface="Arial" pitchFamily="34" charset="-122"/>
                <a:cs typeface="Arial"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28997"/>
          </a:xfrm>
          <a:prstGeom prst="rect">
            <a:avLst/>
          </a:prstGeom>
          <a:noFill/>
          <a:ln/>
        </p:spPr>
        <p:txBody>
          <a:bodyPr wrap="square" lIns="0" tIns="0" rIns="0" bIns="0" rtlCol="0" anchor="t">
            <a:normAutofit/>
          </a:bodyPr>
          <a:lstStyle/>
          <a:p>
            <a:pPr algn="l" indent="0" marL="0">
              <a:lnSpc>
                <a:spcPts val="1622"/>
              </a:lnSpc>
              <a:buNone/>
            </a:pPr>
            <a:r>
              <a:rPr lang="en-US" sz="1159" b="1" spc="100" kern="0" dirty="0">
                <a:solidFill>
                  <a:srgbClr val="1F62B5"/>
                </a:solidFill>
                <a:latin typeface="Arial" pitchFamily="34" charset="0"/>
                <a:ea typeface="Arial" pitchFamily="34" charset="-122"/>
                <a:cs typeface="Arial" pitchFamily="34" charset="-120"/>
              </a:rPr>
              <a:t>02 · ДАННЫЕ И МЕТОД</a:t>
            </a:r>
            <a:endParaRPr lang="en-US" sz="1159" dirty="0"/>
          </a:p>
        </p:txBody>
      </p:sp>
      <p:sp>
        <p:nvSpPr>
          <p:cNvPr id="3" name="Text 1"/>
          <p:cNvSpPr/>
          <p:nvPr>
            <p:ph type="title"/>
          </p:nvPr>
        </p:nvSpPr>
        <p:spPr>
          <a:xfrm>
            <a:off x="812800" y="1219597"/>
            <a:ext cx="10883392" cy="471329"/>
          </a:xfrm>
          <a:prstGeom prst="rect">
            <a:avLst/>
          </a:prstGeom>
          <a:noFill/>
          <a:ln/>
        </p:spPr>
        <p:txBody>
          <a:bodyPr wrap="square" lIns="0" tIns="0" rIns="0" bIns="0" rtlCol="0" anchor="t">
            <a:normAutofit/>
          </a:bodyPr>
          <a:lstStyle/>
          <a:p>
            <a:pPr algn="l" indent="0" marL="0">
              <a:lnSpc>
                <a:spcPts val="3519"/>
              </a:lnSpc>
              <a:buNone/>
            </a:pPr>
            <a:r>
              <a:rPr lang="en-US" sz="3060" b="1" i="0" dirty="0">
                <a:solidFill>
                  <a:srgbClr val="1A1A1A"/>
                </a:solidFill>
                <a:latin typeface="Arial" pitchFamily="34" charset="0"/>
                <a:ea typeface="Arial" pitchFamily="34" charset="-122"/>
                <a:cs typeface="Arial" pitchFamily="34" charset="-120"/>
              </a:rPr>
              <a:t>Пятнадцать открытых датасетов</a:t>
            </a:r>
            <a:endParaRPr lang="en-US" sz="306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78886"/>
          <a:ext cx="5120640" cy="3442970"/>
        </p:xfrm>
        <a:graphic>
          <a:graphicData uri="http://schemas.openxmlformats.org/drawingml/2006/table">
            <a:tbl>
              <a:tblPr/>
              <a:tblGrid>
                <a:gridCol w="2048256"/>
                <a:gridCol w="1024128"/>
                <a:gridCol w="1024128"/>
                <a:gridCol w="1024128"/>
              </a:tblGrid>
              <a:tr h="588010">
                <a:tc>
                  <a:txBody>
                    <a:bodyPr/>
                    <a:lstStyle/>
                    <a:p>
                      <a:pPr indent="0" marL="0">
                        <a:lnSpc>
                          <a:spcPts val="1820"/>
                        </a:lnSpc>
                        <a:buNone/>
                      </a:pPr>
                      <a:r>
                        <a:rPr lang="en-US" sz="1300" b="1" dirty="0">
                          <a:solidFill>
                            <a:srgbClr val="1A1A1A"/>
                          </a:solidFill>
                          <a:latin typeface="Arial" pitchFamily="34" charset="0"/>
                          <a:ea typeface="Arial" pitchFamily="34" charset="-122"/>
                          <a:cs typeface="Arial" pitchFamily="34" charset="-120"/>
                        </a:rPr>
                        <a:t>Датасет</a:t>
                      </a:r>
                      <a:endParaRPr lang="en-US" sz="1300" dirty="0">
                        <a:latin typeface="Arial" charset="0"/>
                        <a:ea typeface="Arial" charset="0"/>
                        <a:cs typeface="Arial"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algn="r" indent="0" marL="0">
                        <a:lnSpc>
                          <a:spcPts val="1820"/>
                        </a:lnSpc>
                        <a:buNone/>
                      </a:pPr>
                      <a:r>
                        <a:rPr lang="en-US" sz="1300" b="1" dirty="0">
                          <a:solidFill>
                            <a:srgbClr val="1A1A1A"/>
                          </a:solidFill>
                          <a:latin typeface="Arial" pitchFamily="34" charset="0"/>
                          <a:ea typeface="Arial" pitchFamily="34" charset="-122"/>
                          <a:cs typeface="Arial" pitchFamily="34" charset="-120"/>
                        </a:rPr>
                        <a:t>Объектов</a:t>
                      </a:r>
                      <a:endParaRPr lang="en-US" sz="1300" dirty="0">
                        <a:latin typeface="Arial" charset="0"/>
                        <a:ea typeface="Arial" charset="0"/>
                        <a:cs typeface="Arial" charset="0"/>
                      </a:endParaRPr>
                    </a:p>
                  </a:txBody>
                  <a:tcPr marL="57785" marR="57785" marT="57785" marB="57785"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algn="r" indent="0" marL="0">
                        <a:lnSpc>
                          <a:spcPts val="1820"/>
                        </a:lnSpc>
                        <a:buNone/>
                      </a:pPr>
                      <a:r>
                        <a:rPr lang="en-US" sz="1300" b="1" dirty="0">
                          <a:solidFill>
                            <a:srgbClr val="1A1A1A"/>
                          </a:solidFill>
                          <a:latin typeface="Arial" pitchFamily="34" charset="0"/>
                          <a:ea typeface="Arial" pitchFamily="34" charset="-122"/>
                          <a:cs typeface="Arial" pitchFamily="34" charset="-120"/>
                        </a:rPr>
                        <a:t>Признаков</a:t>
                      </a:r>
                      <a:endParaRPr lang="en-US" sz="1300" dirty="0">
                        <a:latin typeface="Arial" charset="0"/>
                        <a:ea typeface="Arial" charset="0"/>
                        <a:cs typeface="Arial" charset="0"/>
                      </a:endParaRPr>
                    </a:p>
                  </a:txBody>
                  <a:tcPr marL="57785" marR="57785" marT="57785" marB="57785"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algn="r" indent="0" marL="0">
                        <a:lnSpc>
                          <a:spcPts val="1820"/>
                        </a:lnSpc>
                        <a:buNone/>
                      </a:pPr>
                      <a:r>
                        <a:rPr lang="en-US" sz="1300" b="1" dirty="0">
                          <a:solidFill>
                            <a:srgbClr val="1A1A1A"/>
                          </a:solidFill>
                          <a:latin typeface="Arial" pitchFamily="34" charset="0"/>
                          <a:ea typeface="Arial" pitchFamily="34" charset="-122"/>
                          <a:cs typeface="Arial" pitchFamily="34" charset="-120"/>
                        </a:rPr>
                        <a:t>Классов</a:t>
                      </a:r>
                      <a:endParaRPr lang="en-US" sz="1300" dirty="0">
                        <a:latin typeface="Arial" charset="0"/>
                        <a:ea typeface="Arial" charset="0"/>
                        <a:cs typeface="Arial" charset="0"/>
                      </a:endParaRPr>
                    </a:p>
                  </a:txBody>
                  <a:tcPr marL="57785" marR="57785" marT="57785" marB="57785"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r>
              <a:tr h="356870">
                <a:tc>
                  <a:txBody>
                    <a:bodyPr/>
                    <a:lstStyle/>
                    <a:p>
                      <a:pPr indent="0" marL="0">
                        <a:lnSpc>
                          <a:spcPts val="1820"/>
                        </a:lnSpc>
                        <a:buNone/>
                      </a:pPr>
                      <a:r>
                        <a:rPr lang="en-US" sz="1300" dirty="0">
                          <a:solidFill>
                            <a:srgbClr val="1A1A1A"/>
                          </a:solidFill>
                          <a:latin typeface="Arial" pitchFamily="34" charset="0"/>
                          <a:ea typeface="Arial" pitchFamily="34" charset="-122"/>
                          <a:cs typeface="Arial" pitchFamily="34" charset="-120"/>
                        </a:rPr>
                        <a:t>digits</a:t>
                      </a:r>
                      <a:endParaRPr lang="en-US" sz="1300" dirty="0">
                        <a:latin typeface="Arial" charset="0"/>
                        <a:ea typeface="Arial" charset="0"/>
                        <a:cs typeface="Arial"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Arial" pitchFamily="34" charset="0"/>
                          <a:ea typeface="Arial" pitchFamily="34" charset="-122"/>
                          <a:cs typeface="Arial" pitchFamily="34" charset="-120"/>
                        </a:rPr>
                        <a:t>1797</a:t>
                      </a:r>
                      <a:endParaRPr lang="en-US" sz="1300" dirty="0">
                        <a:latin typeface="Arial" charset="0"/>
                        <a:ea typeface="Arial" charset="0"/>
                        <a:cs typeface="Arial"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Arial" pitchFamily="34" charset="0"/>
                          <a:ea typeface="Arial" pitchFamily="34" charset="-122"/>
                          <a:cs typeface="Arial" pitchFamily="34" charset="-120"/>
                        </a:rPr>
                        <a:t>64</a:t>
                      </a:r>
                      <a:endParaRPr lang="en-US" sz="1300" dirty="0">
                        <a:latin typeface="Arial" charset="0"/>
                        <a:ea typeface="Arial" charset="0"/>
                        <a:cs typeface="Arial"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Arial" pitchFamily="34" charset="0"/>
                          <a:ea typeface="Arial" pitchFamily="34" charset="-122"/>
                          <a:cs typeface="Arial" pitchFamily="34" charset="-120"/>
                        </a:rPr>
                        <a:t>10</a:t>
                      </a:r>
                      <a:endParaRPr lang="en-US" sz="1300" dirty="0">
                        <a:latin typeface="Arial" charset="0"/>
                        <a:ea typeface="Arial" charset="0"/>
                        <a:cs typeface="Arial"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56870">
                <a:tc>
                  <a:txBody>
                    <a:bodyPr/>
                    <a:lstStyle/>
                    <a:p>
                      <a:pPr indent="0" marL="0">
                        <a:lnSpc>
                          <a:spcPts val="1820"/>
                        </a:lnSpc>
                        <a:buNone/>
                      </a:pPr>
                      <a:r>
                        <a:rPr lang="en-US" sz="1300" dirty="0">
                          <a:solidFill>
                            <a:srgbClr val="1A1A1A"/>
                          </a:solidFill>
                          <a:latin typeface="Arial" pitchFamily="34" charset="0"/>
                          <a:ea typeface="Arial" pitchFamily="34" charset="-122"/>
                          <a:cs typeface="Arial" pitchFamily="34" charset="-120"/>
                        </a:rPr>
                        <a:t>breast_cancer</a:t>
                      </a:r>
                      <a:endParaRPr lang="en-US" sz="1300" dirty="0">
                        <a:latin typeface="Arial" charset="0"/>
                        <a:ea typeface="Arial" charset="0"/>
                        <a:cs typeface="Arial"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Arial" pitchFamily="34" charset="0"/>
                          <a:ea typeface="Arial" pitchFamily="34" charset="-122"/>
                          <a:cs typeface="Arial" pitchFamily="34" charset="-120"/>
                        </a:rPr>
                        <a:t>569</a:t>
                      </a:r>
                      <a:endParaRPr lang="en-US" sz="1300" dirty="0">
                        <a:latin typeface="Arial" charset="0"/>
                        <a:ea typeface="Arial" charset="0"/>
                        <a:cs typeface="Arial"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Arial" pitchFamily="34" charset="0"/>
                          <a:ea typeface="Arial" pitchFamily="34" charset="-122"/>
                          <a:cs typeface="Arial" pitchFamily="34" charset="-120"/>
                        </a:rPr>
                        <a:t>30</a:t>
                      </a:r>
                      <a:endParaRPr lang="en-US" sz="1300" dirty="0">
                        <a:latin typeface="Arial" charset="0"/>
                        <a:ea typeface="Arial" charset="0"/>
                        <a:cs typeface="Arial"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56870">
                <a:tc>
                  <a:txBody>
                    <a:bodyPr/>
                    <a:lstStyle/>
                    <a:p>
                      <a:pPr indent="0" marL="0">
                        <a:lnSpc>
                          <a:spcPts val="1820"/>
                        </a:lnSpc>
                        <a:buNone/>
                      </a:pPr>
                      <a:r>
                        <a:rPr lang="en-US" sz="1300" dirty="0">
                          <a:solidFill>
                            <a:srgbClr val="1A1A1A"/>
                          </a:solidFill>
                          <a:latin typeface="Arial" pitchFamily="34" charset="0"/>
                          <a:ea typeface="Arial" pitchFamily="34" charset="-122"/>
                          <a:cs typeface="Arial" pitchFamily="34" charset="-120"/>
                        </a:rPr>
                        <a:t>wine</a:t>
                      </a:r>
                      <a:endParaRPr lang="en-US" sz="1300" dirty="0">
                        <a:latin typeface="Arial" charset="0"/>
                        <a:ea typeface="Arial" charset="0"/>
                        <a:cs typeface="Arial"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Arial" pitchFamily="34" charset="0"/>
                          <a:ea typeface="Arial" pitchFamily="34" charset="-122"/>
                          <a:cs typeface="Arial" pitchFamily="34" charset="-120"/>
                        </a:rPr>
                        <a:t>178</a:t>
                      </a:r>
                      <a:endParaRPr lang="en-US" sz="1300" dirty="0">
                        <a:latin typeface="Arial" charset="0"/>
                        <a:ea typeface="Arial" charset="0"/>
                        <a:cs typeface="Arial"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Arial" pitchFamily="34" charset="0"/>
                          <a:ea typeface="Arial" pitchFamily="34" charset="-122"/>
                          <a:cs typeface="Arial" pitchFamily="34" charset="-120"/>
                        </a:rPr>
                        <a:t>13</a:t>
                      </a:r>
                      <a:endParaRPr lang="en-US" sz="1300" dirty="0">
                        <a:latin typeface="Arial" charset="0"/>
                        <a:ea typeface="Arial" charset="0"/>
                        <a:cs typeface="Arial"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Arial" pitchFamily="34" charset="0"/>
                          <a:ea typeface="Arial" pitchFamily="34" charset="-122"/>
                          <a:cs typeface="Arial" pitchFamily="34" charset="-120"/>
                        </a:rPr>
                        <a:t>3</a:t>
                      </a:r>
                      <a:endParaRPr lang="en-US" sz="1300" dirty="0">
                        <a:latin typeface="Arial" charset="0"/>
                        <a:ea typeface="Arial" charset="0"/>
                        <a:cs typeface="Arial"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56870">
                <a:tc>
                  <a:txBody>
                    <a:bodyPr/>
                    <a:lstStyle/>
                    <a:p>
                      <a:pPr indent="0" marL="0">
                        <a:lnSpc>
                          <a:spcPts val="1820"/>
                        </a:lnSpc>
                        <a:buNone/>
                      </a:pPr>
                      <a:r>
                        <a:rPr lang="en-US" sz="1300" dirty="0">
                          <a:solidFill>
                            <a:srgbClr val="1A1A1A"/>
                          </a:solidFill>
                          <a:latin typeface="Arial" pitchFamily="34" charset="0"/>
                          <a:ea typeface="Arial" pitchFamily="34" charset="-122"/>
                          <a:cs typeface="Arial" pitchFamily="34" charset="-120"/>
                        </a:rPr>
                        <a:t>banknote</a:t>
                      </a:r>
                      <a:endParaRPr lang="en-US" sz="1300" dirty="0">
                        <a:latin typeface="Arial" charset="0"/>
                        <a:ea typeface="Arial" charset="0"/>
                        <a:cs typeface="Arial"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Arial" pitchFamily="34" charset="0"/>
                          <a:ea typeface="Arial" pitchFamily="34" charset="-122"/>
                          <a:cs typeface="Arial" pitchFamily="34" charset="-120"/>
                        </a:rPr>
                        <a:t>1372</a:t>
                      </a:r>
                      <a:endParaRPr lang="en-US" sz="1300" dirty="0">
                        <a:latin typeface="Arial" charset="0"/>
                        <a:ea typeface="Arial" charset="0"/>
                        <a:cs typeface="Arial"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56870">
                <a:tc>
                  <a:txBody>
                    <a:bodyPr/>
                    <a:lstStyle/>
                    <a:p>
                      <a:pPr indent="0" marL="0">
                        <a:lnSpc>
                          <a:spcPts val="1820"/>
                        </a:lnSpc>
                        <a:buNone/>
                      </a:pPr>
                      <a:r>
                        <a:rPr lang="en-US" sz="1300" dirty="0">
                          <a:solidFill>
                            <a:srgbClr val="1A1A1A"/>
                          </a:solidFill>
                          <a:latin typeface="Arial" pitchFamily="34" charset="0"/>
                          <a:ea typeface="Arial" pitchFamily="34" charset="-122"/>
                          <a:cs typeface="Arial" pitchFamily="34" charset="-120"/>
                        </a:rPr>
                        <a:t>credit_g</a:t>
                      </a:r>
                      <a:endParaRPr lang="en-US" sz="1300" dirty="0">
                        <a:latin typeface="Arial" charset="0"/>
                        <a:ea typeface="Arial" charset="0"/>
                        <a:cs typeface="Arial"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Arial" pitchFamily="34" charset="0"/>
                          <a:ea typeface="Arial" pitchFamily="34" charset="-122"/>
                          <a:cs typeface="Arial" pitchFamily="34" charset="-120"/>
                        </a:rPr>
                        <a:t>1000</a:t>
                      </a:r>
                      <a:endParaRPr lang="en-US" sz="1300" dirty="0">
                        <a:latin typeface="Arial" charset="0"/>
                        <a:ea typeface="Arial" charset="0"/>
                        <a:cs typeface="Arial"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Arial" pitchFamily="34" charset="0"/>
                          <a:ea typeface="Arial" pitchFamily="34" charset="-122"/>
                          <a:cs typeface="Arial" pitchFamily="34" charset="-120"/>
                        </a:rPr>
                        <a:t>20</a:t>
                      </a:r>
                      <a:endParaRPr lang="en-US" sz="1300" dirty="0">
                        <a:latin typeface="Arial" charset="0"/>
                        <a:ea typeface="Arial" charset="0"/>
                        <a:cs typeface="Arial"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56870">
                <a:tc>
                  <a:txBody>
                    <a:bodyPr/>
                    <a:lstStyle/>
                    <a:p>
                      <a:pPr indent="0" marL="0">
                        <a:lnSpc>
                          <a:spcPts val="1820"/>
                        </a:lnSpc>
                        <a:buNone/>
                      </a:pPr>
                      <a:r>
                        <a:rPr lang="en-US" sz="1300" dirty="0">
                          <a:solidFill>
                            <a:srgbClr val="1A1A1A"/>
                          </a:solidFill>
                          <a:latin typeface="Arial" pitchFamily="34" charset="0"/>
                          <a:ea typeface="Arial" pitchFamily="34" charset="-122"/>
                          <a:cs typeface="Arial" pitchFamily="34" charset="-120"/>
                        </a:rPr>
                        <a:t>diabetes</a:t>
                      </a:r>
                      <a:endParaRPr lang="en-US" sz="1300" dirty="0">
                        <a:latin typeface="Arial" charset="0"/>
                        <a:ea typeface="Arial" charset="0"/>
                        <a:cs typeface="Arial"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Arial" pitchFamily="34" charset="0"/>
                          <a:ea typeface="Arial" pitchFamily="34" charset="-122"/>
                          <a:cs typeface="Arial" pitchFamily="34" charset="-120"/>
                        </a:rPr>
                        <a:t>768</a:t>
                      </a:r>
                      <a:endParaRPr lang="en-US" sz="1300" dirty="0">
                        <a:latin typeface="Arial" charset="0"/>
                        <a:ea typeface="Arial" charset="0"/>
                        <a:cs typeface="Arial"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Arial" pitchFamily="34" charset="0"/>
                          <a:ea typeface="Arial" pitchFamily="34" charset="-122"/>
                          <a:cs typeface="Arial" pitchFamily="34" charset="-120"/>
                        </a:rPr>
                        <a:t>8</a:t>
                      </a:r>
                      <a:endParaRPr lang="en-US" sz="1300" dirty="0">
                        <a:latin typeface="Arial" charset="0"/>
                        <a:ea typeface="Arial" charset="0"/>
                        <a:cs typeface="Arial"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56870">
                <a:tc>
                  <a:txBody>
                    <a:bodyPr/>
                    <a:lstStyle/>
                    <a:p>
                      <a:pPr indent="0" marL="0">
                        <a:lnSpc>
                          <a:spcPts val="1820"/>
                        </a:lnSpc>
                        <a:buNone/>
                      </a:pPr>
                      <a:r>
                        <a:rPr lang="en-US" sz="1300" dirty="0">
                          <a:solidFill>
                            <a:srgbClr val="1A1A1A"/>
                          </a:solidFill>
                          <a:latin typeface="Arial" pitchFamily="34" charset="0"/>
                          <a:ea typeface="Arial" pitchFamily="34" charset="-122"/>
                          <a:cs typeface="Arial" pitchFamily="34" charset="-120"/>
                        </a:rPr>
                        <a:t>vehicle</a:t>
                      </a:r>
                      <a:endParaRPr lang="en-US" sz="1300" dirty="0">
                        <a:latin typeface="Arial" charset="0"/>
                        <a:ea typeface="Arial" charset="0"/>
                        <a:cs typeface="Arial"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Arial" pitchFamily="34" charset="0"/>
                          <a:ea typeface="Arial" pitchFamily="34" charset="-122"/>
                          <a:cs typeface="Arial" pitchFamily="34" charset="-120"/>
                        </a:rPr>
                        <a:t>846</a:t>
                      </a:r>
                      <a:endParaRPr lang="en-US" sz="1300" dirty="0">
                        <a:latin typeface="Arial" charset="0"/>
                        <a:ea typeface="Arial" charset="0"/>
                        <a:cs typeface="Arial"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Arial" pitchFamily="34" charset="0"/>
                          <a:ea typeface="Arial" pitchFamily="34" charset="-122"/>
                          <a:cs typeface="Arial" pitchFamily="34" charset="-120"/>
                        </a:rPr>
                        <a:t>18</a:t>
                      </a:r>
                      <a:endParaRPr lang="en-US" sz="1300" dirty="0">
                        <a:latin typeface="Arial" charset="0"/>
                        <a:ea typeface="Arial" charset="0"/>
                        <a:cs typeface="Arial"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56870">
                <a:tc>
                  <a:txBody>
                    <a:bodyPr/>
                    <a:lstStyle/>
                    <a:p>
                      <a:pPr indent="0" marL="0">
                        <a:lnSpc>
                          <a:spcPts val="1820"/>
                        </a:lnSpc>
                        <a:buNone/>
                      </a:pPr>
                      <a:r>
                        <a:rPr lang="en-US" sz="1300" dirty="0">
                          <a:solidFill>
                            <a:srgbClr val="1A1A1A"/>
                          </a:solidFill>
                          <a:latin typeface="Arial" pitchFamily="34" charset="0"/>
                          <a:ea typeface="Arial" pitchFamily="34" charset="-122"/>
                          <a:cs typeface="Arial" pitchFamily="34" charset="-120"/>
                        </a:rPr>
                        <a:t>segment</a:t>
                      </a:r>
                      <a:endParaRPr lang="en-US" sz="1300" dirty="0">
                        <a:latin typeface="Arial" charset="0"/>
                        <a:ea typeface="Arial" charset="0"/>
                        <a:cs typeface="Arial"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Arial" pitchFamily="34" charset="0"/>
                          <a:ea typeface="Arial" pitchFamily="34" charset="-122"/>
                          <a:cs typeface="Arial" pitchFamily="34" charset="-120"/>
                        </a:rPr>
                        <a:t>2310</a:t>
                      </a:r>
                      <a:endParaRPr lang="en-US" sz="1300" dirty="0">
                        <a:latin typeface="Arial" charset="0"/>
                        <a:ea typeface="Arial" charset="0"/>
                        <a:cs typeface="Arial"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Arial" pitchFamily="34" charset="0"/>
                          <a:ea typeface="Arial" pitchFamily="34" charset="-122"/>
                          <a:cs typeface="Arial" pitchFamily="34" charset="-120"/>
                        </a:rPr>
                        <a:t>19</a:t>
                      </a:r>
                      <a:endParaRPr lang="en-US" sz="1300" dirty="0">
                        <a:latin typeface="Arial" charset="0"/>
                        <a:ea typeface="Arial" charset="0"/>
                        <a:cs typeface="Arial"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Arial" pitchFamily="34" charset="0"/>
                          <a:ea typeface="Arial" pitchFamily="34" charset="-122"/>
                          <a:cs typeface="Arial" pitchFamily="34" charset="-120"/>
                        </a:rPr>
                        <a:t>7</a:t>
                      </a:r>
                      <a:endParaRPr lang="en-US" sz="1300" dirty="0">
                        <a:latin typeface="Arial" charset="0"/>
                        <a:ea typeface="Arial" charset="0"/>
                        <a:cs typeface="Arial"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bl>
          </a:graphicData>
        </a:graphic>
      </p:graphicFrame>
      <p:graphicFrame>
        <p:nvGraphicFramePr>
          <p:cNvPr id="5" name="Table 1"/>
          <p:cNvGraphicFramePr>
            <a:graphicFrameLocks noGrp="1"/>
          </p:cNvGraphicFramePr>
          <p:nvPr>
            <p:extLst>
              <p:ext uri="{D42A27DB-BD31-4B8C-83A1-F6EECF244321}">
                <p14:modId xmlns:p14="http://schemas.microsoft.com/office/powerpoint/2010/main" val="1579011935"/>
              </p:ext>
            </p:extLst>
          </p:nvPr>
        </p:nvGraphicFramePr>
        <p:xfrm>
          <a:off x="6258560" y="1878886"/>
          <a:ext cx="5120640" cy="3086100"/>
        </p:xfrm>
        <a:graphic>
          <a:graphicData uri="http://schemas.openxmlformats.org/drawingml/2006/table">
            <a:tbl>
              <a:tblPr/>
              <a:tblGrid>
                <a:gridCol w="2048256"/>
                <a:gridCol w="1024128"/>
                <a:gridCol w="1024128"/>
                <a:gridCol w="1024128"/>
              </a:tblGrid>
              <a:tr h="588010">
                <a:tc>
                  <a:txBody>
                    <a:bodyPr/>
                    <a:lstStyle/>
                    <a:p>
                      <a:pPr indent="0" marL="0">
                        <a:lnSpc>
                          <a:spcPts val="1820"/>
                        </a:lnSpc>
                        <a:buNone/>
                      </a:pPr>
                      <a:r>
                        <a:rPr lang="en-US" sz="1300" b="1" dirty="0">
                          <a:solidFill>
                            <a:srgbClr val="1A1A1A"/>
                          </a:solidFill>
                          <a:latin typeface="Arial" pitchFamily="34" charset="0"/>
                          <a:ea typeface="Arial" pitchFamily="34" charset="-122"/>
                          <a:cs typeface="Arial" pitchFamily="34" charset="-120"/>
                        </a:rPr>
                        <a:t>Датасет</a:t>
                      </a:r>
                      <a:endParaRPr lang="en-US" sz="1300" dirty="0">
                        <a:latin typeface="Arial" charset="0"/>
                        <a:ea typeface="Arial" charset="0"/>
                        <a:cs typeface="Arial"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algn="r" indent="0" marL="0">
                        <a:lnSpc>
                          <a:spcPts val="1820"/>
                        </a:lnSpc>
                        <a:buNone/>
                      </a:pPr>
                      <a:r>
                        <a:rPr lang="en-US" sz="1300" b="1" dirty="0">
                          <a:solidFill>
                            <a:srgbClr val="1A1A1A"/>
                          </a:solidFill>
                          <a:latin typeface="Arial" pitchFamily="34" charset="0"/>
                          <a:ea typeface="Arial" pitchFamily="34" charset="-122"/>
                          <a:cs typeface="Arial" pitchFamily="34" charset="-120"/>
                        </a:rPr>
                        <a:t>Объектов</a:t>
                      </a:r>
                      <a:endParaRPr lang="en-US" sz="1300" dirty="0">
                        <a:latin typeface="Arial" charset="0"/>
                        <a:ea typeface="Arial" charset="0"/>
                        <a:cs typeface="Arial" charset="0"/>
                      </a:endParaRPr>
                    </a:p>
                  </a:txBody>
                  <a:tcPr marL="57785" marR="57785" marT="57785" marB="57785"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algn="r" indent="0" marL="0">
                        <a:lnSpc>
                          <a:spcPts val="1820"/>
                        </a:lnSpc>
                        <a:buNone/>
                      </a:pPr>
                      <a:r>
                        <a:rPr lang="en-US" sz="1300" b="1" dirty="0">
                          <a:solidFill>
                            <a:srgbClr val="1A1A1A"/>
                          </a:solidFill>
                          <a:latin typeface="Arial" pitchFamily="34" charset="0"/>
                          <a:ea typeface="Arial" pitchFamily="34" charset="-122"/>
                          <a:cs typeface="Arial" pitchFamily="34" charset="-120"/>
                        </a:rPr>
                        <a:t>Признаков</a:t>
                      </a:r>
                      <a:endParaRPr lang="en-US" sz="1300" dirty="0">
                        <a:latin typeface="Arial" charset="0"/>
                        <a:ea typeface="Arial" charset="0"/>
                        <a:cs typeface="Arial" charset="0"/>
                      </a:endParaRPr>
                    </a:p>
                  </a:txBody>
                  <a:tcPr marL="57785" marR="57785" marT="57785" marB="57785"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algn="r" indent="0" marL="0">
                        <a:lnSpc>
                          <a:spcPts val="1820"/>
                        </a:lnSpc>
                        <a:buNone/>
                      </a:pPr>
                      <a:r>
                        <a:rPr lang="en-US" sz="1300" b="1" dirty="0">
                          <a:solidFill>
                            <a:srgbClr val="1A1A1A"/>
                          </a:solidFill>
                          <a:latin typeface="Arial" pitchFamily="34" charset="0"/>
                          <a:ea typeface="Arial" pitchFamily="34" charset="-122"/>
                          <a:cs typeface="Arial" pitchFamily="34" charset="-120"/>
                        </a:rPr>
                        <a:t>Классов</a:t>
                      </a:r>
                      <a:endParaRPr lang="en-US" sz="1300" dirty="0">
                        <a:latin typeface="Arial" charset="0"/>
                        <a:ea typeface="Arial" charset="0"/>
                        <a:cs typeface="Arial" charset="0"/>
                      </a:endParaRPr>
                    </a:p>
                  </a:txBody>
                  <a:tcPr marL="57785" marR="57785" marT="57785" marB="57785"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r>
              <a:tr h="356870">
                <a:tc>
                  <a:txBody>
                    <a:bodyPr/>
                    <a:lstStyle/>
                    <a:p>
                      <a:pPr indent="0" marL="0">
                        <a:lnSpc>
                          <a:spcPts val="1820"/>
                        </a:lnSpc>
                        <a:buNone/>
                      </a:pPr>
                      <a:r>
                        <a:rPr lang="en-US" sz="1300" dirty="0">
                          <a:solidFill>
                            <a:srgbClr val="1A1A1A"/>
                          </a:solidFill>
                          <a:latin typeface="Arial" pitchFamily="34" charset="0"/>
                          <a:ea typeface="Arial" pitchFamily="34" charset="-122"/>
                          <a:cs typeface="Arial" pitchFamily="34" charset="-120"/>
                        </a:rPr>
                        <a:t>ionosphere</a:t>
                      </a:r>
                      <a:endParaRPr lang="en-US" sz="1300" dirty="0">
                        <a:latin typeface="Arial" charset="0"/>
                        <a:ea typeface="Arial" charset="0"/>
                        <a:cs typeface="Arial"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Arial" pitchFamily="34" charset="0"/>
                          <a:ea typeface="Arial" pitchFamily="34" charset="-122"/>
                          <a:cs typeface="Arial" pitchFamily="34" charset="-120"/>
                        </a:rPr>
                        <a:t>351</a:t>
                      </a:r>
                      <a:endParaRPr lang="en-US" sz="1300" dirty="0">
                        <a:latin typeface="Arial" charset="0"/>
                        <a:ea typeface="Arial" charset="0"/>
                        <a:cs typeface="Arial"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Arial" pitchFamily="34" charset="0"/>
                          <a:ea typeface="Arial" pitchFamily="34" charset="-122"/>
                          <a:cs typeface="Arial" pitchFamily="34" charset="-120"/>
                        </a:rPr>
                        <a:t>34</a:t>
                      </a:r>
                      <a:endParaRPr lang="en-US" sz="1300" dirty="0">
                        <a:latin typeface="Arial" charset="0"/>
                        <a:ea typeface="Arial" charset="0"/>
                        <a:cs typeface="Arial"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56870">
                <a:tc>
                  <a:txBody>
                    <a:bodyPr/>
                    <a:lstStyle/>
                    <a:p>
                      <a:pPr indent="0" marL="0">
                        <a:lnSpc>
                          <a:spcPts val="1820"/>
                        </a:lnSpc>
                        <a:buNone/>
                      </a:pPr>
                      <a:r>
                        <a:rPr lang="en-US" sz="1300" dirty="0">
                          <a:solidFill>
                            <a:srgbClr val="1A1A1A"/>
                          </a:solidFill>
                          <a:latin typeface="Arial" pitchFamily="34" charset="0"/>
                          <a:ea typeface="Arial" pitchFamily="34" charset="-122"/>
                          <a:cs typeface="Arial" pitchFamily="34" charset="-120"/>
                        </a:rPr>
                        <a:t>glass</a:t>
                      </a:r>
                      <a:endParaRPr lang="en-US" sz="1300" dirty="0">
                        <a:latin typeface="Arial" charset="0"/>
                        <a:ea typeface="Arial" charset="0"/>
                        <a:cs typeface="Arial"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Arial" pitchFamily="34" charset="0"/>
                          <a:ea typeface="Arial" pitchFamily="34" charset="-122"/>
                          <a:cs typeface="Arial" pitchFamily="34" charset="-120"/>
                        </a:rPr>
                        <a:t>214</a:t>
                      </a:r>
                      <a:endParaRPr lang="en-US" sz="1300" dirty="0">
                        <a:latin typeface="Arial" charset="0"/>
                        <a:ea typeface="Arial" charset="0"/>
                        <a:cs typeface="Arial"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Arial" pitchFamily="34" charset="0"/>
                          <a:ea typeface="Arial" pitchFamily="34" charset="-122"/>
                          <a:cs typeface="Arial" pitchFamily="34" charset="-120"/>
                        </a:rPr>
                        <a:t>9</a:t>
                      </a:r>
                      <a:endParaRPr lang="en-US" sz="1300" dirty="0">
                        <a:latin typeface="Arial" charset="0"/>
                        <a:ea typeface="Arial" charset="0"/>
                        <a:cs typeface="Arial"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Arial" pitchFamily="34" charset="0"/>
                          <a:ea typeface="Arial" pitchFamily="34" charset="-122"/>
                          <a:cs typeface="Arial" pitchFamily="34" charset="-120"/>
                        </a:rPr>
                        <a:t>6</a:t>
                      </a:r>
                      <a:endParaRPr lang="en-US" sz="1300" dirty="0">
                        <a:latin typeface="Arial" charset="0"/>
                        <a:ea typeface="Arial" charset="0"/>
                        <a:cs typeface="Arial"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56870">
                <a:tc>
                  <a:txBody>
                    <a:bodyPr/>
                    <a:lstStyle/>
                    <a:p>
                      <a:pPr indent="0" marL="0">
                        <a:lnSpc>
                          <a:spcPts val="1820"/>
                        </a:lnSpc>
                        <a:buNone/>
                      </a:pPr>
                      <a:r>
                        <a:rPr lang="en-US" sz="1300" dirty="0">
                          <a:solidFill>
                            <a:srgbClr val="1A1A1A"/>
                          </a:solidFill>
                          <a:latin typeface="Arial" pitchFamily="34" charset="0"/>
                          <a:ea typeface="Arial" pitchFamily="34" charset="-122"/>
                          <a:cs typeface="Arial" pitchFamily="34" charset="-120"/>
                        </a:rPr>
                        <a:t>heart_statlog</a:t>
                      </a:r>
                      <a:endParaRPr lang="en-US" sz="1300" dirty="0">
                        <a:latin typeface="Arial" charset="0"/>
                        <a:ea typeface="Arial" charset="0"/>
                        <a:cs typeface="Arial"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Arial" pitchFamily="34" charset="0"/>
                          <a:ea typeface="Arial" pitchFamily="34" charset="-122"/>
                          <a:cs typeface="Arial" pitchFamily="34" charset="-120"/>
                        </a:rPr>
                        <a:t>270</a:t>
                      </a:r>
                      <a:endParaRPr lang="en-US" sz="1300" dirty="0">
                        <a:latin typeface="Arial" charset="0"/>
                        <a:ea typeface="Arial" charset="0"/>
                        <a:cs typeface="Arial"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Arial" pitchFamily="34" charset="0"/>
                          <a:ea typeface="Arial" pitchFamily="34" charset="-122"/>
                          <a:cs typeface="Arial" pitchFamily="34" charset="-120"/>
                        </a:rPr>
                        <a:t>13</a:t>
                      </a:r>
                      <a:endParaRPr lang="en-US" sz="1300" dirty="0">
                        <a:latin typeface="Arial" charset="0"/>
                        <a:ea typeface="Arial" charset="0"/>
                        <a:cs typeface="Arial"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56870">
                <a:tc>
                  <a:txBody>
                    <a:bodyPr/>
                    <a:lstStyle/>
                    <a:p>
                      <a:pPr indent="0" marL="0">
                        <a:lnSpc>
                          <a:spcPts val="1820"/>
                        </a:lnSpc>
                        <a:buNone/>
                      </a:pPr>
                      <a:r>
                        <a:rPr lang="en-US" sz="1300" dirty="0">
                          <a:solidFill>
                            <a:srgbClr val="1A1A1A"/>
                          </a:solidFill>
                          <a:latin typeface="Arial" pitchFamily="34" charset="0"/>
                          <a:ea typeface="Arial" pitchFamily="34" charset="-122"/>
                          <a:cs typeface="Arial" pitchFamily="34" charset="-120"/>
                        </a:rPr>
                        <a:t>spambase</a:t>
                      </a:r>
                      <a:endParaRPr lang="en-US" sz="1300" dirty="0">
                        <a:latin typeface="Arial" charset="0"/>
                        <a:ea typeface="Arial" charset="0"/>
                        <a:cs typeface="Arial"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Arial" pitchFamily="34" charset="0"/>
                          <a:ea typeface="Arial" pitchFamily="34" charset="-122"/>
                          <a:cs typeface="Arial" pitchFamily="34" charset="-120"/>
                        </a:rPr>
                        <a:t>4601</a:t>
                      </a:r>
                      <a:endParaRPr lang="en-US" sz="1300" dirty="0">
                        <a:latin typeface="Arial" charset="0"/>
                        <a:ea typeface="Arial" charset="0"/>
                        <a:cs typeface="Arial"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Arial" pitchFamily="34" charset="0"/>
                          <a:ea typeface="Arial" pitchFamily="34" charset="-122"/>
                          <a:cs typeface="Arial" pitchFamily="34" charset="-120"/>
                        </a:rPr>
                        <a:t>57</a:t>
                      </a:r>
                      <a:endParaRPr lang="en-US" sz="1300" dirty="0">
                        <a:latin typeface="Arial" charset="0"/>
                        <a:ea typeface="Arial" charset="0"/>
                        <a:cs typeface="Arial"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56870">
                <a:tc>
                  <a:txBody>
                    <a:bodyPr/>
                    <a:lstStyle/>
                    <a:p>
                      <a:pPr indent="0" marL="0">
                        <a:lnSpc>
                          <a:spcPts val="1820"/>
                        </a:lnSpc>
                        <a:buNone/>
                      </a:pPr>
                      <a:r>
                        <a:rPr lang="en-US" sz="1300" dirty="0">
                          <a:solidFill>
                            <a:srgbClr val="1A1A1A"/>
                          </a:solidFill>
                          <a:latin typeface="Arial" pitchFamily="34" charset="0"/>
                          <a:ea typeface="Arial" pitchFamily="34" charset="-122"/>
                          <a:cs typeface="Arial" pitchFamily="34" charset="-120"/>
                        </a:rPr>
                        <a:t>phoneme</a:t>
                      </a:r>
                      <a:endParaRPr lang="en-US" sz="1300" dirty="0">
                        <a:latin typeface="Arial" charset="0"/>
                        <a:ea typeface="Arial" charset="0"/>
                        <a:cs typeface="Arial"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Arial" pitchFamily="34" charset="0"/>
                          <a:ea typeface="Arial" pitchFamily="34" charset="-122"/>
                          <a:cs typeface="Arial" pitchFamily="34" charset="-120"/>
                        </a:rPr>
                        <a:t>5404</a:t>
                      </a:r>
                      <a:endParaRPr lang="en-US" sz="1300" dirty="0">
                        <a:latin typeface="Arial" charset="0"/>
                        <a:ea typeface="Arial" charset="0"/>
                        <a:cs typeface="Arial"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Arial" pitchFamily="34" charset="0"/>
                          <a:ea typeface="Arial" pitchFamily="34" charset="-122"/>
                          <a:cs typeface="Arial" pitchFamily="34" charset="-120"/>
                        </a:rPr>
                        <a:t>5</a:t>
                      </a:r>
                      <a:endParaRPr lang="en-US" sz="1300" dirty="0">
                        <a:latin typeface="Arial" charset="0"/>
                        <a:ea typeface="Arial" charset="0"/>
                        <a:cs typeface="Arial"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56870">
                <a:tc>
                  <a:txBody>
                    <a:bodyPr/>
                    <a:lstStyle/>
                    <a:p>
                      <a:pPr indent="0" marL="0">
                        <a:lnSpc>
                          <a:spcPts val="1820"/>
                        </a:lnSpc>
                        <a:buNone/>
                      </a:pPr>
                      <a:r>
                        <a:rPr lang="en-US" sz="1300" dirty="0">
                          <a:solidFill>
                            <a:srgbClr val="1A1A1A"/>
                          </a:solidFill>
                          <a:latin typeface="Arial" pitchFamily="34" charset="0"/>
                          <a:ea typeface="Arial" pitchFamily="34" charset="-122"/>
                          <a:cs typeface="Arial" pitchFamily="34" charset="-120"/>
                        </a:rPr>
                        <a:t>blood</a:t>
                      </a:r>
                      <a:endParaRPr lang="en-US" sz="1300" dirty="0">
                        <a:latin typeface="Arial" charset="0"/>
                        <a:ea typeface="Arial" charset="0"/>
                        <a:cs typeface="Arial"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Arial" pitchFamily="34" charset="0"/>
                          <a:ea typeface="Arial" pitchFamily="34" charset="-122"/>
                          <a:cs typeface="Arial" pitchFamily="34" charset="-120"/>
                        </a:rPr>
                        <a:t>748</a:t>
                      </a:r>
                      <a:endParaRPr lang="en-US" sz="1300" dirty="0">
                        <a:latin typeface="Arial" charset="0"/>
                        <a:ea typeface="Arial" charset="0"/>
                        <a:cs typeface="Arial"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56870">
                <a:tc>
                  <a:txBody>
                    <a:bodyPr/>
                    <a:lstStyle/>
                    <a:p>
                      <a:pPr indent="0" marL="0">
                        <a:lnSpc>
                          <a:spcPts val="1820"/>
                        </a:lnSpc>
                        <a:buNone/>
                      </a:pPr>
                      <a:r>
                        <a:rPr lang="en-US" sz="1300" dirty="0">
                          <a:solidFill>
                            <a:srgbClr val="1A1A1A"/>
                          </a:solidFill>
                          <a:latin typeface="Arial" pitchFamily="34" charset="0"/>
                          <a:ea typeface="Arial" pitchFamily="34" charset="-122"/>
                          <a:cs typeface="Arial" pitchFamily="34" charset="-120"/>
                        </a:rPr>
                        <a:t>sonar</a:t>
                      </a:r>
                      <a:endParaRPr lang="en-US" sz="1300" dirty="0">
                        <a:latin typeface="Arial" charset="0"/>
                        <a:ea typeface="Arial" charset="0"/>
                        <a:cs typeface="Arial"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Arial" pitchFamily="34" charset="0"/>
                          <a:ea typeface="Arial" pitchFamily="34" charset="-122"/>
                          <a:cs typeface="Arial" pitchFamily="34" charset="-120"/>
                        </a:rPr>
                        <a:t>208</a:t>
                      </a:r>
                      <a:endParaRPr lang="en-US" sz="1300" dirty="0">
                        <a:latin typeface="Arial" charset="0"/>
                        <a:ea typeface="Arial" charset="0"/>
                        <a:cs typeface="Arial"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Arial" pitchFamily="34" charset="0"/>
                          <a:ea typeface="Arial" pitchFamily="34" charset="-122"/>
                          <a:cs typeface="Arial" pitchFamily="34" charset="-120"/>
                        </a:rPr>
                        <a:t>60</a:t>
                      </a:r>
                      <a:endParaRPr lang="en-US" sz="1300" dirty="0">
                        <a:latin typeface="Arial" charset="0"/>
                        <a:ea typeface="Arial" charset="0"/>
                        <a:cs typeface="Arial"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bl>
          </a:graphicData>
        </a:graphic>
      </p:graphicFrame>
      <p:sp>
        <p:nvSpPr>
          <p:cNvPr id="6" name="Text 2"/>
          <p:cNvSpPr/>
          <p:nvPr/>
        </p:nvSpPr>
        <p:spPr>
          <a:xfrm>
            <a:off x="812800" y="5366941"/>
            <a:ext cx="10883392" cy="500459"/>
          </a:xfrm>
          <a:prstGeom prst="rect">
            <a:avLst/>
          </a:prstGeom>
          <a:noFill/>
          <a:ln/>
        </p:spPr>
        <p:txBody>
          <a:bodyPr wrap="square" lIns="0" tIns="0" rIns="0" bIns="0" rtlCol="0" anchor="t">
            <a:normAutofit/>
          </a:bodyPr>
          <a:lstStyle/>
          <a:p>
            <a:pPr algn="l" indent="0" marL="0">
              <a:lnSpc>
                <a:spcPts val="1886"/>
              </a:lnSpc>
              <a:buNone/>
            </a:pPr>
            <a:r>
              <a:rPr lang="en-US" sz="1347" dirty="0">
                <a:solidFill>
                  <a:srgbClr val="5F6670"/>
                </a:solidFill>
                <a:latin typeface="Arial" pitchFamily="34" charset="0"/>
                <a:ea typeface="Arial" pitchFamily="34" charset="-122"/>
                <a:cs typeface="Arial" pitchFamily="34" charset="-120"/>
              </a:rPr>
              <a:t>Источники: sklearn и OpenML. В credit_g 13 категориальных признаков: они кодируются в 0/1-столбцы (one-hot) внутри модели, в каждом фолде отдельно.</a:t>
            </a:r>
            <a:endParaRPr lang="en-US" sz="1347" dirty="0"/>
          </a:p>
        </p:txBody>
      </p:sp>
      <p:sp>
        <p:nvSpPr>
          <p:cNvPr id="7" name="Text 3"/>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Arial" pitchFamily="34" charset="0"/>
                <a:ea typeface="Arial" pitchFamily="34" charset="-122"/>
                <a:cs typeface="Arial" pitchFamily="34" charset="-120"/>
              </a:rPr>
              <a:t>Значимость различий в качестве классификаторов</a:t>
            </a:r>
            <a:endParaRPr lang="en-US" sz="1200" dirty="0"/>
          </a:p>
        </p:txBody>
      </p:sp>
      <p:sp>
        <p:nvSpPr>
          <p:cNvPr id="8" name="Text 4"/>
          <p:cNvSpPr/>
          <p:nvPr/>
        </p:nvSpPr>
        <p:spPr>
          <a:xfrm>
            <a:off x="10566400" y="62382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0"/>
                </a:solidFill>
                <a:latin typeface="Arial" pitchFamily="34" charset="0"/>
                <a:ea typeface="Arial" pitchFamily="34" charset="-122"/>
                <a:cs typeface="Arial"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2B5"/>
                </a:solidFill>
                <a:latin typeface="Arial" pitchFamily="34" charset="0"/>
                <a:ea typeface="Arial" pitchFamily="34" charset="-122"/>
                <a:cs typeface="Arial" pitchFamily="34" charset="-120"/>
              </a:rPr>
              <a:t>02 · ДАННЫЕ И МЕТОД</a:t>
            </a:r>
            <a:endParaRPr lang="en-US" sz="1200" dirty="0"/>
          </a:p>
        </p:txBody>
      </p:sp>
      <p:sp>
        <p:nvSpPr>
          <p:cNvPr id="3" name="Text 1"/>
          <p:cNvSpPr/>
          <p:nvPr>
            <p:ph type="title"/>
          </p:nvPr>
        </p:nvSpPr>
        <p:spPr>
          <a:xfrm>
            <a:off x="812800" y="12293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A1A1A"/>
                </a:solidFill>
                <a:latin typeface="Arial" pitchFamily="34" charset="0"/>
                <a:ea typeface="Arial" pitchFamily="34" charset="-122"/>
                <a:cs typeface="Arial" pitchFamily="34" charset="-120"/>
              </a:rPr>
              <a:t>Код: загрузка данных</a:t>
            </a:r>
            <a:endParaRPr lang="en-US" sz="3200" dirty="0"/>
          </a:p>
        </p:txBody>
      </p:sp>
      <p:sp>
        <p:nvSpPr>
          <p:cNvPr id="4" name="Shape 2"/>
          <p:cNvSpPr/>
          <p:nvPr/>
        </p:nvSpPr>
        <p:spPr>
          <a:xfrm>
            <a:off x="815975" y="1903096"/>
            <a:ext cx="6343650" cy="2706370"/>
          </a:xfrm>
          <a:prstGeom prst="roundRect">
            <a:avLst>
              <a:gd name="adj" fmla="val 2698"/>
            </a:avLst>
          </a:prstGeom>
          <a:solidFill>
            <a:srgbClr val="F1F1EC"/>
          </a:solidFill>
          <a:ln w="6350">
            <a:solidFill>
              <a:srgbClr val="DEDED6"/>
            </a:solidFill>
            <a:prstDash val="solid"/>
          </a:ln>
        </p:spPr>
      </p:sp>
      <p:sp>
        <p:nvSpPr>
          <p:cNvPr id="5" name="Text 3"/>
          <p:cNvSpPr/>
          <p:nvPr/>
        </p:nvSpPr>
        <p:spPr>
          <a:xfrm>
            <a:off x="1021080" y="2082800"/>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datasets = {}</a:t>
            </a:r>
            <a:endParaRPr lang="en-US" sz="1200" dirty="0"/>
          </a:p>
        </p:txBody>
      </p:sp>
      <p:sp>
        <p:nvSpPr>
          <p:cNvPr id="6" name="Text 4"/>
          <p:cNvSpPr/>
          <p:nvPr/>
        </p:nvSpPr>
        <p:spPr>
          <a:xfrm>
            <a:off x="1021080" y="2296161"/>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6639B7"/>
                </a:solidFill>
                <a:latin typeface="Courier New" pitchFamily="49" charset="0"/>
                <a:ea typeface="Courier New" pitchFamily="49" charset="-122"/>
                <a:cs typeface="Courier New" pitchFamily="49" charset="-120"/>
              </a:rPr>
              <a:t>for</a:t>
            </a:r>
            <a:r>
              <a:rPr lang="en-US" sz="1200" dirty="0">
                <a:solidFill>
                  <a:srgbClr val="1A1A1A"/>
                </a:solidFill>
                <a:latin typeface="Courier New" pitchFamily="49" charset="0"/>
                <a:ea typeface="Courier New" pitchFamily="49" charset="-122"/>
                <a:cs typeface="Courier New" pitchFamily="49" charset="-120"/>
              </a:rPr>
              <a:t> name, loader </a:t>
            </a:r>
            <a:r>
              <a:rPr lang="en-US" sz="1200" dirty="0">
                <a:solidFill>
                  <a:srgbClr val="6639B7"/>
                </a:solidFill>
                <a:latin typeface="Courier New" pitchFamily="49" charset="0"/>
                <a:ea typeface="Courier New" pitchFamily="49" charset="-122"/>
                <a:cs typeface="Courier New" pitchFamily="49" charset="-120"/>
              </a:rPr>
              <a:t>in</a:t>
            </a:r>
            <a:r>
              <a:rPr lang="en-US" sz="1200" dirty="0">
                <a:solidFill>
                  <a:srgbClr val="1A1A1A"/>
                </a:solidFill>
                <a:latin typeface="Courier New" pitchFamily="49" charset="0"/>
                <a:ea typeface="Courier New" pitchFamily="49" charset="-122"/>
                <a:cs typeface="Courier New" pitchFamily="49" charset="-120"/>
              </a:rPr>
              <a:t> [(</a:t>
            </a:r>
            <a:r>
              <a:rPr lang="en-US" sz="1200" dirty="0">
                <a:solidFill>
                  <a:srgbClr val="116329"/>
                </a:solidFill>
                <a:latin typeface="Courier New" pitchFamily="49" charset="0"/>
                <a:ea typeface="Courier New" pitchFamily="49" charset="-122"/>
                <a:cs typeface="Courier New" pitchFamily="49" charset="-120"/>
              </a:rPr>
              <a:t>"digits"</a:t>
            </a:r>
            <a:r>
              <a:rPr lang="en-US" sz="1200" dirty="0">
                <a:solidFill>
                  <a:srgbClr val="1A1A1A"/>
                </a:solidFill>
                <a:latin typeface="Courier New" pitchFamily="49" charset="0"/>
                <a:ea typeface="Courier New" pitchFamily="49" charset="-122"/>
                <a:cs typeface="Courier New" pitchFamily="49" charset="-120"/>
              </a:rPr>
              <a:t>, load_digits),</a:t>
            </a:r>
            <a:endParaRPr lang="en-US" sz="1200" dirty="0"/>
          </a:p>
        </p:txBody>
      </p:sp>
      <p:sp>
        <p:nvSpPr>
          <p:cNvPr id="7" name="Text 5"/>
          <p:cNvSpPr/>
          <p:nvPr/>
        </p:nvSpPr>
        <p:spPr>
          <a:xfrm>
            <a:off x="1021080" y="2509521"/>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a:t>
            </a:r>
            <a:r>
              <a:rPr lang="en-US" sz="1200" dirty="0">
                <a:solidFill>
                  <a:srgbClr val="116329"/>
                </a:solidFill>
                <a:latin typeface="Courier New" pitchFamily="49" charset="0"/>
                <a:ea typeface="Courier New" pitchFamily="49" charset="-122"/>
                <a:cs typeface="Courier New" pitchFamily="49" charset="-120"/>
              </a:rPr>
              <a:t>"breast_cancer"</a:t>
            </a:r>
            <a:r>
              <a:rPr lang="en-US" sz="1200" dirty="0">
                <a:solidFill>
                  <a:srgbClr val="1A1A1A"/>
                </a:solidFill>
                <a:latin typeface="Courier New" pitchFamily="49" charset="0"/>
                <a:ea typeface="Courier New" pitchFamily="49" charset="-122"/>
                <a:cs typeface="Courier New" pitchFamily="49" charset="-120"/>
              </a:rPr>
              <a:t>, load_breast_cancer),</a:t>
            </a:r>
            <a:endParaRPr lang="en-US" sz="1200" dirty="0"/>
          </a:p>
        </p:txBody>
      </p:sp>
      <p:sp>
        <p:nvSpPr>
          <p:cNvPr id="8" name="Text 6"/>
          <p:cNvSpPr/>
          <p:nvPr/>
        </p:nvSpPr>
        <p:spPr>
          <a:xfrm>
            <a:off x="1021080" y="2722882"/>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a:t>
            </a:r>
            <a:r>
              <a:rPr lang="en-US" sz="1200" dirty="0">
                <a:solidFill>
                  <a:srgbClr val="116329"/>
                </a:solidFill>
                <a:latin typeface="Courier New" pitchFamily="49" charset="0"/>
                <a:ea typeface="Courier New" pitchFamily="49" charset="-122"/>
                <a:cs typeface="Courier New" pitchFamily="49" charset="-120"/>
              </a:rPr>
              <a:t>"wine"</a:t>
            </a:r>
            <a:r>
              <a:rPr lang="en-US" sz="1200" dirty="0">
                <a:solidFill>
                  <a:srgbClr val="1A1A1A"/>
                </a:solidFill>
                <a:latin typeface="Courier New" pitchFamily="49" charset="0"/>
                <a:ea typeface="Courier New" pitchFamily="49" charset="-122"/>
                <a:cs typeface="Courier New" pitchFamily="49" charset="-120"/>
              </a:rPr>
              <a:t>, load_wine)]:</a:t>
            </a:r>
            <a:endParaRPr lang="en-US" sz="1200" dirty="0"/>
          </a:p>
        </p:txBody>
      </p:sp>
      <p:sp>
        <p:nvSpPr>
          <p:cNvPr id="9" name="Text 7"/>
          <p:cNvSpPr/>
          <p:nvPr/>
        </p:nvSpPr>
        <p:spPr>
          <a:xfrm>
            <a:off x="1389380" y="2936239"/>
            <a:ext cx="573209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X, y = loader(return_X_y=True, as_frame=True)</a:t>
            </a:r>
            <a:endParaRPr lang="en-US" sz="1200" dirty="0"/>
          </a:p>
        </p:txBody>
      </p:sp>
      <p:sp>
        <p:nvSpPr>
          <p:cNvPr id="10" name="Text 8"/>
          <p:cNvSpPr/>
          <p:nvPr/>
        </p:nvSpPr>
        <p:spPr>
          <a:xfrm>
            <a:off x="1389380" y="3149600"/>
            <a:ext cx="573209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datasets[name] = (X, y.to_numpy())</a:t>
            </a:r>
            <a:endParaRPr lang="en-US" sz="1200" dirty="0"/>
          </a:p>
        </p:txBody>
      </p:sp>
      <p:sp>
        <p:nvSpPr>
          <p:cNvPr id="11" name="Text 9"/>
          <p:cNvSpPr/>
          <p:nvPr/>
        </p:nvSpPr>
        <p:spPr>
          <a:xfrm>
            <a:off x="1021080" y="3576321"/>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6639B7"/>
                </a:solidFill>
                <a:latin typeface="Courier New" pitchFamily="49" charset="0"/>
                <a:ea typeface="Courier New" pitchFamily="49" charset="-122"/>
                <a:cs typeface="Courier New" pitchFamily="49" charset="-120"/>
              </a:rPr>
              <a:t>for</a:t>
            </a:r>
            <a:r>
              <a:rPr lang="en-US" sz="1200" dirty="0">
                <a:solidFill>
                  <a:srgbClr val="1A1A1A"/>
                </a:solidFill>
                <a:latin typeface="Courier New" pitchFamily="49" charset="0"/>
                <a:ea typeface="Courier New" pitchFamily="49" charset="-122"/>
                <a:cs typeface="Courier New" pitchFamily="49" charset="-120"/>
              </a:rPr>
              <a:t> short_name, openml_name </a:t>
            </a:r>
            <a:r>
              <a:rPr lang="en-US" sz="1200" dirty="0">
                <a:solidFill>
                  <a:srgbClr val="6639B7"/>
                </a:solidFill>
                <a:latin typeface="Courier New" pitchFamily="49" charset="0"/>
                <a:ea typeface="Courier New" pitchFamily="49" charset="-122"/>
                <a:cs typeface="Courier New" pitchFamily="49" charset="-120"/>
              </a:rPr>
              <a:t>in</a:t>
            </a:r>
            <a:r>
              <a:rPr lang="en-US" sz="1200" dirty="0">
                <a:solidFill>
                  <a:srgbClr val="1A1A1A"/>
                </a:solidFill>
                <a:latin typeface="Courier New" pitchFamily="49" charset="0"/>
                <a:ea typeface="Courier New" pitchFamily="49" charset="-122"/>
                <a:cs typeface="Courier New" pitchFamily="49" charset="-120"/>
              </a:rPr>
              <a:t> openml_names.items():</a:t>
            </a:r>
            <a:endParaRPr lang="en-US" sz="1200" dirty="0"/>
          </a:p>
        </p:txBody>
      </p:sp>
      <p:sp>
        <p:nvSpPr>
          <p:cNvPr id="12" name="Text 10"/>
          <p:cNvSpPr/>
          <p:nvPr/>
        </p:nvSpPr>
        <p:spPr>
          <a:xfrm>
            <a:off x="1389380" y="3789682"/>
            <a:ext cx="573209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X, y = fetch_openml(openml_name, version=1,</a:t>
            </a:r>
            <a:endParaRPr lang="en-US" sz="1200" dirty="0"/>
          </a:p>
        </p:txBody>
      </p:sp>
      <p:sp>
        <p:nvSpPr>
          <p:cNvPr id="13" name="Text 11"/>
          <p:cNvSpPr/>
          <p:nvPr/>
        </p:nvSpPr>
        <p:spPr>
          <a:xfrm>
            <a:off x="1021080" y="4003039"/>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return_X_y=True, as_frame=True)</a:t>
            </a:r>
            <a:endParaRPr lang="en-US" sz="1200" dirty="0"/>
          </a:p>
        </p:txBody>
      </p:sp>
      <p:sp>
        <p:nvSpPr>
          <p:cNvPr id="14" name="Text 12"/>
          <p:cNvSpPr/>
          <p:nvPr/>
        </p:nvSpPr>
        <p:spPr>
          <a:xfrm>
            <a:off x="1389380" y="4216400"/>
            <a:ext cx="573209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datasets[short_name] = (X, y.to_numpy())</a:t>
            </a:r>
            <a:endParaRPr lang="en-US" sz="1200" dirty="0"/>
          </a:p>
        </p:txBody>
      </p:sp>
      <p:sp>
        <p:nvSpPr>
          <p:cNvPr id="15" name="Text 13"/>
          <p:cNvSpPr/>
          <p:nvPr/>
        </p:nvSpPr>
        <p:spPr>
          <a:xfrm>
            <a:off x="7366000" y="1899921"/>
            <a:ext cx="413359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A1A"/>
                </a:solidFill>
                <a:latin typeface="Arial" pitchFamily="34" charset="0"/>
                <a:ea typeface="Arial" pitchFamily="34" charset="-122"/>
                <a:cs typeface="Arial" pitchFamily="34" charset="-120"/>
              </a:rPr>
              <a:t>Каждый датасет это пара (X, y): таблица признаков и метки классов.</a:t>
            </a:r>
            <a:endParaRPr lang="en-US" sz="1400" dirty="0"/>
          </a:p>
        </p:txBody>
      </p:sp>
      <p:sp>
        <p:nvSpPr>
          <p:cNvPr id="16" name="Text 14"/>
          <p:cNvSpPr/>
          <p:nvPr/>
        </p:nvSpPr>
        <p:spPr>
          <a:xfrm>
            <a:off x="7366000" y="2524761"/>
            <a:ext cx="413359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F6670"/>
                </a:solidFill>
                <a:latin typeface="Arial" pitchFamily="34" charset="0"/>
                <a:ea typeface="Arial" pitchFamily="34" charset="-122"/>
                <a:cs typeface="Arial" pitchFamily="34" charset="-120"/>
              </a:rPr>
              <a:t>openml_names: словарь вида {"credit_g": "credit-g", ...} с названиями на сайте OpenML.</a:t>
            </a:r>
            <a:endParaRPr lang="en-US" sz="1400" dirty="0"/>
          </a:p>
        </p:txBody>
      </p:sp>
      <p:sp>
        <p:nvSpPr>
          <p:cNvPr id="17" name="Text 15"/>
          <p:cNvSpPr/>
          <p:nvPr/>
        </p:nvSpPr>
        <p:spPr>
          <a:xfrm>
            <a:off x="7366000" y="3149600"/>
            <a:ext cx="413359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Arial" pitchFamily="34" charset="0"/>
                <a:ea typeface="Arial" pitchFamily="34" charset="-122"/>
                <a:cs typeface="Arial" pitchFamily="34" charset="-120"/>
              </a:rPr>
              <a:t>Размеры первых датасетов:</a:t>
            </a:r>
            <a:endParaRPr lang="en-US" sz="1200" dirty="0"/>
          </a:p>
        </p:txBody>
      </p:sp>
      <p:sp>
        <p:nvSpPr>
          <p:cNvPr id="18" name="Shape 16"/>
          <p:cNvSpPr/>
          <p:nvPr/>
        </p:nvSpPr>
        <p:spPr>
          <a:xfrm>
            <a:off x="7366000" y="3489961"/>
            <a:ext cx="4013200" cy="1584960"/>
          </a:xfrm>
          <a:prstGeom prst="roundRect">
            <a:avLst>
              <a:gd name="adj" fmla="val 4808"/>
            </a:avLst>
          </a:prstGeom>
          <a:solidFill>
            <a:srgbClr val="15202B"/>
          </a:solidFill>
          <a:ln/>
        </p:spPr>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7528560" y="3627121"/>
          <a:ext cx="3698240" cy="1320800"/>
        </p:xfrm>
        <a:graphic>
          <a:graphicData uri="http://schemas.openxmlformats.org/drawingml/2006/table">
            <a:tbl>
              <a:tblPr/>
              <a:tblGrid>
                <a:gridCol w="1232747"/>
                <a:gridCol w="1232747"/>
                <a:gridCol w="1232747"/>
              </a:tblGrid>
              <a:tr h="330200">
                <a:tc>
                  <a:txBody>
                    <a:bodyPr/>
                    <a:lstStyle/>
                    <a:p>
                      <a:pPr indent="0" marL="0">
                        <a:lnSpc>
                          <a:spcPts val="1680"/>
                        </a:lnSpc>
                        <a:buNone/>
                      </a:pPr>
                      <a:r>
                        <a:rPr lang="en-US" sz="1200" b="1" dirty="0">
                          <a:solidFill>
                            <a:srgbClr val="E6EDF3"/>
                          </a:solidFill>
                          <a:latin typeface="Courier New" pitchFamily="49" charset="0"/>
                          <a:ea typeface="Courier New" pitchFamily="49" charset="-122"/>
                          <a:cs typeface="Courier New" pitchFamily="49" charset="-120"/>
                        </a:rPr>
                        <a:t> </a:t>
                      </a:r>
                      <a:endParaRPr lang="en-US" sz="1200" dirty="0">
                        <a:latin typeface="Courier New" charset="0"/>
                        <a:ea typeface="Courier New" charset="0"/>
                        <a:cs typeface="Courier New"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4"/>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4"/>
                      </a:solidFill>
                      <a:prstDash val="solid"/>
                      <a:round/>
                      <a:headEnd type="none" w="med" len="med"/>
                      <a:tailEnd type="none" w="med" len="med"/>
                    </a:lnB>
                    <a:solidFill>
                      <a:srgbClr val="151F29"/>
                    </a:solidFill>
                  </a:tcPr>
                </a:tc>
                <a:tc>
                  <a:txBody>
                    <a:bodyPr/>
                    <a:lstStyle/>
                    <a:p>
                      <a:pPr algn="r" indent="0" marL="0">
                        <a:lnSpc>
                          <a:spcPts val="1680"/>
                        </a:lnSpc>
                        <a:buNone/>
                      </a:pPr>
                      <a:r>
                        <a:rPr lang="en-US" sz="1200" b="1" dirty="0">
                          <a:solidFill>
                            <a:srgbClr val="E6EDF3"/>
                          </a:solidFill>
                          <a:latin typeface="Courier New" pitchFamily="49" charset="0"/>
                          <a:ea typeface="Courier New" pitchFamily="49" charset="-122"/>
                          <a:cs typeface="Courier New" pitchFamily="49" charset="-120"/>
                        </a:rPr>
                        <a:t>объектов</a:t>
                      </a:r>
                      <a:endParaRPr lang="en-US" sz="1200" dirty="0">
                        <a:latin typeface="Courier New" charset="0"/>
                        <a:ea typeface="Courier New" charset="0"/>
                        <a:cs typeface="Courier New" charset="0"/>
                      </a:endParaRPr>
                    </a:p>
                  </a:txBody>
                  <a:tcPr marL="53340" marR="53340" marT="53340" marB="53340" anchor="t">
                    <a:lnL w="12700" cap="flat" cmpd="sng" algn="ctr">
                      <a:solidFill>
                        <a:srgbClr val="151D24"/>
                      </a:solidFill>
                      <a:prstDash val="solid"/>
                      <a:round/>
                      <a:headEnd type="none" w="med" len="med"/>
                      <a:tailEnd type="none" w="med" len="med"/>
                    </a:lnL>
                    <a:lnR w="12700" cap="flat" cmpd="sng" algn="ctr">
                      <a:solidFill>
                        <a:srgbClr val="151D24"/>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4"/>
                      </a:solidFill>
                      <a:prstDash val="solid"/>
                      <a:round/>
                      <a:headEnd type="none" w="med" len="med"/>
                      <a:tailEnd type="none" w="med" len="med"/>
                    </a:lnB>
                    <a:solidFill>
                      <a:srgbClr val="151F29"/>
                    </a:solidFill>
                  </a:tcPr>
                </a:tc>
                <a:tc>
                  <a:txBody>
                    <a:bodyPr/>
                    <a:lstStyle/>
                    <a:p>
                      <a:pPr algn="r" indent="0" marL="0">
                        <a:lnSpc>
                          <a:spcPts val="1680"/>
                        </a:lnSpc>
                        <a:buNone/>
                      </a:pPr>
                      <a:r>
                        <a:rPr lang="en-US" sz="1200" b="1" dirty="0">
                          <a:solidFill>
                            <a:srgbClr val="E6EDF3"/>
                          </a:solidFill>
                          <a:latin typeface="Courier New" pitchFamily="49" charset="0"/>
                          <a:ea typeface="Courier New" pitchFamily="49" charset="-122"/>
                          <a:cs typeface="Courier New" pitchFamily="49" charset="-120"/>
                        </a:rPr>
                        <a:t>признаков</a:t>
                      </a:r>
                      <a:endParaRPr lang="en-US" sz="1200" dirty="0">
                        <a:latin typeface="Courier New" charset="0"/>
                        <a:ea typeface="Courier New" charset="0"/>
                        <a:cs typeface="Courier New" charset="0"/>
                      </a:endParaRPr>
                    </a:p>
                  </a:txBody>
                  <a:tcPr marL="53340" marR="53340" marT="53340" marB="53340" anchor="t">
                    <a:lnL w="12700" cap="flat" cmpd="sng" algn="ctr">
                      <a:solidFill>
                        <a:srgbClr val="151D24"/>
                      </a:solidFill>
                      <a:prstDash val="solid"/>
                      <a:round/>
                      <a:headEnd type="none" w="med" len="med"/>
                      <a:tailEnd type="none" w="med" len="med"/>
                    </a:lnL>
                    <a:lnR w="12700" cap="flat" cmpd="sng" algn="ctr">
                      <a:solidFill>
                        <a:srgbClr val="151D24"/>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4"/>
                      </a:solidFill>
                      <a:prstDash val="solid"/>
                      <a:round/>
                      <a:headEnd type="none" w="med" len="med"/>
                      <a:tailEnd type="none" w="med" len="med"/>
                    </a:lnB>
                    <a:solidFill>
                      <a:srgbClr val="151F29"/>
                    </a:solidFill>
                  </a:tcPr>
                </a:tc>
              </a:tr>
              <a:tr h="330200">
                <a:tc>
                  <a:txBody>
                    <a:bodyPr/>
                    <a:lstStyle/>
                    <a:p>
                      <a:pPr indent="0" marL="0">
                        <a:lnSpc>
                          <a:spcPts val="1680"/>
                        </a:lnSpc>
                        <a:buNone/>
                      </a:pPr>
                      <a:r>
                        <a:rPr lang="en-US" sz="1200" dirty="0">
                          <a:solidFill>
                            <a:srgbClr val="E6EDF3"/>
                          </a:solidFill>
                          <a:latin typeface="Courier New" pitchFamily="49" charset="0"/>
                          <a:ea typeface="Courier New" pitchFamily="49" charset="-122"/>
                          <a:cs typeface="Courier New" pitchFamily="49" charset="-120"/>
                        </a:rPr>
                        <a:t>digits</a:t>
                      </a:r>
                      <a:endParaRPr lang="en-US" sz="1200" dirty="0">
                        <a:latin typeface="Courier New" charset="0"/>
                        <a:ea typeface="Courier New" charset="0"/>
                        <a:cs typeface="Courier New"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4"/>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c>
                  <a:txBody>
                    <a:bodyPr/>
                    <a:lstStyle/>
                    <a:p>
                      <a:pPr algn="r" indent="0" marL="0">
                        <a:lnSpc>
                          <a:spcPts val="1680"/>
                        </a:lnSpc>
                        <a:buNone/>
                      </a:pPr>
                      <a:r>
                        <a:rPr lang="en-US" sz="1200" dirty="0">
                          <a:solidFill>
                            <a:srgbClr val="E6EDF3"/>
                          </a:solidFill>
                          <a:latin typeface="Courier New" pitchFamily="49" charset="0"/>
                          <a:ea typeface="Courier New" pitchFamily="49" charset="-122"/>
                          <a:cs typeface="Courier New" pitchFamily="49" charset="-120"/>
                        </a:rPr>
                        <a:t>1797</a:t>
                      </a:r>
                      <a:endParaRPr lang="en-US" sz="1200" dirty="0">
                        <a:latin typeface="Courier New" charset="0"/>
                        <a:ea typeface="Courier New" charset="0"/>
                        <a:cs typeface="Courier New"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4"/>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c>
                  <a:txBody>
                    <a:bodyPr/>
                    <a:lstStyle/>
                    <a:p>
                      <a:pPr algn="r" indent="0" marL="0">
                        <a:lnSpc>
                          <a:spcPts val="1680"/>
                        </a:lnSpc>
                        <a:buNone/>
                      </a:pPr>
                      <a:r>
                        <a:rPr lang="en-US" sz="1200" dirty="0">
                          <a:solidFill>
                            <a:srgbClr val="E6EDF3"/>
                          </a:solidFill>
                          <a:latin typeface="Courier New" pitchFamily="49" charset="0"/>
                          <a:ea typeface="Courier New" pitchFamily="49" charset="-122"/>
                          <a:cs typeface="Courier New" pitchFamily="49" charset="-120"/>
                        </a:rPr>
                        <a:t>64</a:t>
                      </a:r>
                      <a:endParaRPr lang="en-US" sz="1200" dirty="0">
                        <a:latin typeface="Courier New" charset="0"/>
                        <a:ea typeface="Courier New" charset="0"/>
                        <a:cs typeface="Courier New"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4"/>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r>
              <a:tr h="330200">
                <a:tc>
                  <a:txBody>
                    <a:bodyPr/>
                    <a:lstStyle/>
                    <a:p>
                      <a:pPr indent="0" marL="0">
                        <a:lnSpc>
                          <a:spcPts val="1680"/>
                        </a:lnSpc>
                        <a:buNone/>
                      </a:pPr>
                      <a:r>
                        <a:rPr lang="en-US" sz="1200" dirty="0">
                          <a:solidFill>
                            <a:srgbClr val="E6EDF3"/>
                          </a:solidFill>
                          <a:latin typeface="Courier New" pitchFamily="49" charset="0"/>
                          <a:ea typeface="Courier New" pitchFamily="49" charset="-122"/>
                          <a:cs typeface="Courier New" pitchFamily="49" charset="-120"/>
                        </a:rPr>
                        <a:t>wine</a:t>
                      </a:r>
                      <a:endParaRPr lang="en-US" sz="1200" dirty="0">
                        <a:latin typeface="Courier New" charset="0"/>
                        <a:ea typeface="Courier New" charset="0"/>
                        <a:cs typeface="Courier New"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c>
                  <a:txBody>
                    <a:bodyPr/>
                    <a:lstStyle/>
                    <a:p>
                      <a:pPr algn="r" indent="0" marL="0">
                        <a:lnSpc>
                          <a:spcPts val="1680"/>
                        </a:lnSpc>
                        <a:buNone/>
                      </a:pPr>
                      <a:r>
                        <a:rPr lang="en-US" sz="1200" dirty="0">
                          <a:solidFill>
                            <a:srgbClr val="E6EDF3"/>
                          </a:solidFill>
                          <a:latin typeface="Courier New" pitchFamily="49" charset="0"/>
                          <a:ea typeface="Courier New" pitchFamily="49" charset="-122"/>
                          <a:cs typeface="Courier New" pitchFamily="49" charset="-120"/>
                        </a:rPr>
                        <a:t>178</a:t>
                      </a:r>
                      <a:endParaRPr lang="en-US" sz="1200" dirty="0">
                        <a:latin typeface="Courier New" charset="0"/>
                        <a:ea typeface="Courier New" charset="0"/>
                        <a:cs typeface="Courier New"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c>
                  <a:txBody>
                    <a:bodyPr/>
                    <a:lstStyle/>
                    <a:p>
                      <a:pPr algn="r" indent="0" marL="0">
                        <a:lnSpc>
                          <a:spcPts val="1680"/>
                        </a:lnSpc>
                        <a:buNone/>
                      </a:pPr>
                      <a:r>
                        <a:rPr lang="en-US" sz="1200" dirty="0">
                          <a:solidFill>
                            <a:srgbClr val="E6EDF3"/>
                          </a:solidFill>
                          <a:latin typeface="Courier New" pitchFamily="49" charset="0"/>
                          <a:ea typeface="Courier New" pitchFamily="49" charset="-122"/>
                          <a:cs typeface="Courier New" pitchFamily="49" charset="-120"/>
                        </a:rPr>
                        <a:t>13</a:t>
                      </a:r>
                      <a:endParaRPr lang="en-US" sz="1200" dirty="0">
                        <a:latin typeface="Courier New" charset="0"/>
                        <a:ea typeface="Courier New" charset="0"/>
                        <a:cs typeface="Courier New"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r>
              <a:tr h="330200">
                <a:tc>
                  <a:txBody>
                    <a:bodyPr/>
                    <a:lstStyle/>
                    <a:p>
                      <a:pPr indent="0" marL="0">
                        <a:lnSpc>
                          <a:spcPts val="1680"/>
                        </a:lnSpc>
                        <a:buNone/>
                      </a:pPr>
                      <a:r>
                        <a:rPr lang="en-US" sz="1200" dirty="0">
                          <a:solidFill>
                            <a:srgbClr val="E6EDF3"/>
                          </a:solidFill>
                          <a:latin typeface="Courier New" pitchFamily="49" charset="0"/>
                          <a:ea typeface="Courier New" pitchFamily="49" charset="-122"/>
                          <a:cs typeface="Courier New" pitchFamily="49" charset="-120"/>
                        </a:rPr>
                        <a:t>credit_g</a:t>
                      </a:r>
                      <a:endParaRPr lang="en-US" sz="1200" dirty="0">
                        <a:latin typeface="Courier New" charset="0"/>
                        <a:ea typeface="Courier New" charset="0"/>
                        <a:cs typeface="Courier New"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c>
                  <a:txBody>
                    <a:bodyPr/>
                    <a:lstStyle/>
                    <a:p>
                      <a:pPr algn="r" indent="0" marL="0">
                        <a:lnSpc>
                          <a:spcPts val="1680"/>
                        </a:lnSpc>
                        <a:buNone/>
                      </a:pPr>
                      <a:r>
                        <a:rPr lang="en-US" sz="1200" dirty="0">
                          <a:solidFill>
                            <a:srgbClr val="E6EDF3"/>
                          </a:solidFill>
                          <a:latin typeface="Courier New" pitchFamily="49" charset="0"/>
                          <a:ea typeface="Courier New" pitchFamily="49" charset="-122"/>
                          <a:cs typeface="Courier New" pitchFamily="49" charset="-120"/>
                        </a:rPr>
                        <a:t>1000</a:t>
                      </a:r>
                      <a:endParaRPr lang="en-US" sz="1200" dirty="0">
                        <a:latin typeface="Courier New" charset="0"/>
                        <a:ea typeface="Courier New" charset="0"/>
                        <a:cs typeface="Courier New"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c>
                  <a:txBody>
                    <a:bodyPr/>
                    <a:lstStyle/>
                    <a:p>
                      <a:pPr algn="r" indent="0" marL="0">
                        <a:lnSpc>
                          <a:spcPts val="1680"/>
                        </a:lnSpc>
                        <a:buNone/>
                      </a:pPr>
                      <a:r>
                        <a:rPr lang="en-US" sz="1200" dirty="0">
                          <a:solidFill>
                            <a:srgbClr val="E6EDF3"/>
                          </a:solidFill>
                          <a:latin typeface="Courier New" pitchFamily="49" charset="0"/>
                          <a:ea typeface="Courier New" pitchFamily="49" charset="-122"/>
                          <a:cs typeface="Courier New" pitchFamily="49" charset="-120"/>
                        </a:rPr>
                        <a:t>20</a:t>
                      </a:r>
                      <a:endParaRPr lang="en-US" sz="1200" dirty="0">
                        <a:latin typeface="Courier New" charset="0"/>
                        <a:ea typeface="Courier New" charset="0"/>
                        <a:cs typeface="Courier New"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r>
            </a:tbl>
          </a:graphicData>
        </a:graphic>
      </p:graphicFrame>
      <p:sp>
        <p:nvSpPr>
          <p:cNvPr id="20" name="Text 17"/>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Arial" pitchFamily="34" charset="0"/>
                <a:ea typeface="Arial" pitchFamily="34" charset="-122"/>
                <a:cs typeface="Arial" pitchFamily="34" charset="-120"/>
              </a:rPr>
              <a:t>Значимость различий в качестве классификаторов</a:t>
            </a:r>
            <a:endParaRPr lang="en-US" sz="1200" dirty="0"/>
          </a:p>
        </p:txBody>
      </p:sp>
      <p:sp>
        <p:nvSpPr>
          <p:cNvPr id="21" name="Text 18"/>
          <p:cNvSpPr/>
          <p:nvPr/>
        </p:nvSpPr>
        <p:spPr>
          <a:xfrm>
            <a:off x="10566400" y="62382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0"/>
                </a:solidFill>
                <a:latin typeface="Arial" pitchFamily="34" charset="0"/>
                <a:ea typeface="Arial" pitchFamily="34" charset="-122"/>
                <a:cs typeface="Arial"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2B5"/>
                </a:solidFill>
                <a:latin typeface="Arial" pitchFamily="34" charset="0"/>
                <a:ea typeface="Arial" pitchFamily="34" charset="-122"/>
                <a:cs typeface="Arial" pitchFamily="34" charset="-120"/>
              </a:rPr>
              <a:t>02 · ДАННЫЕ И МЕТОД</a:t>
            </a:r>
            <a:endParaRPr lang="en-US" sz="1200" dirty="0"/>
          </a:p>
        </p:txBody>
      </p:sp>
      <p:sp>
        <p:nvSpPr>
          <p:cNvPr id="3" name="Text 1"/>
          <p:cNvSpPr/>
          <p:nvPr>
            <p:ph type="title"/>
          </p:nvPr>
        </p:nvSpPr>
        <p:spPr>
          <a:xfrm>
            <a:off x="812800" y="12293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A1A1A"/>
                </a:solidFill>
                <a:latin typeface="Arial" pitchFamily="34" charset="0"/>
                <a:ea typeface="Arial" pitchFamily="34" charset="-122"/>
                <a:cs typeface="Arial" pitchFamily="34" charset="-120"/>
              </a:rPr>
              <a:t>Три модели и схема эксперимента</a:t>
            </a:r>
            <a:endParaRPr lang="en-US" sz="3200" dirty="0"/>
          </a:p>
        </p:txBody>
      </p:sp>
      <p:sp>
        <p:nvSpPr>
          <p:cNvPr id="4" name="Shape 2"/>
          <p:cNvSpPr/>
          <p:nvPr/>
        </p:nvSpPr>
        <p:spPr>
          <a:xfrm>
            <a:off x="812800" y="1899921"/>
            <a:ext cx="3386614" cy="1203960"/>
          </a:xfrm>
          <a:prstGeom prst="roundRect">
            <a:avLst>
              <a:gd name="adj" fmla="val 8439"/>
            </a:avLst>
          </a:prstGeom>
          <a:solidFill>
            <a:srgbClr val="F1F1EC"/>
          </a:solidFill>
          <a:ln/>
        </p:spPr>
      </p:sp>
      <p:sp>
        <p:nvSpPr>
          <p:cNvPr id="5" name="Text 3"/>
          <p:cNvSpPr/>
          <p:nvPr/>
        </p:nvSpPr>
        <p:spPr>
          <a:xfrm>
            <a:off x="1066800" y="2153921"/>
            <a:ext cx="296497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A1A1A"/>
                </a:solidFill>
                <a:latin typeface="Arial" pitchFamily="34" charset="0"/>
                <a:ea typeface="Arial" pitchFamily="34" charset="-122"/>
                <a:cs typeface="Arial" pitchFamily="34" charset="-120"/>
              </a:rPr>
              <a:t>LogisticRegression</a:t>
            </a:r>
            <a:endParaRPr lang="en-US" sz="1800" dirty="0"/>
          </a:p>
        </p:txBody>
      </p:sp>
      <p:sp>
        <p:nvSpPr>
          <p:cNvPr id="6" name="Text 4"/>
          <p:cNvSpPr/>
          <p:nvPr/>
        </p:nvSpPr>
        <p:spPr>
          <a:xfrm>
            <a:off x="1066800" y="2529839"/>
            <a:ext cx="2964972"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5F6670"/>
                </a:solidFill>
                <a:latin typeface="Arial" pitchFamily="34" charset="0"/>
                <a:ea typeface="Arial" pitchFamily="34" charset="-122"/>
                <a:cs typeface="Arial" pitchFamily="34" charset="-120"/>
              </a:rPr>
              <a:t>Линейная модель</a:t>
            </a:r>
            <a:endParaRPr lang="en-US" sz="1800" dirty="0"/>
          </a:p>
        </p:txBody>
      </p:sp>
      <p:sp>
        <p:nvSpPr>
          <p:cNvPr id="7" name="Shape 5"/>
          <p:cNvSpPr/>
          <p:nvPr/>
        </p:nvSpPr>
        <p:spPr>
          <a:xfrm>
            <a:off x="4402614" y="1899921"/>
            <a:ext cx="3386693" cy="1203960"/>
          </a:xfrm>
          <a:prstGeom prst="roundRect">
            <a:avLst>
              <a:gd name="adj" fmla="val 8439"/>
            </a:avLst>
          </a:prstGeom>
          <a:solidFill>
            <a:srgbClr val="F1F1EC"/>
          </a:solidFill>
          <a:ln/>
        </p:spPr>
      </p:sp>
      <p:sp>
        <p:nvSpPr>
          <p:cNvPr id="8" name="Text 6"/>
          <p:cNvSpPr/>
          <p:nvPr/>
        </p:nvSpPr>
        <p:spPr>
          <a:xfrm>
            <a:off x="4656614" y="2153921"/>
            <a:ext cx="296505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A1A1A"/>
                </a:solidFill>
                <a:latin typeface="Arial" pitchFamily="34" charset="0"/>
                <a:ea typeface="Arial" pitchFamily="34" charset="-122"/>
                <a:cs typeface="Arial" pitchFamily="34" charset="-120"/>
              </a:rPr>
              <a:t>RandomForest</a:t>
            </a:r>
            <a:endParaRPr lang="en-US" sz="1800" dirty="0"/>
          </a:p>
        </p:txBody>
      </p:sp>
      <p:sp>
        <p:nvSpPr>
          <p:cNvPr id="9" name="Text 7"/>
          <p:cNvSpPr/>
          <p:nvPr/>
        </p:nvSpPr>
        <p:spPr>
          <a:xfrm>
            <a:off x="4656614" y="2529839"/>
            <a:ext cx="2965054"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5F6670"/>
                </a:solidFill>
                <a:latin typeface="Arial" pitchFamily="34" charset="0"/>
                <a:ea typeface="Arial" pitchFamily="34" charset="-122"/>
                <a:cs typeface="Arial" pitchFamily="34" charset="-120"/>
              </a:rPr>
              <a:t>Бэггинг деревьев</a:t>
            </a:r>
            <a:endParaRPr lang="en-US" sz="1800" dirty="0"/>
          </a:p>
        </p:txBody>
      </p:sp>
      <p:sp>
        <p:nvSpPr>
          <p:cNvPr id="10" name="Shape 8"/>
          <p:cNvSpPr/>
          <p:nvPr/>
        </p:nvSpPr>
        <p:spPr>
          <a:xfrm>
            <a:off x="7992507" y="1899921"/>
            <a:ext cx="3386693" cy="1203960"/>
          </a:xfrm>
          <a:prstGeom prst="roundRect">
            <a:avLst>
              <a:gd name="adj" fmla="val 8439"/>
            </a:avLst>
          </a:prstGeom>
          <a:solidFill>
            <a:srgbClr val="F1F1EC"/>
          </a:solidFill>
          <a:ln/>
        </p:spPr>
      </p:sp>
      <p:sp>
        <p:nvSpPr>
          <p:cNvPr id="11" name="Text 9"/>
          <p:cNvSpPr/>
          <p:nvPr/>
        </p:nvSpPr>
        <p:spPr>
          <a:xfrm>
            <a:off x="8246507" y="2153921"/>
            <a:ext cx="296505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A1A1A"/>
                </a:solidFill>
                <a:latin typeface="Arial" pitchFamily="34" charset="0"/>
                <a:ea typeface="Arial" pitchFamily="34" charset="-122"/>
                <a:cs typeface="Arial" pitchFamily="34" charset="-120"/>
              </a:rPr>
              <a:t>HistGradientBoosting</a:t>
            </a:r>
            <a:endParaRPr lang="en-US" sz="1800" dirty="0"/>
          </a:p>
        </p:txBody>
      </p:sp>
      <p:sp>
        <p:nvSpPr>
          <p:cNvPr id="12" name="Text 10"/>
          <p:cNvSpPr/>
          <p:nvPr/>
        </p:nvSpPr>
        <p:spPr>
          <a:xfrm>
            <a:off x="8246507" y="2529839"/>
            <a:ext cx="2965054"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5F6670"/>
                </a:solidFill>
                <a:latin typeface="Arial" pitchFamily="34" charset="0"/>
                <a:ea typeface="Arial" pitchFamily="34" charset="-122"/>
                <a:cs typeface="Arial" pitchFamily="34" charset="-120"/>
              </a:rPr>
              <a:t>Градиентный бустинг</a:t>
            </a:r>
            <a:endParaRPr lang="en-US" sz="1800" dirty="0"/>
          </a:p>
        </p:txBody>
      </p:sp>
      <p:sp>
        <p:nvSpPr>
          <p:cNvPr id="13" name="Text 11"/>
          <p:cNvSpPr/>
          <p:nvPr/>
        </p:nvSpPr>
        <p:spPr>
          <a:xfrm>
            <a:off x="854710" y="3307082"/>
            <a:ext cx="10833862" cy="1549400"/>
          </a:xfrm>
          <a:prstGeom prst="rect">
            <a:avLst/>
          </a:prstGeom>
          <a:noFill/>
          <a:ln/>
        </p:spPr>
        <p:txBody>
          <a:bodyPr wrap="square" lIns="0" tIns="0" rIns="0" bIns="0" rtlCol="0" anchor="t">
            <a:normAutofit/>
          </a:bodyPr>
          <a:lstStyle/>
          <a:p>
            <a:pPr algn="l" marL="212090" indent="-212090">
              <a:lnSpc>
                <a:spcPts val="3000"/>
              </a:lnSpc>
              <a:buSzPct val="100000"/>
              <a:buChar char="•"/>
            </a:pPr>
            <a:r>
              <a:rPr lang="en-US" sz="2000" dirty="0">
                <a:solidFill>
                  <a:srgbClr val="1A1A1A"/>
                </a:solidFill>
                <a:latin typeface="Arial" pitchFamily="34" charset="0"/>
                <a:ea typeface="Arial" pitchFamily="34" charset="-122"/>
                <a:cs typeface="Arial" pitchFamily="34" charset="-120"/>
              </a:rPr>
              <a:t>Метрика: accuracy, 10-fold кросс-валидация</a:t>
            </a:r>
            <a:endParaRPr lang="en-US" sz="2000" dirty="0"/>
          </a:p>
          <a:p>
            <a:pPr algn="l" marL="212090" indent="-212090">
              <a:lnSpc>
                <a:spcPts val="3000"/>
              </a:lnSpc>
              <a:buSzPct val="100000"/>
              <a:buChar char="•"/>
            </a:pPr>
            <a:r>
              <a:rPr lang="en-US" sz="2000" dirty="0">
                <a:solidFill>
                  <a:srgbClr val="1A1A1A"/>
                </a:solidFill>
                <a:latin typeface="Arial" pitchFamily="34" charset="0"/>
                <a:ea typeface="Arial" pitchFamily="34" charset="-122"/>
                <a:cs typeface="Arial" pitchFamily="34" charset="-120"/>
              </a:rPr>
              <a:t>Гиперпараметры по умолчанию, без тюнинга</a:t>
            </a:r>
            <a:endParaRPr lang="en-US" sz="2000" dirty="0"/>
          </a:p>
          <a:p>
            <a:pPr algn="l" marL="212090" indent="-212090">
              <a:lnSpc>
                <a:spcPts val="3000"/>
              </a:lnSpc>
              <a:buSzPct val="100000"/>
              <a:buChar char="•"/>
            </a:pPr>
            <a:r>
              <a:rPr lang="en-US" sz="2000" dirty="0">
                <a:solidFill>
                  <a:srgbClr val="1A1A1A"/>
                </a:solidFill>
                <a:latin typeface="Arial" pitchFamily="34" charset="0"/>
                <a:ea typeface="Arial" pitchFamily="34" charset="-122"/>
                <a:cs typeface="Arial" pitchFamily="34" charset="-120"/>
              </a:rPr>
              <a:t>random_state = 42 для воспроизводимости</a:t>
            </a:r>
            <a:endParaRPr lang="en-US" sz="2000" dirty="0"/>
          </a:p>
          <a:p>
            <a:pPr algn="l" marL="212090" indent="-212090">
              <a:lnSpc>
                <a:spcPts val="3000"/>
              </a:lnSpc>
              <a:buSzPct val="100000"/>
              <a:buChar char="•"/>
            </a:pPr>
            <a:r>
              <a:rPr lang="en-US" sz="2000" dirty="0">
                <a:solidFill>
                  <a:srgbClr val="1A1A1A"/>
                </a:solidFill>
                <a:latin typeface="Arial" pitchFamily="34" charset="0"/>
                <a:ea typeface="Arial" pitchFamily="34" charset="-122"/>
                <a:cs typeface="Arial" pitchFamily="34" charset="-120"/>
              </a:rPr>
              <a:t>Масштабирование и кодирование внутри фолдов</a:t>
            </a:r>
            <a:endParaRPr lang="en-US" sz="2000" dirty="0"/>
          </a:p>
        </p:txBody>
      </p:sp>
      <p:sp>
        <p:nvSpPr>
          <p:cNvPr id="14" name="Text 12"/>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Arial" pitchFamily="34" charset="0"/>
                <a:ea typeface="Arial" pitchFamily="34" charset="-122"/>
                <a:cs typeface="Arial" pitchFamily="34" charset="-120"/>
              </a:rPr>
              <a:t>Значимость различий в качестве классификаторов</a:t>
            </a:r>
            <a:endParaRPr lang="en-US" sz="1200" dirty="0"/>
          </a:p>
        </p:txBody>
      </p:sp>
      <p:sp>
        <p:nvSpPr>
          <p:cNvPr id="15" name="Text 13"/>
          <p:cNvSpPr/>
          <p:nvPr/>
        </p:nvSpPr>
        <p:spPr>
          <a:xfrm>
            <a:off x="10566400" y="62382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0"/>
                </a:solidFill>
                <a:latin typeface="Arial" pitchFamily="34" charset="0"/>
                <a:ea typeface="Arial" pitchFamily="34" charset="-122"/>
                <a:cs typeface="Arial"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2B5"/>
                </a:solidFill>
                <a:latin typeface="Arial" pitchFamily="34" charset="0"/>
                <a:ea typeface="Arial" pitchFamily="34" charset="-122"/>
                <a:cs typeface="Arial" pitchFamily="34" charset="-120"/>
              </a:rPr>
              <a:t>02 · ДАННЫЕ И МЕТОД</a:t>
            </a:r>
            <a:endParaRPr lang="en-US" sz="1200" dirty="0"/>
          </a:p>
        </p:txBody>
      </p:sp>
      <p:sp>
        <p:nvSpPr>
          <p:cNvPr id="3" name="Text 1"/>
          <p:cNvSpPr/>
          <p:nvPr>
            <p:ph type="title"/>
          </p:nvPr>
        </p:nvSpPr>
        <p:spPr>
          <a:xfrm>
            <a:off x="812800" y="12293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A1A1A"/>
                </a:solidFill>
                <a:latin typeface="Arial" pitchFamily="34" charset="0"/>
                <a:ea typeface="Arial" pitchFamily="34" charset="-122"/>
                <a:cs typeface="Arial" pitchFamily="34" charset="-120"/>
              </a:rPr>
              <a:t>Код: модели и кросс-валидация</a:t>
            </a:r>
            <a:endParaRPr lang="en-US" sz="3200" dirty="0"/>
          </a:p>
        </p:txBody>
      </p:sp>
      <p:sp>
        <p:nvSpPr>
          <p:cNvPr id="4" name="Shape 2"/>
          <p:cNvSpPr/>
          <p:nvPr/>
        </p:nvSpPr>
        <p:spPr>
          <a:xfrm>
            <a:off x="815975" y="1903096"/>
            <a:ext cx="6343650" cy="3773170"/>
          </a:xfrm>
          <a:prstGeom prst="roundRect">
            <a:avLst>
              <a:gd name="adj" fmla="val 1935"/>
            </a:avLst>
          </a:prstGeom>
          <a:solidFill>
            <a:srgbClr val="F1F1EC"/>
          </a:solidFill>
          <a:ln w="6350">
            <a:solidFill>
              <a:srgbClr val="DEDED6"/>
            </a:solidFill>
            <a:prstDash val="solid"/>
          </a:ln>
        </p:spPr>
      </p:sp>
      <p:sp>
        <p:nvSpPr>
          <p:cNvPr id="5" name="Text 3"/>
          <p:cNvSpPr/>
          <p:nvPr/>
        </p:nvSpPr>
        <p:spPr>
          <a:xfrm>
            <a:off x="1021080" y="2082800"/>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6639B7"/>
                </a:solidFill>
                <a:latin typeface="Courier New" pitchFamily="49" charset="0"/>
                <a:ea typeface="Courier New" pitchFamily="49" charset="-122"/>
                <a:cs typeface="Courier New" pitchFamily="49" charset="-120"/>
              </a:rPr>
              <a:t>def</a:t>
            </a:r>
            <a:r>
              <a:rPr lang="en-US" sz="1200" dirty="0">
                <a:solidFill>
                  <a:srgbClr val="1A1A1A"/>
                </a:solidFill>
                <a:latin typeface="Courier New" pitchFamily="49" charset="0"/>
                <a:ea typeface="Courier New" pitchFamily="49" charset="-122"/>
                <a:cs typeface="Courier New" pitchFamily="49" charset="-120"/>
              </a:rPr>
              <a:t> make_models(X):</a:t>
            </a:r>
            <a:endParaRPr lang="en-US" sz="1200" dirty="0"/>
          </a:p>
        </p:txBody>
      </p:sp>
      <p:sp>
        <p:nvSpPr>
          <p:cNvPr id="6" name="Text 4"/>
          <p:cNvSpPr/>
          <p:nvPr/>
        </p:nvSpPr>
        <p:spPr>
          <a:xfrm>
            <a:off x="1389380" y="2296161"/>
            <a:ext cx="573209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6639B7"/>
                </a:solidFill>
                <a:latin typeface="Courier New" pitchFamily="49" charset="0"/>
                <a:ea typeface="Courier New" pitchFamily="49" charset="-122"/>
                <a:cs typeface="Courier New" pitchFamily="49" charset="-120"/>
              </a:rPr>
              <a:t>return</a:t>
            </a:r>
            <a:r>
              <a:rPr lang="en-US" sz="1200" dirty="0">
                <a:solidFill>
                  <a:srgbClr val="1A1A1A"/>
                </a:solidFill>
                <a:latin typeface="Courier New" pitchFamily="49" charset="0"/>
                <a:ea typeface="Courier New" pitchFamily="49" charset="-122"/>
                <a:cs typeface="Courier New" pitchFamily="49" charset="-120"/>
              </a:rPr>
              <a:t> {</a:t>
            </a:r>
            <a:endParaRPr lang="en-US" sz="1200" dirty="0"/>
          </a:p>
        </p:txBody>
      </p:sp>
      <p:sp>
        <p:nvSpPr>
          <p:cNvPr id="7" name="Text 5"/>
          <p:cNvSpPr/>
          <p:nvPr/>
        </p:nvSpPr>
        <p:spPr>
          <a:xfrm>
            <a:off x="1751330" y="2509521"/>
            <a:ext cx="5359286"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16329"/>
                </a:solidFill>
                <a:latin typeface="Courier New" pitchFamily="49" charset="0"/>
                <a:ea typeface="Courier New" pitchFamily="49" charset="-122"/>
                <a:cs typeface="Courier New" pitchFamily="49" charset="-120"/>
              </a:rPr>
              <a:t>"logreg"</a:t>
            </a:r>
            <a:r>
              <a:rPr lang="en-US" sz="1200" dirty="0">
                <a:solidFill>
                  <a:srgbClr val="1A1A1A"/>
                </a:solidFill>
                <a:latin typeface="Courier New" pitchFamily="49" charset="0"/>
                <a:ea typeface="Courier New" pitchFamily="49" charset="-122"/>
                <a:cs typeface="Courier New" pitchFamily="49" charset="-120"/>
              </a:rPr>
              <a:t>: make_pipeline(</a:t>
            </a:r>
            <a:endParaRPr lang="en-US" sz="1200" dirty="0"/>
          </a:p>
        </p:txBody>
      </p:sp>
      <p:sp>
        <p:nvSpPr>
          <p:cNvPr id="8" name="Text 6"/>
          <p:cNvSpPr/>
          <p:nvPr/>
        </p:nvSpPr>
        <p:spPr>
          <a:xfrm>
            <a:off x="2119630" y="2722882"/>
            <a:ext cx="4979937"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make_preprocessor(X),</a:t>
            </a:r>
            <a:endParaRPr lang="en-US" sz="1200" dirty="0"/>
          </a:p>
        </p:txBody>
      </p:sp>
      <p:sp>
        <p:nvSpPr>
          <p:cNvPr id="9" name="Text 7"/>
          <p:cNvSpPr/>
          <p:nvPr/>
        </p:nvSpPr>
        <p:spPr>
          <a:xfrm>
            <a:off x="2119630" y="2936239"/>
            <a:ext cx="4979937"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LogisticRegression(max_iter=1000, random_state=42)),</a:t>
            </a:r>
            <a:endParaRPr lang="en-US" sz="1200" dirty="0"/>
          </a:p>
        </p:txBody>
      </p:sp>
      <p:sp>
        <p:nvSpPr>
          <p:cNvPr id="10" name="Text 8"/>
          <p:cNvSpPr/>
          <p:nvPr/>
        </p:nvSpPr>
        <p:spPr>
          <a:xfrm>
            <a:off x="1751330" y="3149600"/>
            <a:ext cx="5359286"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16329"/>
                </a:solidFill>
                <a:latin typeface="Courier New" pitchFamily="49" charset="0"/>
                <a:ea typeface="Courier New" pitchFamily="49" charset="-122"/>
                <a:cs typeface="Courier New" pitchFamily="49" charset="-120"/>
              </a:rPr>
              <a:t>"rf"</a:t>
            </a:r>
            <a:r>
              <a:rPr lang="en-US" sz="1200" dirty="0">
                <a:solidFill>
                  <a:srgbClr val="1A1A1A"/>
                </a:solidFill>
                <a:latin typeface="Courier New" pitchFamily="49" charset="0"/>
                <a:ea typeface="Courier New" pitchFamily="49" charset="-122"/>
                <a:cs typeface="Courier New" pitchFamily="49" charset="-120"/>
              </a:rPr>
              <a:t>: make_pipeline(</a:t>
            </a:r>
            <a:endParaRPr lang="en-US" sz="1200" dirty="0"/>
          </a:p>
        </p:txBody>
      </p:sp>
      <p:sp>
        <p:nvSpPr>
          <p:cNvPr id="11" name="Text 9"/>
          <p:cNvSpPr/>
          <p:nvPr/>
        </p:nvSpPr>
        <p:spPr>
          <a:xfrm>
            <a:off x="2119630" y="3362961"/>
            <a:ext cx="4979937"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make_preprocessor(X),</a:t>
            </a:r>
            <a:endParaRPr lang="en-US" sz="1200" dirty="0"/>
          </a:p>
        </p:txBody>
      </p:sp>
      <p:sp>
        <p:nvSpPr>
          <p:cNvPr id="12" name="Text 10"/>
          <p:cNvSpPr/>
          <p:nvPr/>
        </p:nvSpPr>
        <p:spPr>
          <a:xfrm>
            <a:off x="2119630" y="3576321"/>
            <a:ext cx="4979937"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RandomForestClassifier(random_state=42)),</a:t>
            </a:r>
            <a:endParaRPr lang="en-US" sz="1200" dirty="0"/>
          </a:p>
        </p:txBody>
      </p:sp>
      <p:sp>
        <p:nvSpPr>
          <p:cNvPr id="13" name="Text 11"/>
          <p:cNvSpPr/>
          <p:nvPr/>
        </p:nvSpPr>
        <p:spPr>
          <a:xfrm>
            <a:off x="1751330" y="3789682"/>
            <a:ext cx="5359286"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16329"/>
                </a:solidFill>
                <a:latin typeface="Courier New" pitchFamily="49" charset="0"/>
                <a:ea typeface="Courier New" pitchFamily="49" charset="-122"/>
                <a:cs typeface="Courier New" pitchFamily="49" charset="-120"/>
              </a:rPr>
              <a:t>"hgb"</a:t>
            </a:r>
            <a:r>
              <a:rPr lang="en-US" sz="1200" dirty="0">
                <a:solidFill>
                  <a:srgbClr val="1A1A1A"/>
                </a:solidFill>
                <a:latin typeface="Courier New" pitchFamily="49" charset="0"/>
                <a:ea typeface="Courier New" pitchFamily="49" charset="-122"/>
                <a:cs typeface="Courier New" pitchFamily="49" charset="-120"/>
              </a:rPr>
              <a:t>: make_pipeline(</a:t>
            </a:r>
            <a:endParaRPr lang="en-US" sz="1200" dirty="0"/>
          </a:p>
        </p:txBody>
      </p:sp>
      <p:sp>
        <p:nvSpPr>
          <p:cNvPr id="14" name="Text 12"/>
          <p:cNvSpPr/>
          <p:nvPr/>
        </p:nvSpPr>
        <p:spPr>
          <a:xfrm>
            <a:off x="2119630" y="4003039"/>
            <a:ext cx="4979937"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make_preprocessor(X),</a:t>
            </a:r>
            <a:endParaRPr lang="en-US" sz="1200" dirty="0"/>
          </a:p>
        </p:txBody>
      </p:sp>
      <p:sp>
        <p:nvSpPr>
          <p:cNvPr id="15" name="Text 13"/>
          <p:cNvSpPr/>
          <p:nvPr/>
        </p:nvSpPr>
        <p:spPr>
          <a:xfrm>
            <a:off x="2119630" y="4216400"/>
            <a:ext cx="4979937"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HistGradientBoostingClassifier(random_state=42)),</a:t>
            </a:r>
            <a:endParaRPr lang="en-US" sz="1200" dirty="0"/>
          </a:p>
        </p:txBody>
      </p:sp>
      <p:sp>
        <p:nvSpPr>
          <p:cNvPr id="16" name="Text 14"/>
          <p:cNvSpPr/>
          <p:nvPr/>
        </p:nvSpPr>
        <p:spPr>
          <a:xfrm>
            <a:off x="1389380" y="4429764"/>
            <a:ext cx="573209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a:t>
            </a:r>
            <a:endParaRPr lang="en-US" sz="1200" dirty="0"/>
          </a:p>
        </p:txBody>
      </p:sp>
      <p:sp>
        <p:nvSpPr>
          <p:cNvPr id="17" name="Text 15"/>
          <p:cNvSpPr/>
          <p:nvPr/>
        </p:nvSpPr>
        <p:spPr>
          <a:xfrm>
            <a:off x="1021080" y="4643121"/>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6639B7"/>
                </a:solidFill>
                <a:latin typeface="Courier New" pitchFamily="49" charset="0"/>
                <a:ea typeface="Courier New" pitchFamily="49" charset="-122"/>
                <a:cs typeface="Courier New" pitchFamily="49" charset="-120"/>
              </a:rPr>
              <a:t>def</a:t>
            </a:r>
            <a:r>
              <a:rPr lang="en-US" sz="1200" dirty="0">
                <a:solidFill>
                  <a:srgbClr val="1A1A1A"/>
                </a:solidFill>
                <a:latin typeface="Courier New" pitchFamily="49" charset="0"/>
                <a:ea typeface="Courier New" pitchFamily="49" charset="-122"/>
                <a:cs typeface="Courier New" pitchFamily="49" charset="-120"/>
              </a:rPr>
              <a:t> cv_scores(ds_name, model_name):</a:t>
            </a:r>
            <a:endParaRPr lang="en-US" sz="1200" dirty="0"/>
          </a:p>
        </p:txBody>
      </p:sp>
      <p:sp>
        <p:nvSpPr>
          <p:cNvPr id="18" name="Text 16"/>
          <p:cNvSpPr/>
          <p:nvPr/>
        </p:nvSpPr>
        <p:spPr>
          <a:xfrm>
            <a:off x="1389380" y="4856479"/>
            <a:ext cx="573209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X, y = datasets[ds_name]</a:t>
            </a:r>
            <a:endParaRPr lang="en-US" sz="1200" dirty="0"/>
          </a:p>
        </p:txBody>
      </p:sp>
      <p:sp>
        <p:nvSpPr>
          <p:cNvPr id="19" name="Text 17"/>
          <p:cNvSpPr/>
          <p:nvPr/>
        </p:nvSpPr>
        <p:spPr>
          <a:xfrm>
            <a:off x="1389380" y="5069842"/>
            <a:ext cx="573209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model = make_models(X)[model_name]</a:t>
            </a:r>
            <a:endParaRPr lang="en-US" sz="1200" dirty="0"/>
          </a:p>
        </p:txBody>
      </p:sp>
      <p:sp>
        <p:nvSpPr>
          <p:cNvPr id="20" name="Text 18"/>
          <p:cNvSpPr/>
          <p:nvPr/>
        </p:nvSpPr>
        <p:spPr>
          <a:xfrm>
            <a:off x="1389380" y="5283200"/>
            <a:ext cx="573209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6639B7"/>
                </a:solidFill>
                <a:latin typeface="Courier New" pitchFamily="49" charset="0"/>
                <a:ea typeface="Courier New" pitchFamily="49" charset="-122"/>
                <a:cs typeface="Courier New" pitchFamily="49" charset="-120"/>
              </a:rPr>
              <a:t>return</a:t>
            </a:r>
            <a:r>
              <a:rPr lang="en-US" sz="1200" dirty="0">
                <a:solidFill>
                  <a:srgbClr val="1A1A1A"/>
                </a:solidFill>
                <a:latin typeface="Courier New" pitchFamily="49" charset="0"/>
                <a:ea typeface="Courier New" pitchFamily="49" charset="-122"/>
                <a:cs typeface="Courier New" pitchFamily="49" charset="-120"/>
              </a:rPr>
              <a:t> cross_val_score(model, X, y, cv=10)</a:t>
            </a:r>
            <a:endParaRPr lang="en-US" sz="1200" dirty="0"/>
          </a:p>
        </p:txBody>
      </p:sp>
      <p:sp>
        <p:nvSpPr>
          <p:cNvPr id="21" name="Text 19"/>
          <p:cNvSpPr/>
          <p:nvPr/>
        </p:nvSpPr>
        <p:spPr>
          <a:xfrm>
            <a:off x="7366000" y="1899921"/>
            <a:ext cx="4133596"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A1A"/>
                </a:solidFill>
                <a:latin typeface="Arial" pitchFamily="34" charset="0"/>
                <a:ea typeface="Arial" pitchFamily="34" charset="-122"/>
                <a:cs typeface="Arial" pitchFamily="34" charset="-120"/>
              </a:rPr>
              <a:t>make_preprocessor: пропуски заполняются медианой, числа стандартизуются, категории кодируются в 0/1. Всё это внутри конвейера, поэтому учится заново в каждом фолде.</a:t>
            </a:r>
            <a:endParaRPr lang="en-US" sz="1400" dirty="0"/>
          </a:p>
        </p:txBody>
      </p:sp>
      <p:sp>
        <p:nvSpPr>
          <p:cNvPr id="22" name="Text 20"/>
          <p:cNvSpPr/>
          <p:nvPr/>
        </p:nvSpPr>
        <p:spPr>
          <a:xfrm>
            <a:off x="7366000" y="3022600"/>
            <a:ext cx="413359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Arial" pitchFamily="34" charset="0"/>
                <a:ea typeface="Arial" pitchFamily="34" charset="-122"/>
                <a:cs typeface="Arial" pitchFamily="34" charset="-120"/>
              </a:rPr>
              <a:t>cv_scores для RF на digits: 10 значений accuracy</a:t>
            </a:r>
            <a:endParaRPr lang="en-US" sz="1200" dirty="0"/>
          </a:p>
        </p:txBody>
      </p:sp>
      <p:sp>
        <p:nvSpPr>
          <p:cNvPr id="23" name="Shape 21"/>
          <p:cNvSpPr/>
          <p:nvPr/>
        </p:nvSpPr>
        <p:spPr>
          <a:xfrm>
            <a:off x="7366000" y="3362961"/>
            <a:ext cx="4013200" cy="680720"/>
          </a:xfrm>
          <a:prstGeom prst="roundRect">
            <a:avLst>
              <a:gd name="adj" fmla="val 11194"/>
            </a:avLst>
          </a:prstGeom>
          <a:solidFill>
            <a:srgbClr val="15202B"/>
          </a:solidFill>
          <a:ln/>
        </p:spPr>
      </p:sp>
      <p:sp>
        <p:nvSpPr>
          <p:cNvPr id="24" name="Text 22"/>
          <p:cNvSpPr/>
          <p:nvPr/>
        </p:nvSpPr>
        <p:spPr>
          <a:xfrm>
            <a:off x="7518400" y="3489961"/>
            <a:ext cx="3819652"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DF3"/>
                </a:solidFill>
                <a:latin typeface="Courier New" pitchFamily="49" charset="0"/>
                <a:ea typeface="Courier New" pitchFamily="49" charset="-122"/>
                <a:cs typeface="Courier New" pitchFamily="49" charset="-120"/>
              </a:rPr>
              <a:t>[0.900 0.972 0.950 0.939 0.956</a:t>
            </a:r>
            <a:endParaRPr lang="en-US" sz="1200" dirty="0"/>
          </a:p>
        </p:txBody>
      </p:sp>
      <p:sp>
        <p:nvSpPr>
          <p:cNvPr id="25" name="Text 23"/>
          <p:cNvSpPr/>
          <p:nvPr/>
        </p:nvSpPr>
        <p:spPr>
          <a:xfrm>
            <a:off x="7518400" y="3703321"/>
            <a:ext cx="3819652"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DF3"/>
                </a:solidFill>
                <a:latin typeface="Courier New" pitchFamily="49" charset="0"/>
                <a:ea typeface="Courier New" pitchFamily="49" charset="-122"/>
                <a:cs typeface="Courier New" pitchFamily="49" charset="-120"/>
              </a:rPr>
              <a:t>0.978 0.972 0.972 0.933 0.927]</a:t>
            </a:r>
            <a:endParaRPr lang="en-US" sz="1200" dirty="0"/>
          </a:p>
        </p:txBody>
      </p:sp>
      <p:sp>
        <p:nvSpPr>
          <p:cNvPr id="26" name="Text 24"/>
          <p:cNvSpPr/>
          <p:nvPr/>
        </p:nvSpPr>
        <p:spPr>
          <a:xfrm>
            <a:off x="7366000" y="4170679"/>
            <a:ext cx="4133596"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F6670"/>
                </a:solidFill>
                <a:latin typeface="Arial" pitchFamily="34" charset="0"/>
                <a:ea typeface="Arial" pitchFamily="34" charset="-122"/>
                <a:cs typeface="Arial" pitchFamily="34" charset="-120"/>
              </a:rPr>
              <a:t>Цикл по всем парам «датасет × модель» выполняется параллельно по ядрам процессора.</a:t>
            </a:r>
            <a:endParaRPr lang="en-US" sz="1400" dirty="0"/>
          </a:p>
        </p:txBody>
      </p:sp>
      <p:sp>
        <p:nvSpPr>
          <p:cNvPr id="27" name="Text 25"/>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Arial" pitchFamily="34" charset="0"/>
                <a:ea typeface="Arial" pitchFamily="34" charset="-122"/>
                <a:cs typeface="Arial" pitchFamily="34" charset="-120"/>
              </a:rPr>
              <a:t>Значимость различий в качестве классификаторов</a:t>
            </a:r>
            <a:endParaRPr lang="en-US" sz="1200" dirty="0"/>
          </a:p>
        </p:txBody>
      </p:sp>
      <p:sp>
        <p:nvSpPr>
          <p:cNvPr id="28" name="Text 26"/>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0"/>
                </a:solidFill>
                <a:latin typeface="Arial" pitchFamily="34" charset="0"/>
                <a:ea typeface="Arial" pitchFamily="34" charset="-122"/>
                <a:cs typeface="Arial"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2B5"/>
                </a:solidFill>
                <a:latin typeface="Arial" pitchFamily="34" charset="0"/>
                <a:ea typeface="Arial" pitchFamily="34" charset="-122"/>
                <a:cs typeface="Arial" pitchFamily="34" charset="-120"/>
              </a:rPr>
              <a:t>02 · ДАННЫЕ И МЕТОД</a:t>
            </a:r>
            <a:endParaRPr lang="en-US" sz="1200" dirty="0"/>
          </a:p>
        </p:txBody>
      </p:sp>
      <p:sp>
        <p:nvSpPr>
          <p:cNvPr id="3" name="Text 1"/>
          <p:cNvSpPr/>
          <p:nvPr>
            <p:ph type="title"/>
          </p:nvPr>
        </p:nvSpPr>
        <p:spPr>
          <a:xfrm>
            <a:off x="812800" y="1229364"/>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A1A1A"/>
                </a:solidFill>
                <a:latin typeface="Arial" pitchFamily="34" charset="0"/>
                <a:ea typeface="Arial" pitchFamily="34" charset="-122"/>
                <a:cs typeface="Arial" pitchFamily="34" charset="-120"/>
              </a:rPr>
              <a:t>Базовая точность моделей</a:t>
            </a:r>
            <a:endParaRPr lang="en-US" sz="3200" dirty="0"/>
          </a:p>
        </p:txBody>
      </p:sp>
      <p:pic>
        <p:nvPicPr>
          <p:cNvPr id="4" name="Image 0" descr="Тепловая карта средней accuracy: 15 датасетов по строкам, модели logreg, rf, hgb по столбцам">    </p:cNvPr>
          <p:cNvPicPr>
            <a:picLocks noChangeAspect="1"/>
          </p:cNvPicPr>
          <p:nvPr/>
        </p:nvPicPr>
        <p:blipFill>
          <a:blip r:embed="rId1"/>
          <a:srcRect l="0" r="0" t="-52" b="-52"/>
          <a:stretch/>
        </p:blipFill>
        <p:spPr>
          <a:xfrm>
            <a:off x="812800" y="1899921"/>
            <a:ext cx="3810000" cy="3937000"/>
          </a:xfrm>
          <a:prstGeom prst="rect">
            <a:avLst/>
          </a:prstGeom>
        </p:spPr>
      </p:pic>
      <p:sp>
        <p:nvSpPr>
          <p:cNvPr id="5" name="Text 2"/>
          <p:cNvSpPr/>
          <p:nvPr/>
        </p:nvSpPr>
        <p:spPr>
          <a:xfrm>
            <a:off x="4978400" y="2915921"/>
            <a:ext cx="6592824" cy="6654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A1A1A"/>
                </a:solidFill>
                <a:latin typeface="Arial" pitchFamily="34" charset="0"/>
                <a:ea typeface="Arial" pitchFamily="34" charset="-122"/>
                <a:cs typeface="Arial" pitchFamily="34" charset="-120"/>
              </a:rPr>
              <a:t>Лидер меняется от датасета к датасету: LogReg лучшая на 5, RF на 5, HGB на 4 (на wine ничья).</a:t>
            </a:r>
            <a:endParaRPr lang="en-US" sz="1800" dirty="0"/>
          </a:p>
        </p:txBody>
      </p:sp>
      <p:sp>
        <p:nvSpPr>
          <p:cNvPr id="6" name="Text 3"/>
          <p:cNvSpPr/>
          <p:nvPr/>
        </p:nvSpPr>
        <p:spPr>
          <a:xfrm>
            <a:off x="4978400" y="3708400"/>
            <a:ext cx="7213600"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A1A1A"/>
                </a:solidFill>
                <a:latin typeface="Arial" pitchFamily="34" charset="0"/>
                <a:ea typeface="Arial" pitchFamily="34" charset="-122"/>
                <a:cs typeface="Arial" pitchFamily="34" charset="-120"/>
              </a:rPr>
              <a:t>Разрывы разные: от долей процента до 16 п. п. (phoneme).</a:t>
            </a:r>
            <a:endParaRPr lang="en-US" sz="1800" dirty="0"/>
          </a:p>
        </p:txBody>
      </p:sp>
      <p:sp>
        <p:nvSpPr>
          <p:cNvPr id="7" name="Text 4"/>
          <p:cNvSpPr/>
          <p:nvPr/>
        </p:nvSpPr>
        <p:spPr>
          <a:xfrm>
            <a:off x="4978400" y="4180842"/>
            <a:ext cx="6592824" cy="6654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5F6670"/>
                </a:solidFill>
                <a:latin typeface="Arial" pitchFamily="34" charset="0"/>
                <a:ea typeface="Arial" pitchFamily="34" charset="-122"/>
                <a:cs typeface="Arial" pitchFamily="34" charset="-120"/>
              </a:rPr>
              <a:t>Различить случайный разрыв и настоящий как раз и помогают тесты.</a:t>
            </a:r>
            <a:endParaRPr lang="en-US" sz="1800" dirty="0"/>
          </a:p>
        </p:txBody>
      </p:sp>
      <p:sp>
        <p:nvSpPr>
          <p:cNvPr id="8" name="Text 5"/>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Arial" pitchFamily="34" charset="0"/>
                <a:ea typeface="Arial" pitchFamily="34" charset="-122"/>
                <a:cs typeface="Arial" pitchFamily="34" charset="-120"/>
              </a:rPr>
              <a:t>Значимость различий в качестве классификаторов</a:t>
            </a:r>
            <a:endParaRPr lang="en-US" sz="1200" dirty="0"/>
          </a:p>
        </p:txBody>
      </p:sp>
      <p:sp>
        <p:nvSpPr>
          <p:cNvPr id="9" name="Text 6"/>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0"/>
                </a:solidFill>
                <a:latin typeface="Arial" pitchFamily="34" charset="0"/>
                <a:ea typeface="Arial" pitchFamily="34" charset="-122"/>
                <a:cs typeface="Arial"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2B5"/>
                </a:solidFill>
                <a:latin typeface="Arial" pitchFamily="34" charset="0"/>
                <a:ea typeface="Arial" pitchFamily="34" charset="-122"/>
                <a:cs typeface="Arial" pitchFamily="34" charset="-120"/>
              </a:rPr>
              <a:t>03 · ГЛАВНЫЙ РЕЗУЛЬТАТ</a:t>
            </a:r>
            <a:endParaRPr lang="en-US" sz="1200" dirty="0"/>
          </a:p>
        </p:txBody>
      </p:sp>
      <p:sp>
        <p:nvSpPr>
          <p:cNvPr id="3" name="Text 1"/>
          <p:cNvSpPr/>
          <p:nvPr>
            <p:ph type="title"/>
          </p:nvPr>
        </p:nvSpPr>
        <p:spPr>
          <a:xfrm>
            <a:off x="812800" y="1229364"/>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A1A1A"/>
                </a:solidFill>
                <a:latin typeface="Arial" pitchFamily="34" charset="0"/>
                <a:ea typeface="Arial" pitchFamily="34" charset="-122"/>
                <a:cs typeface="Arial" pitchFamily="34" charset="-120"/>
              </a:rPr>
              <a:t>Четыре способа проверить одну гипотезу</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910081"/>
          <a:ext cx="10556240" cy="2913380"/>
        </p:xfrm>
        <a:graphic>
          <a:graphicData uri="http://schemas.openxmlformats.org/drawingml/2006/table">
            <a:tbl>
              <a:tblPr/>
              <a:tblGrid>
                <a:gridCol w="2955747"/>
                <a:gridCol w="3800246"/>
                <a:gridCol w="3800246"/>
              </a:tblGrid>
              <a:tr h="383540">
                <a:tc>
                  <a:txBody>
                    <a:bodyPr/>
                    <a:lstStyle/>
                    <a:p>
                      <a:pPr indent="0" marL="0">
                        <a:lnSpc>
                          <a:spcPts val="1960"/>
                        </a:lnSpc>
                        <a:buNone/>
                      </a:pPr>
                      <a:r>
                        <a:rPr lang="en-US" sz="1400" b="1" dirty="0">
                          <a:solidFill>
                            <a:srgbClr val="1A1A1A"/>
                          </a:solidFill>
                          <a:latin typeface="Arial" pitchFamily="34" charset="0"/>
                          <a:ea typeface="Arial" pitchFamily="34" charset="-122"/>
                          <a:cs typeface="Arial" pitchFamily="34" charset="-120"/>
                        </a:rPr>
                        <a:t>Тест</a:t>
                      </a:r>
                      <a:endParaRPr lang="en-US" sz="1400" dirty="0">
                        <a:latin typeface="Arial" charset="0"/>
                        <a:ea typeface="Arial" charset="0"/>
                        <a:cs typeface="Arial" charset="0"/>
                      </a:endParaRPr>
                    </a:p>
                  </a:txBody>
                  <a:tcPr marL="62230" marR="62230" marT="62230" marB="62230" anchor="t">
                    <a:lnL w="12700" cap="flat" cmpd="sng" algn="ctr">
                      <a:solidFill>
                        <a:srgbClr val="C8C8C6"/>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indent="0" marL="0">
                        <a:lnSpc>
                          <a:spcPts val="1960"/>
                        </a:lnSpc>
                        <a:buNone/>
                      </a:pPr>
                      <a:r>
                        <a:rPr lang="en-US" sz="1400" b="1" dirty="0">
                          <a:solidFill>
                            <a:srgbClr val="1A1A1A"/>
                          </a:solidFill>
                          <a:latin typeface="Arial" pitchFamily="34" charset="0"/>
                          <a:ea typeface="Arial" pitchFamily="34" charset="-122"/>
                          <a:cs typeface="Arial" pitchFamily="34" charset="-120"/>
                        </a:rPr>
                        <a:t>Как устроен</a:t>
                      </a:r>
                      <a:endParaRPr lang="en-US" sz="1400" dirty="0">
                        <a:latin typeface="Arial" charset="0"/>
                        <a:ea typeface="Arial" charset="0"/>
                        <a:cs typeface="Arial" charset="0"/>
                      </a:endParaRPr>
                    </a:p>
                  </a:txBody>
                  <a:tcPr marL="62230" marR="62230" marT="62230" marB="62230"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indent="0" marL="0">
                        <a:lnSpc>
                          <a:spcPts val="1960"/>
                        </a:lnSpc>
                        <a:buNone/>
                      </a:pPr>
                      <a:r>
                        <a:rPr lang="en-US" sz="1400" b="1" dirty="0">
                          <a:solidFill>
                            <a:srgbClr val="1A1A1A"/>
                          </a:solidFill>
                          <a:latin typeface="Arial" pitchFamily="34" charset="0"/>
                          <a:ea typeface="Arial" pitchFamily="34" charset="-122"/>
                          <a:cs typeface="Arial" pitchFamily="34" charset="-120"/>
                        </a:rPr>
                        <a:t>Особенность</a:t>
                      </a:r>
                      <a:endParaRPr lang="en-US" sz="1400" dirty="0">
                        <a:latin typeface="Arial" charset="0"/>
                        <a:ea typeface="Arial" charset="0"/>
                        <a:cs typeface="Arial" charset="0"/>
                      </a:endParaRPr>
                    </a:p>
                  </a:txBody>
                  <a:tcPr marL="62230" marR="62230" marT="62230" marB="62230"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r>
              <a:tr h="383540">
                <a:tc>
                  <a:txBody>
                    <a:bodyPr/>
                    <a:lstStyle/>
                    <a:p>
                      <a:pPr indent="0" marL="0">
                        <a:lnSpc>
                          <a:spcPts val="1960"/>
                        </a:lnSpc>
                        <a:buNone/>
                      </a:pPr>
                      <a:r>
                        <a:rPr lang="en-US" sz="1400" dirty="0">
                          <a:solidFill>
                            <a:srgbClr val="1A1A1A"/>
                          </a:solidFill>
                          <a:latin typeface="Arial" pitchFamily="34" charset="0"/>
                          <a:ea typeface="Arial" pitchFamily="34" charset="-122"/>
                          <a:cs typeface="Arial" pitchFamily="34" charset="-120"/>
                        </a:rPr>
                        <a:t>Наивный t-test</a:t>
                      </a:r>
                      <a:endParaRPr lang="en-US" sz="1400" dirty="0">
                        <a:latin typeface="Arial" charset="0"/>
                        <a:ea typeface="Arial" charset="0"/>
                        <a:cs typeface="Arial" charset="0"/>
                      </a:endParaRPr>
                    </a:p>
                  </a:txBody>
                  <a:tcPr marL="62230" marR="62230" marT="62230" marB="6223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960"/>
                        </a:lnSpc>
                        <a:buNone/>
                      </a:pPr>
                      <a:r>
                        <a:rPr lang="en-US" sz="1400" dirty="0">
                          <a:solidFill>
                            <a:srgbClr val="1A1A1A"/>
                          </a:solidFill>
                          <a:latin typeface="Arial" pitchFamily="34" charset="0"/>
                          <a:ea typeface="Arial" pitchFamily="34" charset="-122"/>
                          <a:cs typeface="Arial" pitchFamily="34" charset="-120"/>
                        </a:rPr>
                        <a:t>t на 10 разностях точности по фолдам</a:t>
                      </a:r>
                      <a:endParaRPr lang="en-US" sz="1400" dirty="0">
                        <a:latin typeface="Arial" charset="0"/>
                        <a:ea typeface="Arial" charset="0"/>
                        <a:cs typeface="Arial" charset="0"/>
                      </a:endParaRPr>
                    </a:p>
                  </a:txBody>
                  <a:tcPr marL="62230" marR="62230" marT="62230" marB="6223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960"/>
                        </a:lnSpc>
                        <a:buNone/>
                      </a:pPr>
                      <a:r>
                        <a:rPr lang="en-US" sz="1400" dirty="0">
                          <a:solidFill>
                            <a:srgbClr val="1A1A1A"/>
                          </a:solidFill>
                          <a:latin typeface="Arial" pitchFamily="34" charset="0"/>
                          <a:ea typeface="Arial" pitchFamily="34" charset="-122"/>
                          <a:cs typeface="Arial" pitchFamily="34" charset="-120"/>
                        </a:rPr>
                        <a:t>Считает фолды независимыми</a:t>
                      </a:r>
                      <a:endParaRPr lang="en-US" sz="1400" dirty="0">
                        <a:latin typeface="Arial" charset="0"/>
                        <a:ea typeface="Arial" charset="0"/>
                        <a:cs typeface="Arial" charset="0"/>
                      </a:endParaRPr>
                    </a:p>
                  </a:txBody>
                  <a:tcPr marL="62230" marR="62230" marT="62230" marB="6223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632460">
                <a:tc>
                  <a:txBody>
                    <a:bodyPr/>
                    <a:lstStyle/>
                    <a:p>
                      <a:pPr indent="0" marL="0">
                        <a:lnSpc>
                          <a:spcPts val="1960"/>
                        </a:lnSpc>
                        <a:buNone/>
                      </a:pPr>
                      <a:r>
                        <a:rPr lang="en-US" sz="1400" dirty="0">
                          <a:solidFill>
                            <a:srgbClr val="1A1A1A"/>
                          </a:solidFill>
                          <a:latin typeface="Arial" pitchFamily="34" charset="0"/>
                          <a:ea typeface="Arial" pitchFamily="34" charset="-122"/>
                          <a:cs typeface="Arial" pitchFamily="34" charset="-120"/>
                        </a:rPr>
                        <a:t>Corrected t-test (Nadeau и Bengio)</a:t>
                      </a:r>
                      <a:endParaRPr lang="en-US" sz="1400" dirty="0">
                        <a:latin typeface="Arial" charset="0"/>
                        <a:ea typeface="Arial" charset="0"/>
                        <a:cs typeface="Arial" charset="0"/>
                      </a:endParaRPr>
                    </a:p>
                  </a:txBody>
                  <a:tcPr marL="62230" marR="62230" marT="62230" marB="6223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960"/>
                        </a:lnSpc>
                        <a:buNone/>
                      </a:pPr>
                      <a:r>
                        <a:rPr lang="en-US" sz="1400" dirty="0">
                          <a:solidFill>
                            <a:srgbClr val="1A1A1A"/>
                          </a:solidFill>
                          <a:latin typeface="Arial" pitchFamily="34" charset="0"/>
                          <a:ea typeface="Arial" pitchFamily="34" charset="-122"/>
                          <a:cs typeface="Arial" pitchFamily="34" charset="-120"/>
                        </a:rPr>
                        <a:t>Дисперсия умножается на 1/k + n_test/n_train</a:t>
                      </a:r>
                      <a:endParaRPr lang="en-US" sz="1400" dirty="0">
                        <a:latin typeface="Arial" charset="0"/>
                        <a:ea typeface="Arial" charset="0"/>
                        <a:cs typeface="Arial" charset="0"/>
                      </a:endParaRPr>
                    </a:p>
                  </a:txBody>
                  <a:tcPr marL="62230" marR="62230" marT="62230" marB="6223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960"/>
                        </a:lnSpc>
                        <a:buNone/>
                      </a:pPr>
                      <a:r>
                        <a:rPr lang="en-US" sz="1400" dirty="0">
                          <a:solidFill>
                            <a:srgbClr val="1A1A1A"/>
                          </a:solidFill>
                          <a:latin typeface="Arial" pitchFamily="34" charset="0"/>
                          <a:ea typeface="Arial" pitchFamily="34" charset="-122"/>
                          <a:cs typeface="Arial" pitchFamily="34" charset="-120"/>
                        </a:rPr>
                        <a:t>Учитывает пересечение обучающих выборок</a:t>
                      </a:r>
                      <a:endParaRPr lang="en-US" sz="1400" dirty="0">
                        <a:latin typeface="Arial" charset="0"/>
                        <a:ea typeface="Arial" charset="0"/>
                        <a:cs typeface="Arial" charset="0"/>
                      </a:endParaRPr>
                    </a:p>
                  </a:txBody>
                  <a:tcPr marL="62230" marR="62230" marT="62230" marB="6223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632460">
                <a:tc>
                  <a:txBody>
                    <a:bodyPr/>
                    <a:lstStyle/>
                    <a:p>
                      <a:pPr indent="0" marL="0">
                        <a:lnSpc>
                          <a:spcPts val="1960"/>
                        </a:lnSpc>
                        <a:buNone/>
                      </a:pPr>
                      <a:r>
                        <a:rPr lang="en-US" sz="1400" dirty="0">
                          <a:solidFill>
                            <a:srgbClr val="1A1A1A"/>
                          </a:solidFill>
                          <a:latin typeface="Arial" pitchFamily="34" charset="0"/>
                          <a:ea typeface="Arial" pitchFamily="34" charset="-122"/>
                          <a:cs typeface="Arial" pitchFamily="34" charset="-120"/>
                        </a:rPr>
                        <a:t>5×2cv (Dietterich)</a:t>
                      </a:r>
                      <a:endParaRPr lang="en-US" sz="1400" dirty="0">
                        <a:latin typeface="Arial" charset="0"/>
                        <a:ea typeface="Arial" charset="0"/>
                        <a:cs typeface="Arial" charset="0"/>
                      </a:endParaRPr>
                    </a:p>
                  </a:txBody>
                  <a:tcPr marL="62230" marR="62230" marT="62230" marB="6223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960"/>
                        </a:lnSpc>
                        <a:buNone/>
                      </a:pPr>
                      <a:r>
                        <a:rPr lang="en-US" sz="1400" dirty="0">
                          <a:solidFill>
                            <a:srgbClr val="1A1A1A"/>
                          </a:solidFill>
                          <a:latin typeface="Arial" pitchFamily="34" charset="0"/>
                          <a:ea typeface="Arial" pitchFamily="34" charset="-122"/>
                          <a:cs typeface="Arial" pitchFamily="34" charset="-120"/>
                        </a:rPr>
                        <a:t>5 раз делим пополам: одна половина обучение, другая проверка</a:t>
                      </a:r>
                      <a:endParaRPr lang="en-US" sz="1400" dirty="0">
                        <a:latin typeface="Arial" charset="0"/>
                        <a:ea typeface="Arial" charset="0"/>
                        <a:cs typeface="Arial" charset="0"/>
                      </a:endParaRPr>
                    </a:p>
                  </a:txBody>
                  <a:tcPr marL="62230" marR="62230" marT="62230" marB="6223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960"/>
                        </a:lnSpc>
                        <a:buNone/>
                      </a:pPr>
                      <a:r>
                        <a:rPr lang="en-US" sz="1400" dirty="0">
                          <a:solidFill>
                            <a:srgbClr val="1A1A1A"/>
                          </a:solidFill>
                          <a:latin typeface="Arial" pitchFamily="34" charset="0"/>
                          <a:ea typeface="Arial" pitchFamily="34" charset="-122"/>
                          <a:cs typeface="Arial" pitchFamily="34" charset="-120"/>
                        </a:rPr>
                        <a:t>Обучающая и тестовая части не пересекаются</a:t>
                      </a:r>
                      <a:endParaRPr lang="en-US" sz="1400" dirty="0">
                        <a:latin typeface="Arial" charset="0"/>
                        <a:ea typeface="Arial" charset="0"/>
                        <a:cs typeface="Arial" charset="0"/>
                      </a:endParaRPr>
                    </a:p>
                  </a:txBody>
                  <a:tcPr marL="62230" marR="62230" marT="62230" marB="6223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881380">
                <a:tc>
                  <a:txBody>
                    <a:bodyPr/>
                    <a:lstStyle/>
                    <a:p>
                      <a:pPr indent="0" marL="0">
                        <a:lnSpc>
                          <a:spcPts val="1960"/>
                        </a:lnSpc>
                        <a:buNone/>
                      </a:pPr>
                      <a:r>
                        <a:rPr lang="en-US" sz="1400" dirty="0">
                          <a:solidFill>
                            <a:srgbClr val="1A1A1A"/>
                          </a:solidFill>
                          <a:latin typeface="Arial" pitchFamily="34" charset="0"/>
                          <a:ea typeface="Arial" pitchFamily="34" charset="-122"/>
                          <a:cs typeface="Arial" pitchFamily="34" charset="-120"/>
                        </a:rPr>
                        <a:t>McNemar</a:t>
                      </a:r>
                      <a:endParaRPr lang="en-US" sz="1400" dirty="0">
                        <a:latin typeface="Arial" charset="0"/>
                        <a:ea typeface="Arial" charset="0"/>
                        <a:cs typeface="Arial" charset="0"/>
                      </a:endParaRPr>
                    </a:p>
                  </a:txBody>
                  <a:tcPr marL="62230" marR="62230" marT="62230" marB="6223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960"/>
                        </a:lnSpc>
                        <a:buNone/>
                      </a:pPr>
                      <a:r>
                        <a:rPr lang="en-US" sz="1400" dirty="0">
                          <a:solidFill>
                            <a:srgbClr val="1A1A1A"/>
                          </a:solidFill>
                          <a:latin typeface="Arial" pitchFamily="34" charset="0"/>
                          <a:ea typeface="Arial" pitchFamily="34" charset="-122"/>
                          <a:cs typeface="Arial" pitchFamily="34" charset="-120"/>
                        </a:rPr>
                        <a:t>Одно разбиение, берём только объекты, где модели расходятся (точный тест, если их меньше 25)</a:t>
                      </a:r>
                      <a:endParaRPr lang="en-US" sz="1400" dirty="0">
                        <a:latin typeface="Arial" charset="0"/>
                        <a:ea typeface="Arial" charset="0"/>
                        <a:cs typeface="Arial" charset="0"/>
                      </a:endParaRPr>
                    </a:p>
                  </a:txBody>
                  <a:tcPr marL="62230" marR="62230" marT="62230" marB="6223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960"/>
                        </a:lnSpc>
                        <a:buNone/>
                      </a:pPr>
                      <a:r>
                        <a:rPr lang="en-US" sz="1400" dirty="0">
                          <a:solidFill>
                            <a:srgbClr val="1A1A1A"/>
                          </a:solidFill>
                          <a:latin typeface="Arial" pitchFamily="34" charset="0"/>
                          <a:ea typeface="Arial" pitchFamily="34" charset="-122"/>
                          <a:cs typeface="Arial" pitchFamily="34" charset="-120"/>
                        </a:rPr>
                        <a:t>Проверяет симметрию ошибок, а не среднюю точность</a:t>
                      </a:r>
                      <a:endParaRPr lang="en-US" sz="1400" dirty="0">
                        <a:latin typeface="Arial" charset="0"/>
                        <a:ea typeface="Arial" charset="0"/>
                        <a:cs typeface="Arial" charset="0"/>
                      </a:endParaRPr>
                    </a:p>
                  </a:txBody>
                  <a:tcPr marL="62230" marR="62230" marT="62230" marB="6223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bl>
          </a:graphicData>
        </a:graphic>
      </p:graphicFrame>
      <p:sp>
        <p:nvSpPr>
          <p:cNvPr id="5" name="Text 2"/>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Arial" pitchFamily="34" charset="0"/>
                <a:ea typeface="Arial" pitchFamily="34" charset="-122"/>
                <a:cs typeface="Arial" pitchFamily="34" charset="-120"/>
              </a:rPr>
              <a:t>Значимость различий в качестве классификаторов</a:t>
            </a:r>
            <a:endParaRPr lang="en-US" sz="1200" dirty="0"/>
          </a:p>
        </p:txBody>
      </p:sp>
      <p:sp>
        <p:nvSpPr>
          <p:cNvPr id="6" name="Text 3"/>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0"/>
                </a:solidFill>
                <a:latin typeface="Arial" pitchFamily="34" charset="0"/>
                <a:ea typeface="Arial" pitchFamily="34" charset="-122"/>
                <a:cs typeface="Arial"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2B5"/>
                </a:solidFill>
                <a:latin typeface="Arial" pitchFamily="34" charset="0"/>
                <a:ea typeface="Arial" pitchFamily="34" charset="-122"/>
                <a:cs typeface="Arial" pitchFamily="34" charset="-120"/>
              </a:rPr>
              <a:t>03 · ГЛАВНЫЙ РЕЗУЛЬТАТ</a:t>
            </a:r>
            <a:endParaRPr lang="en-US" sz="1200" dirty="0"/>
          </a:p>
        </p:txBody>
      </p:sp>
      <p:sp>
        <p:nvSpPr>
          <p:cNvPr id="3" name="Text 1"/>
          <p:cNvSpPr/>
          <p:nvPr>
            <p:ph type="title"/>
          </p:nvPr>
        </p:nvSpPr>
        <p:spPr>
          <a:xfrm>
            <a:off x="812800" y="1229364"/>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A1A1A"/>
                </a:solidFill>
                <a:latin typeface="Arial" pitchFamily="34" charset="0"/>
                <a:ea typeface="Arial" pitchFamily="34" charset="-122"/>
                <a:cs typeface="Arial" pitchFamily="34" charset="-120"/>
              </a:rPr>
              <a:t>RF против LogReg на digits: четыре p-value</a:t>
            </a:r>
            <a:endParaRPr lang="en-US" sz="3200" dirty="0"/>
          </a:p>
        </p:txBody>
      </p:sp>
      <p:sp>
        <p:nvSpPr>
          <p:cNvPr id="4" name="Shape 2"/>
          <p:cNvSpPr/>
          <p:nvPr/>
        </p:nvSpPr>
        <p:spPr>
          <a:xfrm>
            <a:off x="812800" y="1899921"/>
            <a:ext cx="2527300" cy="1374140"/>
          </a:xfrm>
          <a:prstGeom prst="roundRect">
            <a:avLst>
              <a:gd name="adj" fmla="val 7394"/>
            </a:avLst>
          </a:prstGeom>
          <a:solidFill>
            <a:srgbClr val="F1F1EC"/>
          </a:solidFill>
          <a:ln/>
        </p:spPr>
      </p:sp>
      <p:sp>
        <p:nvSpPr>
          <p:cNvPr id="5" name="Shape 3"/>
          <p:cNvSpPr/>
          <p:nvPr/>
        </p:nvSpPr>
        <p:spPr>
          <a:xfrm>
            <a:off x="812800" y="1899921"/>
            <a:ext cx="2527300" cy="1374140"/>
          </a:xfrm>
          <a:custGeom>
            <a:avLst/>
            <a:gdLst/>
            <a:ahLst/>
            <a:cxnLst/>
            <a:rect l="l" t="t" r="r" b="b"/>
            <a:pathLst>
              <a:path w="2527300" h="1374140">
                <a:moveTo>
                  <a:pt x="0" y="101600"/>
                </a:moveTo>
                <a:lnTo>
                  <a:pt x="0" y="101600"/>
                </a:lnTo>
                <a:arcTo hR="101600" wR="101600" stAng="10800000" swAng="5400000"/>
                <a:lnTo>
                  <a:pt x="2425700" y="0"/>
                </a:lnTo>
                <a:arcTo hR="101600" wR="101600" stAng="16200000" swAng="5400000"/>
                <a:lnTo>
                  <a:pt x="2527300" y="101600"/>
                </a:lnTo>
                <a:arcTo hR="50800" wR="101600" stAng="0" swAng="-5400000"/>
                <a:lnTo>
                  <a:pt x="101600" y="50800"/>
                </a:lnTo>
                <a:arcTo hR="50800" wR="101600" stAng="16200000" swAng="-5400000"/>
                <a:close/>
              </a:path>
            </a:pathLst>
          </a:custGeom>
          <a:solidFill>
            <a:srgbClr val="2A78D6"/>
          </a:solidFill>
          <a:ln/>
        </p:spPr>
      </p:sp>
      <p:sp>
        <p:nvSpPr>
          <p:cNvPr id="6" name="Text 4"/>
          <p:cNvSpPr/>
          <p:nvPr/>
        </p:nvSpPr>
        <p:spPr>
          <a:xfrm>
            <a:off x="1016000" y="2179321"/>
            <a:ext cx="2184527"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1A1A1A"/>
                </a:solidFill>
                <a:latin typeface="Arial" pitchFamily="34" charset="0"/>
                <a:ea typeface="Arial" pitchFamily="34" charset="-122"/>
                <a:cs typeface="Arial" pitchFamily="34" charset="-120"/>
              </a:rPr>
              <a:t>0.026</a:t>
            </a:r>
            <a:endParaRPr lang="en-US" sz="4400" dirty="0"/>
          </a:p>
        </p:txBody>
      </p:sp>
      <p:sp>
        <p:nvSpPr>
          <p:cNvPr id="7" name="Text 5"/>
          <p:cNvSpPr/>
          <p:nvPr/>
        </p:nvSpPr>
        <p:spPr>
          <a:xfrm>
            <a:off x="1016000" y="2814321"/>
            <a:ext cx="2184527"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F6670"/>
                </a:solidFill>
                <a:latin typeface="Arial" pitchFamily="34" charset="0"/>
                <a:ea typeface="Arial" pitchFamily="34" charset="-122"/>
                <a:cs typeface="Arial" pitchFamily="34" charset="-120"/>
              </a:rPr>
              <a:t>наивный t-test</a:t>
            </a:r>
            <a:endParaRPr lang="en-US" sz="1400" dirty="0"/>
          </a:p>
        </p:txBody>
      </p:sp>
      <p:sp>
        <p:nvSpPr>
          <p:cNvPr id="8" name="Shape 6"/>
          <p:cNvSpPr/>
          <p:nvPr/>
        </p:nvSpPr>
        <p:spPr>
          <a:xfrm>
            <a:off x="3492500" y="1899921"/>
            <a:ext cx="2527300" cy="1374140"/>
          </a:xfrm>
          <a:prstGeom prst="roundRect">
            <a:avLst>
              <a:gd name="adj" fmla="val 7394"/>
            </a:avLst>
          </a:prstGeom>
          <a:solidFill>
            <a:srgbClr val="F1F1EC"/>
          </a:solidFill>
          <a:ln/>
        </p:spPr>
      </p:sp>
      <p:sp>
        <p:nvSpPr>
          <p:cNvPr id="9" name="Shape 7"/>
          <p:cNvSpPr/>
          <p:nvPr/>
        </p:nvSpPr>
        <p:spPr>
          <a:xfrm>
            <a:off x="3492500" y="1899921"/>
            <a:ext cx="2527300" cy="1374140"/>
          </a:xfrm>
          <a:custGeom>
            <a:avLst/>
            <a:gdLst/>
            <a:ahLst/>
            <a:cxnLst/>
            <a:rect l="l" t="t" r="r" b="b"/>
            <a:pathLst>
              <a:path w="2527300" h="1374140">
                <a:moveTo>
                  <a:pt x="0" y="101600"/>
                </a:moveTo>
                <a:lnTo>
                  <a:pt x="0" y="101600"/>
                </a:lnTo>
                <a:arcTo hR="101600" wR="101600" stAng="10800000" swAng="5400000"/>
                <a:lnTo>
                  <a:pt x="2425700" y="0"/>
                </a:lnTo>
                <a:arcTo hR="101600" wR="101600" stAng="16200000" swAng="5400000"/>
                <a:lnTo>
                  <a:pt x="2527300" y="101600"/>
                </a:lnTo>
                <a:arcTo hR="50800" wR="101600" stAng="0" swAng="-5400000"/>
                <a:lnTo>
                  <a:pt x="101600" y="50800"/>
                </a:lnTo>
                <a:arcTo hR="50800" wR="101600" stAng="16200000" swAng="-5400000"/>
                <a:close/>
              </a:path>
            </a:pathLst>
          </a:custGeom>
          <a:solidFill>
            <a:srgbClr val="EB6834"/>
          </a:solidFill>
          <a:ln/>
        </p:spPr>
      </p:sp>
      <p:sp>
        <p:nvSpPr>
          <p:cNvPr id="10" name="Text 8"/>
          <p:cNvSpPr/>
          <p:nvPr/>
        </p:nvSpPr>
        <p:spPr>
          <a:xfrm>
            <a:off x="3695700" y="2179321"/>
            <a:ext cx="2184527"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1A1A1A"/>
                </a:solidFill>
                <a:latin typeface="Arial" pitchFamily="34" charset="0"/>
                <a:ea typeface="Arial" pitchFamily="34" charset="-122"/>
                <a:cs typeface="Arial" pitchFamily="34" charset="-120"/>
              </a:rPr>
              <a:t>0.100</a:t>
            </a:r>
            <a:endParaRPr lang="en-US" sz="4400" dirty="0"/>
          </a:p>
        </p:txBody>
      </p:sp>
      <p:sp>
        <p:nvSpPr>
          <p:cNvPr id="11" name="Text 9"/>
          <p:cNvSpPr/>
          <p:nvPr/>
        </p:nvSpPr>
        <p:spPr>
          <a:xfrm>
            <a:off x="3695700" y="2814321"/>
            <a:ext cx="2184527"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F6670"/>
                </a:solidFill>
                <a:latin typeface="Arial" pitchFamily="34" charset="0"/>
                <a:ea typeface="Arial" pitchFamily="34" charset="-122"/>
                <a:cs typeface="Arial" pitchFamily="34" charset="-120"/>
              </a:rPr>
              <a:t>corrected t-test</a:t>
            </a:r>
            <a:endParaRPr lang="en-US" sz="1400" dirty="0"/>
          </a:p>
        </p:txBody>
      </p:sp>
      <p:sp>
        <p:nvSpPr>
          <p:cNvPr id="12" name="Shape 10"/>
          <p:cNvSpPr/>
          <p:nvPr/>
        </p:nvSpPr>
        <p:spPr>
          <a:xfrm>
            <a:off x="6172200" y="1899921"/>
            <a:ext cx="2527300" cy="1374140"/>
          </a:xfrm>
          <a:prstGeom prst="roundRect">
            <a:avLst>
              <a:gd name="adj" fmla="val 7394"/>
            </a:avLst>
          </a:prstGeom>
          <a:solidFill>
            <a:srgbClr val="F1F1EC"/>
          </a:solidFill>
          <a:ln/>
        </p:spPr>
      </p:sp>
      <p:sp>
        <p:nvSpPr>
          <p:cNvPr id="13" name="Shape 11"/>
          <p:cNvSpPr/>
          <p:nvPr/>
        </p:nvSpPr>
        <p:spPr>
          <a:xfrm>
            <a:off x="6172200" y="1899921"/>
            <a:ext cx="2527300" cy="1374140"/>
          </a:xfrm>
          <a:custGeom>
            <a:avLst/>
            <a:gdLst/>
            <a:ahLst/>
            <a:cxnLst/>
            <a:rect l="l" t="t" r="r" b="b"/>
            <a:pathLst>
              <a:path w="2527300" h="1374140">
                <a:moveTo>
                  <a:pt x="0" y="101600"/>
                </a:moveTo>
                <a:lnTo>
                  <a:pt x="0" y="101600"/>
                </a:lnTo>
                <a:arcTo hR="101600" wR="101600" stAng="10800000" swAng="5400000"/>
                <a:lnTo>
                  <a:pt x="2425700" y="0"/>
                </a:lnTo>
                <a:arcTo hR="101600" wR="101600" stAng="16200000" swAng="5400000"/>
                <a:lnTo>
                  <a:pt x="2527300" y="101600"/>
                </a:lnTo>
                <a:arcTo hR="50800" wR="101600" stAng="0" swAng="-5400000"/>
                <a:lnTo>
                  <a:pt x="101600" y="50800"/>
                </a:lnTo>
                <a:arcTo hR="50800" wR="101600" stAng="16200000" swAng="-5400000"/>
                <a:close/>
              </a:path>
            </a:pathLst>
          </a:custGeom>
          <a:solidFill>
            <a:srgbClr val="1BAF7A"/>
          </a:solidFill>
          <a:ln/>
        </p:spPr>
      </p:sp>
      <p:sp>
        <p:nvSpPr>
          <p:cNvPr id="14" name="Text 12"/>
          <p:cNvSpPr/>
          <p:nvPr/>
        </p:nvSpPr>
        <p:spPr>
          <a:xfrm>
            <a:off x="6375400" y="2179321"/>
            <a:ext cx="2184527"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1A1A1A"/>
                </a:solidFill>
                <a:latin typeface="Arial" pitchFamily="34" charset="0"/>
                <a:ea typeface="Arial" pitchFamily="34" charset="-122"/>
                <a:cs typeface="Arial" pitchFamily="34" charset="-120"/>
              </a:rPr>
              <a:t>0.140</a:t>
            </a:r>
            <a:endParaRPr lang="en-US" sz="4400" dirty="0"/>
          </a:p>
        </p:txBody>
      </p:sp>
      <p:sp>
        <p:nvSpPr>
          <p:cNvPr id="15" name="Text 13"/>
          <p:cNvSpPr/>
          <p:nvPr/>
        </p:nvSpPr>
        <p:spPr>
          <a:xfrm>
            <a:off x="6375400" y="2814321"/>
            <a:ext cx="2184527"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F6670"/>
                </a:solidFill>
                <a:latin typeface="Arial" pitchFamily="34" charset="0"/>
                <a:ea typeface="Arial" pitchFamily="34" charset="-122"/>
                <a:cs typeface="Arial" pitchFamily="34" charset="-120"/>
              </a:rPr>
              <a:t>5×2cv t-test</a:t>
            </a:r>
            <a:endParaRPr lang="en-US" sz="1400" dirty="0"/>
          </a:p>
        </p:txBody>
      </p:sp>
      <p:sp>
        <p:nvSpPr>
          <p:cNvPr id="16" name="Shape 14"/>
          <p:cNvSpPr/>
          <p:nvPr/>
        </p:nvSpPr>
        <p:spPr>
          <a:xfrm>
            <a:off x="8851900" y="1899921"/>
            <a:ext cx="2527300" cy="1374140"/>
          </a:xfrm>
          <a:prstGeom prst="roundRect">
            <a:avLst>
              <a:gd name="adj" fmla="val 7394"/>
            </a:avLst>
          </a:prstGeom>
          <a:solidFill>
            <a:srgbClr val="F1F1EC"/>
          </a:solidFill>
          <a:ln/>
        </p:spPr>
      </p:sp>
      <p:sp>
        <p:nvSpPr>
          <p:cNvPr id="17" name="Shape 15"/>
          <p:cNvSpPr/>
          <p:nvPr/>
        </p:nvSpPr>
        <p:spPr>
          <a:xfrm>
            <a:off x="8851900" y="1899921"/>
            <a:ext cx="2527300" cy="1374140"/>
          </a:xfrm>
          <a:custGeom>
            <a:avLst/>
            <a:gdLst/>
            <a:ahLst/>
            <a:cxnLst/>
            <a:rect l="l" t="t" r="r" b="b"/>
            <a:pathLst>
              <a:path w="2527300" h="1374140">
                <a:moveTo>
                  <a:pt x="0" y="101600"/>
                </a:moveTo>
                <a:lnTo>
                  <a:pt x="0" y="101600"/>
                </a:lnTo>
                <a:arcTo hR="101600" wR="101600" stAng="10800000" swAng="5400000"/>
                <a:lnTo>
                  <a:pt x="2425700" y="0"/>
                </a:lnTo>
                <a:arcTo hR="101600" wR="101600" stAng="16200000" swAng="5400000"/>
                <a:lnTo>
                  <a:pt x="2527300" y="101600"/>
                </a:lnTo>
                <a:arcTo hR="50800" wR="101600" stAng="0" swAng="-5400000"/>
                <a:lnTo>
                  <a:pt x="101600" y="50800"/>
                </a:lnTo>
                <a:arcTo hR="50800" wR="101600" stAng="16200000" swAng="-5400000"/>
                <a:close/>
              </a:path>
            </a:pathLst>
          </a:custGeom>
          <a:solidFill>
            <a:srgbClr val="EDA100"/>
          </a:solidFill>
          <a:ln/>
        </p:spPr>
      </p:sp>
      <p:sp>
        <p:nvSpPr>
          <p:cNvPr id="18" name="Text 16"/>
          <p:cNvSpPr/>
          <p:nvPr/>
        </p:nvSpPr>
        <p:spPr>
          <a:xfrm>
            <a:off x="9055100" y="2179321"/>
            <a:ext cx="2184527"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1A1A1A"/>
                </a:solidFill>
                <a:latin typeface="Arial" pitchFamily="34" charset="0"/>
                <a:ea typeface="Arial" pitchFamily="34" charset="-122"/>
                <a:cs typeface="Arial" pitchFamily="34" charset="-120"/>
              </a:rPr>
              <a:t>0.118</a:t>
            </a:r>
            <a:endParaRPr lang="en-US" sz="4400" dirty="0"/>
          </a:p>
        </p:txBody>
      </p:sp>
      <p:sp>
        <p:nvSpPr>
          <p:cNvPr id="19" name="Text 17"/>
          <p:cNvSpPr/>
          <p:nvPr/>
        </p:nvSpPr>
        <p:spPr>
          <a:xfrm>
            <a:off x="9055100" y="2814321"/>
            <a:ext cx="2184527"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F6670"/>
                </a:solidFill>
                <a:latin typeface="Arial" pitchFamily="34" charset="0"/>
                <a:ea typeface="Arial" pitchFamily="34" charset="-122"/>
                <a:cs typeface="Arial" pitchFamily="34" charset="-120"/>
              </a:rPr>
              <a:t>McNemar</a:t>
            </a:r>
            <a:endParaRPr lang="en-US" sz="1400" dirty="0"/>
          </a:p>
        </p:txBody>
      </p:sp>
      <p:sp>
        <p:nvSpPr>
          <p:cNvPr id="20" name="Text 18"/>
          <p:cNvSpPr/>
          <p:nvPr/>
        </p:nvSpPr>
        <p:spPr>
          <a:xfrm>
            <a:off x="812800" y="3477264"/>
            <a:ext cx="10883392" cy="6654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A1A1A"/>
                </a:solidFill>
                <a:latin typeface="Arial" pitchFamily="34" charset="0"/>
                <a:ea typeface="Arial" pitchFamily="34" charset="-122"/>
                <a:cs typeface="Arial" pitchFamily="34" charset="-120"/>
              </a:rPr>
              <a:t>Только наивный тест отвергает H₀ (p меньше 0.05). Три остальных значимой разницы не находят. McNemar: модели расходятся лишь на 15 объектах из 450, 4 против 11.</a:t>
            </a:r>
            <a:endParaRPr lang="en-US" sz="1800" dirty="0"/>
          </a:p>
        </p:txBody>
      </p:sp>
      <p:sp>
        <p:nvSpPr>
          <p:cNvPr id="21" name="Text 19"/>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Arial" pitchFamily="34" charset="0"/>
                <a:ea typeface="Arial" pitchFamily="34" charset="-122"/>
                <a:cs typeface="Arial" pitchFamily="34" charset="-120"/>
              </a:rPr>
              <a:t>Значимость различий в качестве классификаторов</a:t>
            </a:r>
            <a:endParaRPr lang="en-US" sz="1200" dirty="0"/>
          </a:p>
        </p:txBody>
      </p:sp>
      <p:sp>
        <p:nvSpPr>
          <p:cNvPr id="22" name="Text 20"/>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0"/>
                </a:solidFill>
                <a:latin typeface="Arial" pitchFamily="34" charset="0"/>
                <a:ea typeface="Arial" pitchFamily="34" charset="-122"/>
                <a:cs typeface="Arial"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2B5"/>
                </a:solidFill>
                <a:latin typeface="Arial" pitchFamily="34" charset="0"/>
                <a:ea typeface="Arial" pitchFamily="34" charset="-122"/>
                <a:cs typeface="Arial" pitchFamily="34" charset="-120"/>
              </a:rPr>
              <a:t>03 · ГЛАВНЫЙ РЕЗУЛЬТАТ</a:t>
            </a:r>
            <a:endParaRPr lang="en-US" sz="1200" dirty="0"/>
          </a:p>
        </p:txBody>
      </p:sp>
      <p:sp>
        <p:nvSpPr>
          <p:cNvPr id="3" name="Text 1"/>
          <p:cNvSpPr/>
          <p:nvPr>
            <p:ph type="title"/>
          </p:nvPr>
        </p:nvSpPr>
        <p:spPr>
          <a:xfrm>
            <a:off x="812800" y="1229364"/>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A1A1A"/>
                </a:solidFill>
                <a:latin typeface="Arial" pitchFamily="34" charset="0"/>
                <a:ea typeface="Arial" pitchFamily="34" charset="-122"/>
                <a:cs typeface="Arial" pitchFamily="34" charset="-120"/>
              </a:rPr>
              <a:t>Код: наивный, corrected и 5×2cv</a:t>
            </a:r>
            <a:endParaRPr lang="en-US" sz="3200" dirty="0"/>
          </a:p>
        </p:txBody>
      </p:sp>
      <p:sp>
        <p:nvSpPr>
          <p:cNvPr id="4" name="Shape 2"/>
          <p:cNvSpPr/>
          <p:nvPr/>
        </p:nvSpPr>
        <p:spPr>
          <a:xfrm>
            <a:off x="815975" y="1903096"/>
            <a:ext cx="6343650" cy="2493010"/>
          </a:xfrm>
          <a:prstGeom prst="roundRect">
            <a:avLst>
              <a:gd name="adj" fmla="val 2929"/>
            </a:avLst>
          </a:prstGeom>
          <a:solidFill>
            <a:srgbClr val="F1F1EC"/>
          </a:solidFill>
          <a:ln w="6350">
            <a:solidFill>
              <a:srgbClr val="DEDED6"/>
            </a:solidFill>
            <a:prstDash val="solid"/>
          </a:ln>
        </p:spPr>
      </p:sp>
      <p:sp>
        <p:nvSpPr>
          <p:cNvPr id="5" name="Text 3"/>
          <p:cNvSpPr/>
          <p:nvPr/>
        </p:nvSpPr>
        <p:spPr>
          <a:xfrm>
            <a:off x="1021080" y="2082800"/>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a = results[</a:t>
            </a:r>
            <a:r>
              <a:rPr lang="en-US" sz="1200" dirty="0">
                <a:solidFill>
                  <a:srgbClr val="116329"/>
                </a:solidFill>
                <a:latin typeface="Courier New" pitchFamily="49" charset="0"/>
                <a:ea typeface="Courier New" pitchFamily="49" charset="-122"/>
                <a:cs typeface="Courier New" pitchFamily="49" charset="-120"/>
              </a:rPr>
              <a:t>"digits"</a:t>
            </a:r>
            <a:r>
              <a:rPr lang="en-US" sz="1200" dirty="0">
                <a:solidFill>
                  <a:srgbClr val="1A1A1A"/>
                </a:solidFill>
                <a:latin typeface="Courier New" pitchFamily="49" charset="0"/>
                <a:ea typeface="Courier New" pitchFamily="49" charset="-122"/>
                <a:cs typeface="Courier New" pitchFamily="49" charset="-120"/>
              </a:rPr>
              <a:t>][</a:t>
            </a:r>
            <a:r>
              <a:rPr lang="en-US" sz="1200" dirty="0">
                <a:solidFill>
                  <a:srgbClr val="116329"/>
                </a:solidFill>
                <a:latin typeface="Courier New" pitchFamily="49" charset="0"/>
                <a:ea typeface="Courier New" pitchFamily="49" charset="-122"/>
                <a:cs typeface="Courier New" pitchFamily="49" charset="-120"/>
              </a:rPr>
              <a:t>"rf"</a:t>
            </a:r>
            <a:r>
              <a:rPr lang="en-US" sz="1200" dirty="0">
                <a:solidFill>
                  <a:srgbClr val="1A1A1A"/>
                </a:solidFill>
                <a:latin typeface="Courier New" pitchFamily="49" charset="0"/>
                <a:ea typeface="Courier New" pitchFamily="49" charset="-122"/>
                <a:cs typeface="Courier New" pitchFamily="49" charset="-120"/>
              </a:rPr>
              <a:t>]</a:t>
            </a:r>
            <a:endParaRPr lang="en-US" sz="1200" dirty="0"/>
          </a:p>
        </p:txBody>
      </p:sp>
      <p:sp>
        <p:nvSpPr>
          <p:cNvPr id="6" name="Text 4"/>
          <p:cNvSpPr/>
          <p:nvPr/>
        </p:nvSpPr>
        <p:spPr>
          <a:xfrm>
            <a:off x="1021080" y="2296164"/>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b = results[</a:t>
            </a:r>
            <a:r>
              <a:rPr lang="en-US" sz="1200" dirty="0">
                <a:solidFill>
                  <a:srgbClr val="116329"/>
                </a:solidFill>
                <a:latin typeface="Courier New" pitchFamily="49" charset="0"/>
                <a:ea typeface="Courier New" pitchFamily="49" charset="-122"/>
                <a:cs typeface="Courier New" pitchFamily="49" charset="-120"/>
              </a:rPr>
              <a:t>"digits"</a:t>
            </a:r>
            <a:r>
              <a:rPr lang="en-US" sz="1200" dirty="0">
                <a:solidFill>
                  <a:srgbClr val="1A1A1A"/>
                </a:solidFill>
                <a:latin typeface="Courier New" pitchFamily="49" charset="0"/>
                <a:ea typeface="Courier New" pitchFamily="49" charset="-122"/>
                <a:cs typeface="Courier New" pitchFamily="49" charset="-120"/>
              </a:rPr>
              <a:t>][</a:t>
            </a:r>
            <a:r>
              <a:rPr lang="en-US" sz="1200" dirty="0">
                <a:solidFill>
                  <a:srgbClr val="116329"/>
                </a:solidFill>
                <a:latin typeface="Courier New" pitchFamily="49" charset="0"/>
                <a:ea typeface="Courier New" pitchFamily="49" charset="-122"/>
                <a:cs typeface="Courier New" pitchFamily="49" charset="-120"/>
              </a:rPr>
              <a:t>"logreg"</a:t>
            </a:r>
            <a:r>
              <a:rPr lang="en-US" sz="1200" dirty="0">
                <a:solidFill>
                  <a:srgbClr val="1A1A1A"/>
                </a:solidFill>
                <a:latin typeface="Courier New" pitchFamily="49" charset="0"/>
                <a:ea typeface="Courier New" pitchFamily="49" charset="-122"/>
                <a:cs typeface="Courier New" pitchFamily="49" charset="-120"/>
              </a:rPr>
              <a:t>]</a:t>
            </a:r>
            <a:endParaRPr lang="en-US" sz="1200" dirty="0"/>
          </a:p>
        </p:txBody>
      </p:sp>
      <p:sp>
        <p:nvSpPr>
          <p:cNvPr id="7" name="Text 5"/>
          <p:cNvSpPr/>
          <p:nvPr/>
        </p:nvSpPr>
        <p:spPr>
          <a:xfrm>
            <a:off x="1021080" y="2722879"/>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t_naive, p_naive = stats.ttest_rel(a, b)</a:t>
            </a:r>
            <a:endParaRPr lang="en-US" sz="1200" dirty="0"/>
          </a:p>
        </p:txBody>
      </p:sp>
      <p:sp>
        <p:nvSpPr>
          <p:cNvPr id="8" name="Text 6"/>
          <p:cNvSpPr/>
          <p:nvPr/>
        </p:nvSpPr>
        <p:spPr>
          <a:xfrm>
            <a:off x="1021080" y="3149600"/>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p_left, p_right = CorrelatedTTest.probs(a, b)</a:t>
            </a:r>
            <a:endParaRPr lang="en-US" sz="1200" dirty="0"/>
          </a:p>
        </p:txBody>
      </p:sp>
      <p:sp>
        <p:nvSpPr>
          <p:cNvPr id="9" name="Text 7"/>
          <p:cNvSpPr/>
          <p:nvPr/>
        </p:nvSpPr>
        <p:spPr>
          <a:xfrm>
            <a:off x="1021080" y="3362964"/>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p_corr = 2 * min(p_left, p_right)</a:t>
            </a:r>
            <a:endParaRPr lang="en-US" sz="1200" dirty="0"/>
          </a:p>
        </p:txBody>
      </p:sp>
      <p:sp>
        <p:nvSpPr>
          <p:cNvPr id="10" name="Text 8"/>
          <p:cNvSpPr/>
          <p:nvPr/>
        </p:nvSpPr>
        <p:spPr>
          <a:xfrm>
            <a:off x="1021080" y="3789679"/>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_, p_5x2 = paired_ttest_5x2cv(</a:t>
            </a:r>
            <a:endParaRPr lang="en-US" sz="1200" dirty="0"/>
          </a:p>
        </p:txBody>
      </p:sp>
      <p:sp>
        <p:nvSpPr>
          <p:cNvPr id="11" name="Text 9"/>
          <p:cNvSpPr/>
          <p:nvPr/>
        </p:nvSpPr>
        <p:spPr>
          <a:xfrm>
            <a:off x="1389380" y="4003042"/>
            <a:ext cx="573209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rf, logreg, X, y, random_seed=42)</a:t>
            </a:r>
            <a:endParaRPr lang="en-US" sz="1200" dirty="0"/>
          </a:p>
        </p:txBody>
      </p:sp>
      <p:sp>
        <p:nvSpPr>
          <p:cNvPr id="12" name="Text 10"/>
          <p:cNvSpPr/>
          <p:nvPr/>
        </p:nvSpPr>
        <p:spPr>
          <a:xfrm>
            <a:off x="7366000" y="1899921"/>
            <a:ext cx="4133596"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A1A"/>
                </a:solidFill>
                <a:latin typeface="Arial" pitchFamily="34" charset="0"/>
                <a:ea typeface="Arial" pitchFamily="34" charset="-122"/>
                <a:cs typeface="Arial" pitchFamily="34" charset="-120"/>
              </a:rPr>
              <a:t>a и b: 10 значений accuracy по фолдам для RF и LogReg на digits. CorrelatedTTest из библиотеки baycomp сам применяет поправку Nadeau и Bengio.</a:t>
            </a:r>
            <a:endParaRPr lang="en-US" sz="1400" dirty="0"/>
          </a:p>
        </p:txBody>
      </p:sp>
      <p:sp>
        <p:nvSpPr>
          <p:cNvPr id="13" name="Text 11"/>
          <p:cNvSpPr/>
          <p:nvPr/>
        </p:nvSpPr>
        <p:spPr>
          <a:xfrm>
            <a:off x="7366000" y="3022600"/>
            <a:ext cx="413359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Arial" pitchFamily="34" charset="0"/>
                <a:ea typeface="Arial" pitchFamily="34" charset="-122"/>
                <a:cs typeface="Arial" pitchFamily="34" charset="-120"/>
              </a:rPr>
              <a:t>Результат:</a:t>
            </a:r>
            <a:endParaRPr lang="en-US" sz="1200" dirty="0"/>
          </a:p>
        </p:txBody>
      </p:sp>
      <p:sp>
        <p:nvSpPr>
          <p:cNvPr id="14" name="Shape 12"/>
          <p:cNvSpPr/>
          <p:nvPr/>
        </p:nvSpPr>
        <p:spPr>
          <a:xfrm>
            <a:off x="7366000" y="3362964"/>
            <a:ext cx="4013200" cy="944880"/>
          </a:xfrm>
          <a:prstGeom prst="roundRect">
            <a:avLst>
              <a:gd name="adj" fmla="val 8065"/>
            </a:avLst>
          </a:prstGeom>
          <a:solidFill>
            <a:srgbClr val="15202B"/>
          </a:solidFill>
          <a:ln/>
        </p:spPr>
      </p:sp>
      <p:sp>
        <p:nvSpPr>
          <p:cNvPr id="15" name="Text 13"/>
          <p:cNvSpPr/>
          <p:nvPr/>
        </p:nvSpPr>
        <p:spPr>
          <a:xfrm>
            <a:off x="7543800" y="3515364"/>
            <a:ext cx="3767328"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DF3"/>
                </a:solidFill>
                <a:latin typeface="Courier New" pitchFamily="49" charset="0"/>
                <a:ea typeface="Courier New" pitchFamily="49" charset="-122"/>
                <a:cs typeface="Courier New" pitchFamily="49" charset="-120"/>
              </a:rPr>
              <a:t>p_naive = 0.0259</a:t>
            </a:r>
            <a:endParaRPr lang="en-US" sz="1200" dirty="0"/>
          </a:p>
        </p:txBody>
      </p:sp>
      <p:sp>
        <p:nvSpPr>
          <p:cNvPr id="16" name="Text 14"/>
          <p:cNvSpPr/>
          <p:nvPr/>
        </p:nvSpPr>
        <p:spPr>
          <a:xfrm>
            <a:off x="7543800" y="3728721"/>
            <a:ext cx="3767328"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DF3"/>
                </a:solidFill>
                <a:latin typeface="Courier New" pitchFamily="49" charset="0"/>
                <a:ea typeface="Courier New" pitchFamily="49" charset="-122"/>
                <a:cs typeface="Courier New" pitchFamily="49" charset="-120"/>
              </a:rPr>
              <a:t>p_corr = 0.0999</a:t>
            </a:r>
            <a:endParaRPr lang="en-US" sz="1200" dirty="0"/>
          </a:p>
        </p:txBody>
      </p:sp>
      <p:sp>
        <p:nvSpPr>
          <p:cNvPr id="17" name="Text 15"/>
          <p:cNvSpPr/>
          <p:nvPr/>
        </p:nvSpPr>
        <p:spPr>
          <a:xfrm>
            <a:off x="7543800" y="3942079"/>
            <a:ext cx="3767328"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DF3"/>
                </a:solidFill>
                <a:latin typeface="Courier New" pitchFamily="49" charset="0"/>
                <a:ea typeface="Courier New" pitchFamily="49" charset="-122"/>
                <a:cs typeface="Courier New" pitchFamily="49" charset="-120"/>
              </a:rPr>
              <a:t>p_5x2 = 0.1400</a:t>
            </a:r>
            <a:endParaRPr lang="en-US" sz="1200" dirty="0"/>
          </a:p>
        </p:txBody>
      </p:sp>
      <p:sp>
        <p:nvSpPr>
          <p:cNvPr id="18" name="Text 16"/>
          <p:cNvSpPr/>
          <p:nvPr/>
        </p:nvSpPr>
        <p:spPr>
          <a:xfrm>
            <a:off x="7366000" y="4434842"/>
            <a:ext cx="413359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F6670"/>
                </a:solidFill>
                <a:latin typeface="Arial" pitchFamily="34" charset="0"/>
                <a:ea typeface="Arial" pitchFamily="34" charset="-122"/>
                <a:cs typeface="Arial" pitchFamily="34" charset="-120"/>
              </a:rPr>
              <a:t>Поправка увеличила p почти в 4 раза, и вывод поменялся.</a:t>
            </a:r>
            <a:endParaRPr lang="en-US" sz="1400" dirty="0"/>
          </a:p>
        </p:txBody>
      </p:sp>
      <p:sp>
        <p:nvSpPr>
          <p:cNvPr id="19" name="Text 17"/>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Arial" pitchFamily="34" charset="0"/>
                <a:ea typeface="Arial" pitchFamily="34" charset="-122"/>
                <a:cs typeface="Arial" pitchFamily="34" charset="-120"/>
              </a:rPr>
              <a:t>Значимость различий в качестве классификаторов</a:t>
            </a:r>
            <a:endParaRPr lang="en-US" sz="1200" dirty="0"/>
          </a:p>
        </p:txBody>
      </p:sp>
      <p:sp>
        <p:nvSpPr>
          <p:cNvPr id="20" name="Text 18"/>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0"/>
                </a:solidFill>
                <a:latin typeface="Arial" pitchFamily="34" charset="0"/>
                <a:ea typeface="Arial" pitchFamily="34" charset="-122"/>
                <a:cs typeface="Arial"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2B5"/>
                </a:solidFill>
                <a:latin typeface="Arial" pitchFamily="34" charset="0"/>
                <a:ea typeface="Arial" pitchFamily="34" charset="-122"/>
                <a:cs typeface="Arial" pitchFamily="34" charset="-120"/>
              </a:rPr>
              <a:t>03 · ГЛАВНЫЙ РЕЗУЛЬТАТ</a:t>
            </a:r>
            <a:endParaRPr lang="en-US" sz="1200" dirty="0"/>
          </a:p>
        </p:txBody>
      </p:sp>
      <p:sp>
        <p:nvSpPr>
          <p:cNvPr id="3" name="Text 1"/>
          <p:cNvSpPr/>
          <p:nvPr>
            <p:ph type="title"/>
          </p:nvPr>
        </p:nvSpPr>
        <p:spPr>
          <a:xfrm>
            <a:off x="812800" y="1229364"/>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A1A1A"/>
                </a:solidFill>
                <a:latin typeface="Arial" pitchFamily="34" charset="0"/>
                <a:ea typeface="Arial" pitchFamily="34" charset="-122"/>
                <a:cs typeface="Arial" pitchFamily="34" charset="-120"/>
              </a:rPr>
              <a:t>Код: тест Макнемара</a:t>
            </a:r>
            <a:endParaRPr lang="en-US" sz="3200" dirty="0"/>
          </a:p>
        </p:txBody>
      </p:sp>
      <p:sp>
        <p:nvSpPr>
          <p:cNvPr id="4" name="Shape 2"/>
          <p:cNvSpPr/>
          <p:nvPr/>
        </p:nvSpPr>
        <p:spPr>
          <a:xfrm>
            <a:off x="815975" y="1903096"/>
            <a:ext cx="6343650" cy="2919730"/>
          </a:xfrm>
          <a:prstGeom prst="roundRect">
            <a:avLst>
              <a:gd name="adj" fmla="val 2501"/>
            </a:avLst>
          </a:prstGeom>
          <a:solidFill>
            <a:srgbClr val="F1F1EC"/>
          </a:solidFill>
          <a:ln w="6350">
            <a:solidFill>
              <a:srgbClr val="DEDED6"/>
            </a:solidFill>
            <a:prstDash val="solid"/>
          </a:ln>
        </p:spPr>
      </p:sp>
      <p:sp>
        <p:nvSpPr>
          <p:cNvPr id="5" name="Text 3"/>
          <p:cNvSpPr/>
          <p:nvPr/>
        </p:nvSpPr>
        <p:spPr>
          <a:xfrm>
            <a:off x="1021080" y="2082800"/>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X_tr, X_te, y_tr, y_te = train_test_split(</a:t>
            </a:r>
            <a:endParaRPr lang="en-US" sz="1200" dirty="0"/>
          </a:p>
        </p:txBody>
      </p:sp>
      <p:sp>
        <p:nvSpPr>
          <p:cNvPr id="6" name="Text 4"/>
          <p:cNvSpPr/>
          <p:nvPr/>
        </p:nvSpPr>
        <p:spPr>
          <a:xfrm>
            <a:off x="1389380" y="2296164"/>
            <a:ext cx="573209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X, y, test_size=0.25, random_state=42, stratify=y)</a:t>
            </a:r>
            <a:endParaRPr lang="en-US" sz="1200" dirty="0"/>
          </a:p>
        </p:txBody>
      </p:sp>
      <p:sp>
        <p:nvSpPr>
          <p:cNvPr id="7" name="Text 5"/>
          <p:cNvSpPr/>
          <p:nvPr/>
        </p:nvSpPr>
        <p:spPr>
          <a:xfrm>
            <a:off x="1021080" y="2509521"/>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fit_a = clone(model_a).fit(X_tr, y_tr)</a:t>
            </a:r>
            <a:endParaRPr lang="en-US" sz="1200" dirty="0"/>
          </a:p>
        </p:txBody>
      </p:sp>
      <p:sp>
        <p:nvSpPr>
          <p:cNvPr id="8" name="Text 6"/>
          <p:cNvSpPr/>
          <p:nvPr/>
        </p:nvSpPr>
        <p:spPr>
          <a:xfrm>
            <a:off x="1021080" y="2722879"/>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fit_b = clone(model_b).fit(X_tr, y_tr)</a:t>
            </a:r>
            <a:endParaRPr lang="en-US" sz="1200" dirty="0"/>
          </a:p>
        </p:txBody>
      </p:sp>
      <p:sp>
        <p:nvSpPr>
          <p:cNvPr id="9" name="Text 7"/>
          <p:cNvSpPr/>
          <p:nvPr/>
        </p:nvSpPr>
        <p:spPr>
          <a:xfrm>
            <a:off x="1021080" y="3149600"/>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tb = mcnemar_table(</a:t>
            </a:r>
            <a:endParaRPr lang="en-US" sz="1200" dirty="0"/>
          </a:p>
        </p:txBody>
      </p:sp>
      <p:sp>
        <p:nvSpPr>
          <p:cNvPr id="10" name="Text 8"/>
          <p:cNvSpPr/>
          <p:nvPr/>
        </p:nvSpPr>
        <p:spPr>
          <a:xfrm>
            <a:off x="1389380" y="3362964"/>
            <a:ext cx="573209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y_target=y_te,</a:t>
            </a:r>
            <a:endParaRPr lang="en-US" sz="1200" dirty="0"/>
          </a:p>
        </p:txBody>
      </p:sp>
      <p:sp>
        <p:nvSpPr>
          <p:cNvPr id="11" name="Text 9"/>
          <p:cNvSpPr/>
          <p:nvPr/>
        </p:nvSpPr>
        <p:spPr>
          <a:xfrm>
            <a:off x="1389380" y="3576321"/>
            <a:ext cx="573209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y_model1=fit_a.predict(X_te),</a:t>
            </a:r>
            <a:endParaRPr lang="en-US" sz="1200" dirty="0"/>
          </a:p>
        </p:txBody>
      </p:sp>
      <p:sp>
        <p:nvSpPr>
          <p:cNvPr id="12" name="Text 10"/>
          <p:cNvSpPr/>
          <p:nvPr/>
        </p:nvSpPr>
        <p:spPr>
          <a:xfrm>
            <a:off x="1389380" y="3789679"/>
            <a:ext cx="573209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y_model2=fit_b.predict(X_te))</a:t>
            </a:r>
            <a:endParaRPr lang="en-US" sz="1200" dirty="0"/>
          </a:p>
        </p:txBody>
      </p:sp>
      <p:sp>
        <p:nvSpPr>
          <p:cNvPr id="13" name="Text 11"/>
          <p:cNvSpPr/>
          <p:nvPr/>
        </p:nvSpPr>
        <p:spPr>
          <a:xfrm>
            <a:off x="1021080" y="4003042"/>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n_disagree = tb[0, 1] + tb[1, 0]</a:t>
            </a:r>
            <a:endParaRPr lang="en-US" sz="1200" dirty="0"/>
          </a:p>
        </p:txBody>
      </p:sp>
      <p:sp>
        <p:nvSpPr>
          <p:cNvPr id="14" name="Text 12"/>
          <p:cNvSpPr/>
          <p:nvPr/>
        </p:nvSpPr>
        <p:spPr>
          <a:xfrm>
            <a:off x="1021080" y="4216400"/>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_, p = mcnemar(ary=tb, corrected=True,</a:t>
            </a:r>
            <a:endParaRPr lang="en-US" sz="1200" dirty="0"/>
          </a:p>
        </p:txBody>
      </p:sp>
      <p:sp>
        <p:nvSpPr>
          <p:cNvPr id="15" name="Text 13"/>
          <p:cNvSpPr/>
          <p:nvPr/>
        </p:nvSpPr>
        <p:spPr>
          <a:xfrm>
            <a:off x="1389380" y="4429764"/>
            <a:ext cx="573209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exact=bool(n_disagree &lt; 25))</a:t>
            </a:r>
            <a:endParaRPr lang="en-US" sz="1200" dirty="0"/>
          </a:p>
        </p:txBody>
      </p:sp>
      <p:sp>
        <p:nvSpPr>
          <p:cNvPr id="16" name="Text 14"/>
          <p:cNvSpPr/>
          <p:nvPr/>
        </p:nvSpPr>
        <p:spPr>
          <a:xfrm>
            <a:off x="7366000" y="1899921"/>
            <a:ext cx="413359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A1A"/>
                </a:solidFill>
                <a:latin typeface="Arial" pitchFamily="34" charset="0"/>
                <a:ea typeface="Arial" pitchFamily="34" charset="-122"/>
                <a:cs typeface="Arial" pitchFamily="34" charset="-120"/>
              </a:rPr>
              <a:t>Диагональ таблицы: модели согласны (429 и 6). Вне диагонали: расходятся (4 и 11).</a:t>
            </a:r>
            <a:endParaRPr lang="en-US" sz="1400" dirty="0"/>
          </a:p>
        </p:txBody>
      </p:sp>
      <p:sp>
        <p:nvSpPr>
          <p:cNvPr id="17" name="Text 15"/>
          <p:cNvSpPr/>
          <p:nvPr/>
        </p:nvSpPr>
        <p:spPr>
          <a:xfrm>
            <a:off x="7366000" y="2524764"/>
            <a:ext cx="413359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Arial" pitchFamily="34" charset="0"/>
                <a:ea typeface="Arial" pitchFamily="34" charset="-122"/>
                <a:cs typeface="Arial" pitchFamily="34" charset="-120"/>
              </a:rPr>
              <a:t>Результат:</a:t>
            </a:r>
            <a:endParaRPr lang="en-US" sz="1200" dirty="0"/>
          </a:p>
        </p:txBody>
      </p:sp>
      <p:sp>
        <p:nvSpPr>
          <p:cNvPr id="18" name="Shape 16"/>
          <p:cNvSpPr/>
          <p:nvPr/>
        </p:nvSpPr>
        <p:spPr>
          <a:xfrm>
            <a:off x="7366000" y="2865121"/>
            <a:ext cx="4013200" cy="944880"/>
          </a:xfrm>
          <a:prstGeom prst="roundRect">
            <a:avLst>
              <a:gd name="adj" fmla="val 8065"/>
            </a:avLst>
          </a:prstGeom>
          <a:solidFill>
            <a:srgbClr val="15202B"/>
          </a:solidFill>
          <a:ln/>
        </p:spPr>
      </p:sp>
      <p:sp>
        <p:nvSpPr>
          <p:cNvPr id="19" name="Text 17"/>
          <p:cNvSpPr/>
          <p:nvPr/>
        </p:nvSpPr>
        <p:spPr>
          <a:xfrm>
            <a:off x="7543800" y="3017521"/>
            <a:ext cx="3767328"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DF3"/>
                </a:solidFill>
                <a:latin typeface="Courier New" pitchFamily="49" charset="0"/>
                <a:ea typeface="Courier New" pitchFamily="49" charset="-122"/>
                <a:cs typeface="Courier New" pitchFamily="49" charset="-120"/>
              </a:rPr>
              <a:t>[[429   4]</a:t>
            </a:r>
            <a:endParaRPr lang="en-US" sz="1200" dirty="0"/>
          </a:p>
        </p:txBody>
      </p:sp>
      <p:sp>
        <p:nvSpPr>
          <p:cNvPr id="20" name="Text 18"/>
          <p:cNvSpPr/>
          <p:nvPr/>
        </p:nvSpPr>
        <p:spPr>
          <a:xfrm>
            <a:off x="7543800" y="3230879"/>
            <a:ext cx="3767328"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DF3"/>
                </a:solidFill>
                <a:latin typeface="Courier New" pitchFamily="49" charset="0"/>
                <a:ea typeface="Courier New" pitchFamily="49" charset="-122"/>
                <a:cs typeface="Courier New" pitchFamily="49" charset="-120"/>
              </a:rPr>
              <a:t> [ 11   6]]</a:t>
            </a:r>
            <a:endParaRPr lang="en-US" sz="1200" dirty="0"/>
          </a:p>
        </p:txBody>
      </p:sp>
      <p:sp>
        <p:nvSpPr>
          <p:cNvPr id="21" name="Text 19"/>
          <p:cNvSpPr/>
          <p:nvPr/>
        </p:nvSpPr>
        <p:spPr>
          <a:xfrm>
            <a:off x="7543800" y="3444242"/>
            <a:ext cx="3767328"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DF3"/>
                </a:solidFill>
                <a:latin typeface="Courier New" pitchFamily="49" charset="0"/>
                <a:ea typeface="Courier New" pitchFamily="49" charset="-122"/>
                <a:cs typeface="Courier New" pitchFamily="49" charset="-120"/>
              </a:rPr>
              <a:t>p = 0.118</a:t>
            </a:r>
            <a:endParaRPr lang="en-US" sz="1200" dirty="0"/>
          </a:p>
        </p:txBody>
      </p:sp>
      <p:sp>
        <p:nvSpPr>
          <p:cNvPr id="22" name="Text 20"/>
          <p:cNvSpPr/>
          <p:nvPr/>
        </p:nvSpPr>
        <p:spPr>
          <a:xfrm>
            <a:off x="7366000" y="3937000"/>
            <a:ext cx="413359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F6670"/>
                </a:solidFill>
                <a:latin typeface="Arial" pitchFamily="34" charset="0"/>
                <a:ea typeface="Arial" pitchFamily="34" charset="-122"/>
                <a:cs typeface="Arial" pitchFamily="34" charset="-120"/>
              </a:rPr>
              <a:t>Расхождений меньше 25, поэтому использован точный тест.</a:t>
            </a:r>
            <a:endParaRPr lang="en-US" sz="1400" dirty="0"/>
          </a:p>
        </p:txBody>
      </p:sp>
      <p:sp>
        <p:nvSpPr>
          <p:cNvPr id="23" name="Text 21"/>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Arial" pitchFamily="34" charset="0"/>
                <a:ea typeface="Arial" pitchFamily="34" charset="-122"/>
                <a:cs typeface="Arial" pitchFamily="34" charset="-120"/>
              </a:rPr>
              <a:t>Значимость различий в качестве классификаторов</a:t>
            </a:r>
            <a:endParaRPr lang="en-US" sz="1200" dirty="0"/>
          </a:p>
        </p:txBody>
      </p:sp>
      <p:sp>
        <p:nvSpPr>
          <p:cNvPr id="24" name="Text 22"/>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0"/>
                </a:solidFill>
                <a:latin typeface="Arial" pitchFamily="34" charset="0"/>
                <a:ea typeface="Arial" pitchFamily="34" charset="-122"/>
                <a:cs typeface="Arial"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2B5"/>
                </a:solidFill>
                <a:latin typeface="Arial" pitchFamily="34" charset="0"/>
                <a:ea typeface="Arial" pitchFamily="34" charset="-122"/>
                <a:cs typeface="Arial" pitchFamily="34" charset="-120"/>
              </a:rPr>
              <a:t>03 · ГЛАВНЫЙ РЕЗУЛЬТАТ</a:t>
            </a:r>
            <a:endParaRPr lang="en-US" sz="1200" dirty="0"/>
          </a:p>
        </p:txBody>
      </p:sp>
      <p:sp>
        <p:nvSpPr>
          <p:cNvPr id="3" name="Text 1"/>
          <p:cNvSpPr/>
          <p:nvPr>
            <p:ph type="title"/>
          </p:nvPr>
        </p:nvSpPr>
        <p:spPr>
          <a:xfrm>
            <a:off x="812800" y="1229364"/>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A1A1A"/>
                </a:solidFill>
                <a:latin typeface="Arial" pitchFamily="34" charset="0"/>
                <a:ea typeface="Arial" pitchFamily="34" charset="-122"/>
                <a:cs typeface="Arial" pitchFamily="34" charset="-120"/>
              </a:rPr>
              <a:t>45 сравнений: наивный против corrected</a:t>
            </a:r>
            <a:endParaRPr lang="en-US" sz="3200" dirty="0"/>
          </a:p>
        </p:txBody>
      </p:sp>
      <p:pic>
        <p:nvPicPr>
          <p:cNvPr id="4" name="Image 0" descr="Диаграмма рассеяния: p-value наивного теста по горизонтали, p-value corrected теста по вертикали, 45 точек, все выше диагонали, 6 оранжевых квадратов между порогами 0.05">    </p:cNvPr>
          <p:cNvPicPr>
            <a:picLocks noChangeAspect="1"/>
          </p:cNvPicPr>
          <p:nvPr/>
        </p:nvPicPr>
        <p:blipFill>
          <a:blip r:embed="rId1"/>
          <a:srcRect l="0" r="0" t="-20" b="-20"/>
          <a:stretch/>
        </p:blipFill>
        <p:spPr>
          <a:xfrm>
            <a:off x="812800" y="1899921"/>
            <a:ext cx="4013200" cy="3556000"/>
          </a:xfrm>
          <a:prstGeom prst="rect">
            <a:avLst/>
          </a:prstGeom>
        </p:spPr>
      </p:pic>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140960" y="2296799"/>
          <a:ext cx="5704840" cy="2051050"/>
        </p:xfrm>
        <a:graphic>
          <a:graphicData uri="http://schemas.openxmlformats.org/drawingml/2006/table">
            <a:tbl>
              <a:tblPr/>
              <a:tblGrid>
                <a:gridCol w="3137662"/>
                <a:gridCol w="2567178"/>
              </a:tblGrid>
              <a:tr h="410210">
                <a:tc>
                  <a:txBody>
                    <a:bodyPr/>
                    <a:lstStyle/>
                    <a:p>
                      <a:pPr indent="0" marL="0">
                        <a:lnSpc>
                          <a:spcPts val="2100"/>
                        </a:lnSpc>
                        <a:buNone/>
                      </a:pPr>
                      <a:r>
                        <a:rPr lang="en-US" sz="1500" b="1" dirty="0">
                          <a:solidFill>
                            <a:srgbClr val="1A1A1A"/>
                          </a:solidFill>
                          <a:latin typeface="Arial" pitchFamily="34" charset="0"/>
                          <a:ea typeface="Arial" pitchFamily="34" charset="-122"/>
                          <a:cs typeface="Arial" pitchFamily="34" charset="-120"/>
                        </a:rPr>
                        <a:t>Тест</a:t>
                      </a:r>
                      <a:endParaRPr lang="en-US" sz="1500" dirty="0">
                        <a:latin typeface="Arial" charset="0"/>
                        <a:ea typeface="Arial" charset="0"/>
                        <a:cs typeface="Arial" charset="0"/>
                      </a:endParaRPr>
                    </a:p>
                  </a:txBody>
                  <a:tcPr marL="66675" marR="66675" marT="66675" marB="66675" anchor="t">
                    <a:lnL w="12700" cap="flat" cmpd="sng" algn="ctr">
                      <a:solidFill>
                        <a:srgbClr val="C8C8C6"/>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algn="r" indent="0" marL="0">
                        <a:lnSpc>
                          <a:spcPts val="2100"/>
                        </a:lnSpc>
                        <a:buNone/>
                      </a:pPr>
                      <a:r>
                        <a:rPr lang="en-US" sz="1500" b="1" dirty="0">
                          <a:solidFill>
                            <a:srgbClr val="1A1A1A"/>
                          </a:solidFill>
                          <a:latin typeface="Arial" pitchFamily="34" charset="0"/>
                          <a:ea typeface="Arial" pitchFamily="34" charset="-122"/>
                          <a:cs typeface="Arial" pitchFamily="34" charset="-120"/>
                        </a:rPr>
                        <a:t>Значимо из 45</a:t>
                      </a:r>
                      <a:endParaRPr lang="en-US" sz="1500" dirty="0">
                        <a:latin typeface="Arial" charset="0"/>
                        <a:ea typeface="Arial" charset="0"/>
                        <a:cs typeface="Arial" charset="0"/>
                      </a:endParaRPr>
                    </a:p>
                  </a:txBody>
                  <a:tcPr marL="66675" marR="66675" marT="66675" marB="66675"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r>
              <a:tr h="410210">
                <a:tc>
                  <a:txBody>
                    <a:bodyPr/>
                    <a:lstStyle/>
                    <a:p>
                      <a:pPr indent="0" marL="0">
                        <a:lnSpc>
                          <a:spcPts val="2100"/>
                        </a:lnSpc>
                        <a:buNone/>
                      </a:pPr>
                      <a:r>
                        <a:rPr lang="en-US" sz="1500" dirty="0">
                          <a:solidFill>
                            <a:srgbClr val="1A1A1A"/>
                          </a:solidFill>
                          <a:latin typeface="Arial" pitchFamily="34" charset="0"/>
                          <a:ea typeface="Arial" pitchFamily="34" charset="-122"/>
                          <a:cs typeface="Arial" pitchFamily="34" charset="-120"/>
                        </a:rPr>
                        <a:t>Наивный</a:t>
                      </a:r>
                      <a:endParaRPr lang="en-US" sz="1500" dirty="0">
                        <a:latin typeface="Arial" charset="0"/>
                        <a:ea typeface="Arial" charset="0"/>
                        <a:cs typeface="Arial" charset="0"/>
                      </a:endParaRPr>
                    </a:p>
                  </a:txBody>
                  <a:tcPr marL="66675" marR="66675" marT="66675" marB="6667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2100"/>
                        </a:lnSpc>
                        <a:buNone/>
                      </a:pPr>
                      <a:r>
                        <a:rPr lang="en-US" sz="1500" dirty="0">
                          <a:solidFill>
                            <a:srgbClr val="1A1A1A"/>
                          </a:solidFill>
                          <a:latin typeface="Arial" pitchFamily="34" charset="0"/>
                          <a:ea typeface="Arial" pitchFamily="34" charset="-122"/>
                          <a:cs typeface="Arial" pitchFamily="34" charset="-120"/>
                        </a:rPr>
                        <a:t>20</a:t>
                      </a:r>
                      <a:endParaRPr lang="en-US" sz="1500" dirty="0">
                        <a:latin typeface="Arial" charset="0"/>
                        <a:ea typeface="Arial" charset="0"/>
                        <a:cs typeface="Arial" charset="0"/>
                      </a:endParaRPr>
                    </a:p>
                  </a:txBody>
                  <a:tcPr marL="66675" marR="66675" marT="66675" marB="6667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410210">
                <a:tc>
                  <a:txBody>
                    <a:bodyPr/>
                    <a:lstStyle/>
                    <a:p>
                      <a:pPr indent="0" marL="0">
                        <a:lnSpc>
                          <a:spcPts val="2100"/>
                        </a:lnSpc>
                        <a:buNone/>
                      </a:pPr>
                      <a:r>
                        <a:rPr lang="en-US" sz="1500" dirty="0">
                          <a:solidFill>
                            <a:srgbClr val="1A1A1A"/>
                          </a:solidFill>
                          <a:latin typeface="Arial" pitchFamily="34" charset="0"/>
                          <a:ea typeface="Arial" pitchFamily="34" charset="-122"/>
                          <a:cs typeface="Arial" pitchFamily="34" charset="-120"/>
                        </a:rPr>
                        <a:t>Corrected</a:t>
                      </a:r>
                      <a:endParaRPr lang="en-US" sz="1500" dirty="0">
                        <a:latin typeface="Arial" charset="0"/>
                        <a:ea typeface="Arial" charset="0"/>
                        <a:cs typeface="Arial" charset="0"/>
                      </a:endParaRPr>
                    </a:p>
                  </a:txBody>
                  <a:tcPr marL="66675" marR="66675" marT="66675" marB="6667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2100"/>
                        </a:lnSpc>
                        <a:buNone/>
                      </a:pPr>
                      <a:r>
                        <a:rPr lang="en-US" sz="1500" dirty="0">
                          <a:solidFill>
                            <a:srgbClr val="1A1A1A"/>
                          </a:solidFill>
                          <a:latin typeface="Arial" pitchFamily="34" charset="0"/>
                          <a:ea typeface="Arial" pitchFamily="34" charset="-122"/>
                          <a:cs typeface="Arial" pitchFamily="34" charset="-120"/>
                        </a:rPr>
                        <a:t>14</a:t>
                      </a:r>
                      <a:endParaRPr lang="en-US" sz="1500" dirty="0">
                        <a:latin typeface="Arial" charset="0"/>
                        <a:ea typeface="Arial" charset="0"/>
                        <a:cs typeface="Arial" charset="0"/>
                      </a:endParaRPr>
                    </a:p>
                  </a:txBody>
                  <a:tcPr marL="66675" marR="66675" marT="66675" marB="6667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410210">
                <a:tc>
                  <a:txBody>
                    <a:bodyPr/>
                    <a:lstStyle/>
                    <a:p>
                      <a:pPr indent="0" marL="0">
                        <a:lnSpc>
                          <a:spcPts val="2100"/>
                        </a:lnSpc>
                        <a:buNone/>
                      </a:pPr>
                      <a:r>
                        <a:rPr lang="en-US" sz="1500" dirty="0">
                          <a:solidFill>
                            <a:srgbClr val="1A1A1A"/>
                          </a:solidFill>
                          <a:latin typeface="Arial" pitchFamily="34" charset="0"/>
                          <a:ea typeface="Arial" pitchFamily="34" charset="-122"/>
                          <a:cs typeface="Arial" pitchFamily="34" charset="-120"/>
                        </a:rPr>
                        <a:t>5×2cv</a:t>
                      </a:r>
                      <a:endParaRPr lang="en-US" sz="1500" dirty="0">
                        <a:latin typeface="Arial" charset="0"/>
                        <a:ea typeface="Arial" charset="0"/>
                        <a:cs typeface="Arial" charset="0"/>
                      </a:endParaRPr>
                    </a:p>
                  </a:txBody>
                  <a:tcPr marL="66675" marR="66675" marT="66675" marB="6667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2100"/>
                        </a:lnSpc>
                        <a:buNone/>
                      </a:pPr>
                      <a:r>
                        <a:rPr lang="en-US" sz="1500" dirty="0">
                          <a:solidFill>
                            <a:srgbClr val="1A1A1A"/>
                          </a:solidFill>
                          <a:latin typeface="Arial" pitchFamily="34" charset="0"/>
                          <a:ea typeface="Arial" pitchFamily="34" charset="-122"/>
                          <a:cs typeface="Arial" pitchFamily="34" charset="-120"/>
                        </a:rPr>
                        <a:t>9</a:t>
                      </a:r>
                      <a:endParaRPr lang="en-US" sz="1500" dirty="0">
                        <a:latin typeface="Arial" charset="0"/>
                        <a:ea typeface="Arial" charset="0"/>
                        <a:cs typeface="Arial" charset="0"/>
                      </a:endParaRPr>
                    </a:p>
                  </a:txBody>
                  <a:tcPr marL="66675" marR="66675" marT="66675" marB="6667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410210">
                <a:tc>
                  <a:txBody>
                    <a:bodyPr/>
                    <a:lstStyle/>
                    <a:p>
                      <a:pPr indent="0" marL="0">
                        <a:lnSpc>
                          <a:spcPts val="2100"/>
                        </a:lnSpc>
                        <a:buNone/>
                      </a:pPr>
                      <a:r>
                        <a:rPr lang="en-US" sz="1500" dirty="0">
                          <a:solidFill>
                            <a:srgbClr val="1A1A1A"/>
                          </a:solidFill>
                          <a:latin typeface="Arial" pitchFamily="34" charset="0"/>
                          <a:ea typeface="Arial" pitchFamily="34" charset="-122"/>
                          <a:cs typeface="Arial" pitchFamily="34" charset="-120"/>
                        </a:rPr>
                        <a:t>McNemar</a:t>
                      </a:r>
                      <a:endParaRPr lang="en-US" sz="1500" dirty="0">
                        <a:latin typeface="Arial" charset="0"/>
                        <a:ea typeface="Arial" charset="0"/>
                        <a:cs typeface="Arial" charset="0"/>
                      </a:endParaRPr>
                    </a:p>
                  </a:txBody>
                  <a:tcPr marL="66675" marR="66675" marT="66675" marB="6667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2100"/>
                        </a:lnSpc>
                        <a:buNone/>
                      </a:pPr>
                      <a:r>
                        <a:rPr lang="en-US" sz="1500" dirty="0">
                          <a:solidFill>
                            <a:srgbClr val="1A1A1A"/>
                          </a:solidFill>
                          <a:latin typeface="Arial" pitchFamily="34" charset="0"/>
                          <a:ea typeface="Arial" pitchFamily="34" charset="-122"/>
                          <a:cs typeface="Arial" pitchFamily="34" charset="-120"/>
                        </a:rPr>
                        <a:t>7</a:t>
                      </a:r>
                      <a:endParaRPr lang="en-US" sz="1500" dirty="0">
                        <a:latin typeface="Arial" charset="0"/>
                        <a:ea typeface="Arial" charset="0"/>
                        <a:cs typeface="Arial" charset="0"/>
                      </a:endParaRPr>
                    </a:p>
                  </a:txBody>
                  <a:tcPr marL="66675" marR="66675" marT="66675" marB="6667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bl>
          </a:graphicData>
        </a:graphic>
      </p:graphicFrame>
      <p:sp>
        <p:nvSpPr>
          <p:cNvPr id="6" name="Text 2"/>
          <p:cNvSpPr/>
          <p:nvPr/>
        </p:nvSpPr>
        <p:spPr>
          <a:xfrm>
            <a:off x="5130800" y="4500246"/>
            <a:ext cx="643585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A1A1A"/>
                </a:solidFill>
                <a:latin typeface="Arial" pitchFamily="34" charset="0"/>
                <a:ea typeface="Arial" pitchFamily="34" charset="-122"/>
                <a:cs typeface="Arial" pitchFamily="34" charset="-120"/>
              </a:rPr>
              <a:t>Corrected p больше наивного во всех 45 случаях. В 6 случаях (оранжевые) вывод меняется со «значимо» на «не значимо».</a:t>
            </a:r>
            <a:endParaRPr lang="en-US" sz="1600" dirty="0"/>
          </a:p>
        </p:txBody>
      </p:sp>
      <p:sp>
        <p:nvSpPr>
          <p:cNvPr id="7" name="Text 3"/>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Arial" pitchFamily="34" charset="0"/>
                <a:ea typeface="Arial" pitchFamily="34" charset="-122"/>
                <a:cs typeface="Arial" pitchFamily="34" charset="-120"/>
              </a:rPr>
              <a:t>Значимость различий в качестве классификаторов</a:t>
            </a:r>
            <a:endParaRPr lang="en-US" sz="1200" dirty="0"/>
          </a:p>
        </p:txBody>
      </p:sp>
      <p:sp>
        <p:nvSpPr>
          <p:cNvPr id="8" name="Text 4"/>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0"/>
                </a:solidFill>
                <a:latin typeface="Arial" pitchFamily="34" charset="0"/>
                <a:ea typeface="Arial" pitchFamily="34" charset="-122"/>
                <a:cs typeface="Arial"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2B5"/>
                </a:solidFill>
                <a:latin typeface="Arial" pitchFamily="34" charset="0"/>
                <a:ea typeface="Arial" pitchFamily="34" charset="-122"/>
                <a:cs typeface="Arial" pitchFamily="34" charset="-120"/>
              </a:rPr>
              <a:t>03 · ГЛАВНЫЙ РЕЗУЛЬТАТ</a:t>
            </a:r>
            <a:endParaRPr lang="en-US" sz="1200" dirty="0"/>
          </a:p>
        </p:txBody>
      </p:sp>
      <p:sp>
        <p:nvSpPr>
          <p:cNvPr id="3" name="Text 1"/>
          <p:cNvSpPr/>
          <p:nvPr>
            <p:ph type="title"/>
          </p:nvPr>
        </p:nvSpPr>
        <p:spPr>
          <a:xfrm>
            <a:off x="812800" y="1229364"/>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A1A1A"/>
                </a:solidFill>
                <a:latin typeface="Arial" pitchFamily="34" charset="0"/>
                <a:ea typeface="Arial" pitchFamily="34" charset="-122"/>
                <a:cs typeface="Arial" pitchFamily="34" charset="-120"/>
              </a:rPr>
              <a:t>Код: функция сравнения пар</a:t>
            </a:r>
            <a:endParaRPr lang="en-US" sz="3200" dirty="0"/>
          </a:p>
        </p:txBody>
      </p:sp>
      <p:sp>
        <p:nvSpPr>
          <p:cNvPr id="4" name="Shape 2"/>
          <p:cNvSpPr/>
          <p:nvPr/>
        </p:nvSpPr>
        <p:spPr>
          <a:xfrm>
            <a:off x="815975" y="1903096"/>
            <a:ext cx="5175250" cy="3133090"/>
          </a:xfrm>
          <a:prstGeom prst="roundRect">
            <a:avLst>
              <a:gd name="adj" fmla="val 2331"/>
            </a:avLst>
          </a:prstGeom>
          <a:solidFill>
            <a:srgbClr val="F1F1EC"/>
          </a:solidFill>
          <a:ln w="6350">
            <a:solidFill>
              <a:srgbClr val="DEDED6"/>
            </a:solidFill>
            <a:prstDash val="solid"/>
          </a:ln>
        </p:spPr>
      </p:sp>
      <p:sp>
        <p:nvSpPr>
          <p:cNvPr id="5" name="Text 3"/>
          <p:cNvSpPr/>
          <p:nvPr/>
        </p:nvSpPr>
        <p:spPr>
          <a:xfrm>
            <a:off x="1021080" y="2082800"/>
            <a:ext cx="4907991"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6639B7"/>
                </a:solidFill>
                <a:latin typeface="Courier New" pitchFamily="49" charset="0"/>
                <a:ea typeface="Courier New" pitchFamily="49" charset="-122"/>
                <a:cs typeface="Courier New" pitchFamily="49" charset="-120"/>
              </a:rPr>
              <a:t>def</a:t>
            </a:r>
            <a:r>
              <a:rPr lang="en-US" sz="1200" dirty="0">
                <a:solidFill>
                  <a:srgbClr val="1A1A1A"/>
                </a:solidFill>
                <a:latin typeface="Courier New" pitchFamily="49" charset="0"/>
                <a:ea typeface="Courier New" pitchFamily="49" charset="-122"/>
                <a:cs typeface="Courier New" pitchFamily="49" charset="-120"/>
              </a:rPr>
              <a:t> compare_pair(ds_name, name_a, name_b):</a:t>
            </a:r>
            <a:endParaRPr lang="en-US" sz="1200" dirty="0"/>
          </a:p>
        </p:txBody>
      </p:sp>
      <p:sp>
        <p:nvSpPr>
          <p:cNvPr id="6" name="Text 4"/>
          <p:cNvSpPr/>
          <p:nvPr/>
        </p:nvSpPr>
        <p:spPr>
          <a:xfrm>
            <a:off x="1389380" y="2296164"/>
            <a:ext cx="4528642"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X, y = datasets[ds_name]</a:t>
            </a:r>
            <a:endParaRPr lang="en-US" sz="1200" dirty="0"/>
          </a:p>
        </p:txBody>
      </p:sp>
      <p:sp>
        <p:nvSpPr>
          <p:cNvPr id="7" name="Text 5"/>
          <p:cNvSpPr/>
          <p:nvPr/>
        </p:nvSpPr>
        <p:spPr>
          <a:xfrm>
            <a:off x="1389380" y="2509521"/>
            <a:ext cx="4528642"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models = make_models(X)</a:t>
            </a:r>
            <a:endParaRPr lang="en-US" sz="1200" dirty="0"/>
          </a:p>
        </p:txBody>
      </p:sp>
      <p:sp>
        <p:nvSpPr>
          <p:cNvPr id="8" name="Text 6"/>
          <p:cNvSpPr/>
          <p:nvPr/>
        </p:nvSpPr>
        <p:spPr>
          <a:xfrm>
            <a:off x="1389380" y="2722879"/>
            <a:ext cx="4528642"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sa = results[ds_name][name_a]</a:t>
            </a:r>
            <a:endParaRPr lang="en-US" sz="1200" dirty="0"/>
          </a:p>
        </p:txBody>
      </p:sp>
      <p:sp>
        <p:nvSpPr>
          <p:cNvPr id="9" name="Text 7"/>
          <p:cNvSpPr/>
          <p:nvPr/>
        </p:nvSpPr>
        <p:spPr>
          <a:xfrm>
            <a:off x="1389380" y="2936242"/>
            <a:ext cx="4528642"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sb = results[ds_name][name_b]</a:t>
            </a:r>
            <a:endParaRPr lang="en-US" sz="1200" dirty="0"/>
          </a:p>
        </p:txBody>
      </p:sp>
      <p:sp>
        <p:nvSpPr>
          <p:cNvPr id="10" name="Text 8"/>
          <p:cNvSpPr/>
          <p:nvPr/>
        </p:nvSpPr>
        <p:spPr>
          <a:xfrm>
            <a:off x="1389380" y="3362964"/>
            <a:ext cx="4528642"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p_naive = stats.ttest_rel(sa, sb).pvalue</a:t>
            </a:r>
            <a:endParaRPr lang="en-US" sz="1200" dirty="0"/>
          </a:p>
        </p:txBody>
      </p:sp>
      <p:sp>
        <p:nvSpPr>
          <p:cNvPr id="11" name="Text 9"/>
          <p:cNvSpPr/>
          <p:nvPr/>
        </p:nvSpPr>
        <p:spPr>
          <a:xfrm>
            <a:off x="1389380" y="3576321"/>
            <a:ext cx="4528642"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p_corr = corrected_ttest_p(sa, sb)</a:t>
            </a:r>
            <a:endParaRPr lang="en-US" sz="1200" dirty="0"/>
          </a:p>
        </p:txBody>
      </p:sp>
      <p:sp>
        <p:nvSpPr>
          <p:cNvPr id="12" name="Text 10"/>
          <p:cNvSpPr/>
          <p:nvPr/>
        </p:nvSpPr>
        <p:spPr>
          <a:xfrm>
            <a:off x="1389380" y="4003042"/>
            <a:ext cx="4528642"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p_5x2 = np.median([</a:t>
            </a:r>
            <a:endParaRPr lang="en-US" sz="1200" dirty="0"/>
          </a:p>
        </p:txBody>
      </p:sp>
      <p:sp>
        <p:nvSpPr>
          <p:cNvPr id="13" name="Text 11"/>
          <p:cNvSpPr/>
          <p:nvPr/>
        </p:nvSpPr>
        <p:spPr>
          <a:xfrm>
            <a:off x="1751330" y="4216400"/>
            <a:ext cx="415583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five_by_two_p(models[name_a],</a:t>
            </a:r>
            <a:endParaRPr lang="en-US" sz="1200" dirty="0"/>
          </a:p>
        </p:txBody>
      </p:sp>
      <p:sp>
        <p:nvSpPr>
          <p:cNvPr id="14" name="Text 12"/>
          <p:cNvSpPr/>
          <p:nvPr/>
        </p:nvSpPr>
        <p:spPr>
          <a:xfrm>
            <a:off x="1751330" y="4429764"/>
            <a:ext cx="415583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models[name_b], X, y, s)</a:t>
            </a:r>
            <a:endParaRPr lang="en-US" sz="1200" dirty="0"/>
          </a:p>
        </p:txBody>
      </p:sp>
      <p:sp>
        <p:nvSpPr>
          <p:cNvPr id="15" name="Text 13"/>
          <p:cNvSpPr/>
          <p:nvPr/>
        </p:nvSpPr>
        <p:spPr>
          <a:xfrm>
            <a:off x="1751330" y="4643121"/>
            <a:ext cx="415583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6639B7"/>
                </a:solidFill>
                <a:latin typeface="Courier New" pitchFamily="49" charset="0"/>
                <a:ea typeface="Courier New" pitchFamily="49" charset="-122"/>
                <a:cs typeface="Courier New" pitchFamily="49" charset="-120"/>
              </a:rPr>
              <a:t>for</a:t>
            </a:r>
            <a:r>
              <a:rPr lang="en-US" sz="1200" dirty="0">
                <a:solidFill>
                  <a:srgbClr val="1A1A1A"/>
                </a:solidFill>
                <a:latin typeface="Courier New" pitchFamily="49" charset="0"/>
                <a:ea typeface="Courier New" pitchFamily="49" charset="-122"/>
                <a:cs typeface="Courier New" pitchFamily="49" charset="-120"/>
              </a:rPr>
              <a:t> s </a:t>
            </a:r>
            <a:r>
              <a:rPr lang="en-US" sz="1200" dirty="0">
                <a:solidFill>
                  <a:srgbClr val="6639B7"/>
                </a:solidFill>
                <a:latin typeface="Courier New" pitchFamily="49" charset="0"/>
                <a:ea typeface="Courier New" pitchFamily="49" charset="-122"/>
                <a:cs typeface="Courier New" pitchFamily="49" charset="-120"/>
              </a:rPr>
              <a:t>in</a:t>
            </a:r>
            <a:r>
              <a:rPr lang="en-US" sz="1200" dirty="0">
                <a:solidFill>
                  <a:srgbClr val="1A1A1A"/>
                </a:solidFill>
                <a:latin typeface="Courier New" pitchFamily="49" charset="0"/>
                <a:ea typeface="Courier New" pitchFamily="49" charset="-122"/>
                <a:cs typeface="Courier New" pitchFamily="49" charset="-120"/>
              </a:rPr>
              <a:t> range(5)])</a:t>
            </a:r>
            <a:endParaRPr lang="en-US" sz="1200" dirty="0"/>
          </a:p>
        </p:txBody>
      </p:sp>
      <p:sp>
        <p:nvSpPr>
          <p:cNvPr id="16" name="Shape 14"/>
          <p:cNvSpPr/>
          <p:nvPr/>
        </p:nvSpPr>
        <p:spPr>
          <a:xfrm>
            <a:off x="6200775" y="1903096"/>
            <a:ext cx="5175250" cy="3133090"/>
          </a:xfrm>
          <a:prstGeom prst="roundRect">
            <a:avLst>
              <a:gd name="adj" fmla="val 2331"/>
            </a:avLst>
          </a:prstGeom>
          <a:solidFill>
            <a:srgbClr val="F1F1EC"/>
          </a:solidFill>
          <a:ln w="6350">
            <a:solidFill>
              <a:srgbClr val="DEDED6"/>
            </a:solidFill>
            <a:prstDash val="solid"/>
          </a:ln>
        </p:spPr>
      </p:sp>
      <p:sp>
        <p:nvSpPr>
          <p:cNvPr id="17" name="Text 15"/>
          <p:cNvSpPr/>
          <p:nvPr/>
        </p:nvSpPr>
        <p:spPr>
          <a:xfrm>
            <a:off x="6774180" y="2082800"/>
            <a:ext cx="4528642"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p_mc = np.median([</a:t>
            </a:r>
            <a:endParaRPr lang="en-US" sz="1200" dirty="0"/>
          </a:p>
        </p:txBody>
      </p:sp>
      <p:sp>
        <p:nvSpPr>
          <p:cNvPr id="18" name="Text 16"/>
          <p:cNvSpPr/>
          <p:nvPr/>
        </p:nvSpPr>
        <p:spPr>
          <a:xfrm>
            <a:off x="7136130" y="2296164"/>
            <a:ext cx="415583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mcnemar_p(models[name_a],</a:t>
            </a:r>
            <a:endParaRPr lang="en-US" sz="1200" dirty="0"/>
          </a:p>
        </p:txBody>
      </p:sp>
      <p:sp>
        <p:nvSpPr>
          <p:cNvPr id="19" name="Text 17"/>
          <p:cNvSpPr/>
          <p:nvPr/>
        </p:nvSpPr>
        <p:spPr>
          <a:xfrm>
            <a:off x="7136130" y="2509521"/>
            <a:ext cx="415583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models[name_b], X, y, s)[0]</a:t>
            </a:r>
            <a:endParaRPr lang="en-US" sz="1200" dirty="0"/>
          </a:p>
        </p:txBody>
      </p:sp>
      <p:sp>
        <p:nvSpPr>
          <p:cNvPr id="20" name="Text 18"/>
          <p:cNvSpPr/>
          <p:nvPr/>
        </p:nvSpPr>
        <p:spPr>
          <a:xfrm>
            <a:off x="7136130" y="2722879"/>
            <a:ext cx="415583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6639B7"/>
                </a:solidFill>
                <a:latin typeface="Courier New" pitchFamily="49" charset="0"/>
                <a:ea typeface="Courier New" pitchFamily="49" charset="-122"/>
                <a:cs typeface="Courier New" pitchFamily="49" charset="-120"/>
              </a:rPr>
              <a:t>for</a:t>
            </a:r>
            <a:r>
              <a:rPr lang="en-US" sz="1200" dirty="0">
                <a:solidFill>
                  <a:srgbClr val="1A1A1A"/>
                </a:solidFill>
                <a:latin typeface="Courier New" pitchFamily="49" charset="0"/>
                <a:ea typeface="Courier New" pitchFamily="49" charset="-122"/>
                <a:cs typeface="Courier New" pitchFamily="49" charset="-120"/>
              </a:rPr>
              <a:t> s </a:t>
            </a:r>
            <a:r>
              <a:rPr lang="en-US" sz="1200" dirty="0">
                <a:solidFill>
                  <a:srgbClr val="6639B7"/>
                </a:solidFill>
                <a:latin typeface="Courier New" pitchFamily="49" charset="0"/>
                <a:ea typeface="Courier New" pitchFamily="49" charset="-122"/>
                <a:cs typeface="Courier New" pitchFamily="49" charset="-120"/>
              </a:rPr>
              <a:t>in</a:t>
            </a:r>
            <a:r>
              <a:rPr lang="en-US" sz="1200" dirty="0">
                <a:solidFill>
                  <a:srgbClr val="1A1A1A"/>
                </a:solidFill>
                <a:latin typeface="Courier New" pitchFamily="49" charset="0"/>
                <a:ea typeface="Courier New" pitchFamily="49" charset="-122"/>
                <a:cs typeface="Courier New" pitchFamily="49" charset="-120"/>
              </a:rPr>
              <a:t> range(10)])</a:t>
            </a:r>
            <a:endParaRPr lang="en-US" sz="1200" dirty="0"/>
          </a:p>
        </p:txBody>
      </p:sp>
      <p:sp>
        <p:nvSpPr>
          <p:cNvPr id="21" name="Text 19"/>
          <p:cNvSpPr/>
          <p:nvPr/>
        </p:nvSpPr>
        <p:spPr>
          <a:xfrm>
            <a:off x="6774180" y="3149600"/>
            <a:ext cx="4528642"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6639B7"/>
                </a:solidFill>
                <a:latin typeface="Courier New" pitchFamily="49" charset="0"/>
                <a:ea typeface="Courier New" pitchFamily="49" charset="-122"/>
                <a:cs typeface="Courier New" pitchFamily="49" charset="-120"/>
              </a:rPr>
              <a:t>return</a:t>
            </a:r>
            <a:r>
              <a:rPr lang="en-US" sz="1200" dirty="0">
                <a:solidFill>
                  <a:srgbClr val="1A1A1A"/>
                </a:solidFill>
                <a:latin typeface="Courier New" pitchFamily="49" charset="0"/>
                <a:ea typeface="Courier New" pitchFamily="49" charset="-122"/>
                <a:cs typeface="Courier New" pitchFamily="49" charset="-120"/>
              </a:rPr>
              <a:t> {</a:t>
            </a:r>
            <a:r>
              <a:rPr lang="en-US" sz="1200" dirty="0">
                <a:solidFill>
                  <a:srgbClr val="116329"/>
                </a:solidFill>
                <a:latin typeface="Courier New" pitchFamily="49" charset="0"/>
                <a:ea typeface="Courier New" pitchFamily="49" charset="-122"/>
                <a:cs typeface="Courier New" pitchFamily="49" charset="-120"/>
              </a:rPr>
              <a:t>"dataset"</a:t>
            </a:r>
            <a:r>
              <a:rPr lang="en-US" sz="1200" dirty="0">
                <a:solidFill>
                  <a:srgbClr val="1A1A1A"/>
                </a:solidFill>
                <a:latin typeface="Courier New" pitchFamily="49" charset="0"/>
                <a:ea typeface="Courier New" pitchFamily="49" charset="-122"/>
                <a:cs typeface="Courier New" pitchFamily="49" charset="-120"/>
              </a:rPr>
              <a:t>: ds_name,</a:t>
            </a:r>
            <a:endParaRPr lang="en-US" sz="1200" dirty="0"/>
          </a:p>
        </p:txBody>
      </p:sp>
      <p:sp>
        <p:nvSpPr>
          <p:cNvPr id="22" name="Text 20"/>
          <p:cNvSpPr/>
          <p:nvPr/>
        </p:nvSpPr>
        <p:spPr>
          <a:xfrm>
            <a:off x="7504430" y="3362964"/>
            <a:ext cx="3776485"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16329"/>
                </a:solidFill>
                <a:latin typeface="Courier New" pitchFamily="49" charset="0"/>
                <a:ea typeface="Courier New" pitchFamily="49" charset="-122"/>
                <a:cs typeface="Courier New" pitchFamily="49" charset="-120"/>
              </a:rPr>
              <a:t>"pair"</a:t>
            </a:r>
            <a:r>
              <a:rPr lang="en-US" sz="1200" dirty="0">
                <a:solidFill>
                  <a:srgbClr val="1A1A1A"/>
                </a:solidFill>
                <a:latin typeface="Courier New" pitchFamily="49" charset="0"/>
                <a:ea typeface="Courier New" pitchFamily="49" charset="-122"/>
                <a:cs typeface="Courier New" pitchFamily="49" charset="-120"/>
              </a:rPr>
              <a:t>: f</a:t>
            </a:r>
            <a:r>
              <a:rPr lang="en-US" sz="1200" dirty="0">
                <a:solidFill>
                  <a:srgbClr val="116329"/>
                </a:solidFill>
                <a:latin typeface="Courier New" pitchFamily="49" charset="0"/>
                <a:ea typeface="Courier New" pitchFamily="49" charset="-122"/>
                <a:cs typeface="Courier New" pitchFamily="49" charset="-120"/>
              </a:rPr>
              <a:t>"{name_a} vs {name_b}"</a:t>
            </a:r>
            <a:r>
              <a:rPr lang="en-US" sz="1200" dirty="0">
                <a:solidFill>
                  <a:srgbClr val="1A1A1A"/>
                </a:solidFill>
                <a:latin typeface="Courier New" pitchFamily="49" charset="0"/>
                <a:ea typeface="Courier New" pitchFamily="49" charset="-122"/>
                <a:cs typeface="Courier New" pitchFamily="49" charset="-120"/>
              </a:rPr>
              <a:t>,</a:t>
            </a:r>
            <a:endParaRPr lang="en-US" sz="1200" dirty="0"/>
          </a:p>
        </p:txBody>
      </p:sp>
      <p:sp>
        <p:nvSpPr>
          <p:cNvPr id="23" name="Text 21"/>
          <p:cNvSpPr/>
          <p:nvPr/>
        </p:nvSpPr>
        <p:spPr>
          <a:xfrm>
            <a:off x="7504430" y="3576321"/>
            <a:ext cx="3776485"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16329"/>
                </a:solidFill>
                <a:latin typeface="Courier New" pitchFamily="49" charset="0"/>
                <a:ea typeface="Courier New" pitchFamily="49" charset="-122"/>
                <a:cs typeface="Courier New" pitchFamily="49" charset="-120"/>
              </a:rPr>
              <a:t>"p_naive"</a:t>
            </a:r>
            <a:r>
              <a:rPr lang="en-US" sz="1200" dirty="0">
                <a:solidFill>
                  <a:srgbClr val="1A1A1A"/>
                </a:solidFill>
                <a:latin typeface="Courier New" pitchFamily="49" charset="0"/>
                <a:ea typeface="Courier New" pitchFamily="49" charset="-122"/>
                <a:cs typeface="Courier New" pitchFamily="49" charset="-120"/>
              </a:rPr>
              <a:t>: p_naive,</a:t>
            </a:r>
            <a:endParaRPr lang="en-US" sz="1200" dirty="0"/>
          </a:p>
        </p:txBody>
      </p:sp>
      <p:sp>
        <p:nvSpPr>
          <p:cNvPr id="24" name="Text 22"/>
          <p:cNvSpPr/>
          <p:nvPr/>
        </p:nvSpPr>
        <p:spPr>
          <a:xfrm>
            <a:off x="7504430" y="3789679"/>
            <a:ext cx="3776485"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16329"/>
                </a:solidFill>
                <a:latin typeface="Courier New" pitchFamily="49" charset="0"/>
                <a:ea typeface="Courier New" pitchFamily="49" charset="-122"/>
                <a:cs typeface="Courier New" pitchFamily="49" charset="-120"/>
              </a:rPr>
              <a:t>"p_corrected"</a:t>
            </a:r>
            <a:r>
              <a:rPr lang="en-US" sz="1200" dirty="0">
                <a:solidFill>
                  <a:srgbClr val="1A1A1A"/>
                </a:solidFill>
                <a:latin typeface="Courier New" pitchFamily="49" charset="0"/>
                <a:ea typeface="Courier New" pitchFamily="49" charset="-122"/>
                <a:cs typeface="Courier New" pitchFamily="49" charset="-120"/>
              </a:rPr>
              <a:t>: p_corr,</a:t>
            </a:r>
            <a:endParaRPr lang="en-US" sz="1200" dirty="0"/>
          </a:p>
        </p:txBody>
      </p:sp>
      <p:sp>
        <p:nvSpPr>
          <p:cNvPr id="25" name="Text 23"/>
          <p:cNvSpPr/>
          <p:nvPr/>
        </p:nvSpPr>
        <p:spPr>
          <a:xfrm>
            <a:off x="7504430" y="4003042"/>
            <a:ext cx="3776485"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16329"/>
                </a:solidFill>
                <a:latin typeface="Courier New" pitchFamily="49" charset="0"/>
                <a:ea typeface="Courier New" pitchFamily="49" charset="-122"/>
                <a:cs typeface="Courier New" pitchFamily="49" charset="-120"/>
              </a:rPr>
              <a:t>"p_5x2cv"</a:t>
            </a:r>
            <a:r>
              <a:rPr lang="en-US" sz="1200" dirty="0">
                <a:solidFill>
                  <a:srgbClr val="1A1A1A"/>
                </a:solidFill>
                <a:latin typeface="Courier New" pitchFamily="49" charset="0"/>
                <a:ea typeface="Courier New" pitchFamily="49" charset="-122"/>
                <a:cs typeface="Courier New" pitchFamily="49" charset="-120"/>
              </a:rPr>
              <a:t>: p_5x2,</a:t>
            </a:r>
            <a:endParaRPr lang="en-US" sz="1200" dirty="0"/>
          </a:p>
        </p:txBody>
      </p:sp>
      <p:sp>
        <p:nvSpPr>
          <p:cNvPr id="26" name="Text 24"/>
          <p:cNvSpPr/>
          <p:nvPr/>
        </p:nvSpPr>
        <p:spPr>
          <a:xfrm>
            <a:off x="7504430" y="4216400"/>
            <a:ext cx="3776485"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16329"/>
                </a:solidFill>
                <a:latin typeface="Courier New" pitchFamily="49" charset="0"/>
                <a:ea typeface="Courier New" pitchFamily="49" charset="-122"/>
                <a:cs typeface="Courier New" pitchFamily="49" charset="-120"/>
              </a:rPr>
              <a:t>"p_mcnemar"</a:t>
            </a:r>
            <a:r>
              <a:rPr lang="en-US" sz="1200" dirty="0">
                <a:solidFill>
                  <a:srgbClr val="1A1A1A"/>
                </a:solidFill>
                <a:latin typeface="Courier New" pitchFamily="49" charset="0"/>
                <a:ea typeface="Courier New" pitchFamily="49" charset="-122"/>
                <a:cs typeface="Courier New" pitchFamily="49" charset="-120"/>
              </a:rPr>
              <a:t>: p_mc}</a:t>
            </a:r>
            <a:endParaRPr lang="en-US" sz="1200" dirty="0"/>
          </a:p>
        </p:txBody>
      </p:sp>
      <p:sp>
        <p:nvSpPr>
          <p:cNvPr id="27" name="Text 25"/>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Arial" pitchFamily="34" charset="0"/>
                <a:ea typeface="Arial" pitchFamily="34" charset="-122"/>
                <a:cs typeface="Arial" pitchFamily="34" charset="-120"/>
              </a:rPr>
              <a:t>Значимость различий в качестве классификаторов</a:t>
            </a:r>
            <a:endParaRPr lang="en-US" sz="1200" dirty="0"/>
          </a:p>
        </p:txBody>
      </p:sp>
      <p:sp>
        <p:nvSpPr>
          <p:cNvPr id="28" name="Text 26"/>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0"/>
                </a:solidFill>
                <a:latin typeface="Arial" pitchFamily="34" charset="0"/>
                <a:ea typeface="Arial" pitchFamily="34" charset="-122"/>
                <a:cs typeface="Arial"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2B5"/>
                </a:solidFill>
                <a:latin typeface="Arial" pitchFamily="34" charset="0"/>
                <a:ea typeface="Arial" pitchFamily="34" charset="-122"/>
                <a:cs typeface="Arial" pitchFamily="34" charset="-120"/>
              </a:rPr>
              <a:t>03 · ГЛАВНЫЙ РЕЗУЛЬТАТ</a:t>
            </a:r>
            <a:endParaRPr lang="en-US" sz="1200" dirty="0"/>
          </a:p>
        </p:txBody>
      </p:sp>
      <p:sp>
        <p:nvSpPr>
          <p:cNvPr id="3" name="Text 1"/>
          <p:cNvSpPr/>
          <p:nvPr>
            <p:ph type="title"/>
          </p:nvPr>
        </p:nvSpPr>
        <p:spPr>
          <a:xfrm>
            <a:off x="812800" y="1229358"/>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A1A1A"/>
                </a:solidFill>
                <a:latin typeface="Arial" pitchFamily="34" charset="0"/>
                <a:ea typeface="Arial" pitchFamily="34" charset="-122"/>
                <a:cs typeface="Arial" pitchFamily="34" charset="-120"/>
              </a:rPr>
              <a:t>Размер эффекта и неопределённость</a:t>
            </a:r>
            <a:endParaRPr lang="en-US" sz="3200" dirty="0"/>
          </a:p>
        </p:txBody>
      </p:sp>
      <p:pic>
        <p:nvPicPr>
          <p:cNvPr id="4" name="Image 0" descr="Доверительные интервалы 95% для разницы точности: синие наивные и оранжевые с поправкой для шести пар модель-датасет, пунктир на нуле">    </p:cNvPr>
          <p:cNvPicPr>
            <a:picLocks noChangeAspect="1"/>
          </p:cNvPicPr>
          <p:nvPr/>
        </p:nvPicPr>
        <p:blipFill>
          <a:blip r:embed="rId1"/>
          <a:srcRect l="-9" r="-9" t="0" b="0"/>
          <a:stretch/>
        </p:blipFill>
        <p:spPr>
          <a:xfrm>
            <a:off x="812800" y="1899927"/>
            <a:ext cx="6985000" cy="3879850"/>
          </a:xfrm>
          <a:prstGeom prst="rect">
            <a:avLst/>
          </a:prstGeom>
        </p:spPr>
      </p:pic>
      <p:sp>
        <p:nvSpPr>
          <p:cNvPr id="5" name="Text 2"/>
          <p:cNvSpPr/>
          <p:nvPr/>
        </p:nvSpPr>
        <p:spPr>
          <a:xfrm>
            <a:off x="8102600" y="2976252"/>
            <a:ext cx="3374898"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A1A1A"/>
                </a:solidFill>
                <a:latin typeface="Arial" pitchFamily="34" charset="0"/>
                <a:ea typeface="Arial" pitchFamily="34" charset="-122"/>
                <a:cs typeface="Arial" pitchFamily="34" charset="-120"/>
              </a:rPr>
              <a:t>Наивный интервал не накрывает 0 только у одной пары из шести.</a:t>
            </a:r>
            <a:endParaRPr lang="en-US" sz="1600" dirty="0"/>
          </a:p>
        </p:txBody>
      </p:sp>
      <p:sp>
        <p:nvSpPr>
          <p:cNvPr id="6" name="Text 3"/>
          <p:cNvSpPr/>
          <p:nvPr/>
        </p:nvSpPr>
        <p:spPr>
          <a:xfrm>
            <a:off x="8102600" y="3697610"/>
            <a:ext cx="3374898"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A1A1A"/>
                </a:solidFill>
                <a:latin typeface="Arial" pitchFamily="34" charset="0"/>
                <a:ea typeface="Arial" pitchFamily="34" charset="-122"/>
                <a:cs typeface="Arial" pitchFamily="34" charset="-120"/>
              </a:rPr>
              <a:t>С поправкой не накрывает ни один.</a:t>
            </a:r>
            <a:endParaRPr lang="en-US" sz="1600" dirty="0"/>
          </a:p>
        </p:txBody>
      </p:sp>
      <p:sp>
        <p:nvSpPr>
          <p:cNvPr id="7" name="Text 4"/>
          <p:cNvSpPr/>
          <p:nvPr/>
        </p:nvSpPr>
        <p:spPr>
          <a:xfrm>
            <a:off x="8102600" y="4418967"/>
            <a:ext cx="3374898"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F6670"/>
                </a:solidFill>
                <a:latin typeface="Arial" pitchFamily="34" charset="0"/>
                <a:ea typeface="Arial" pitchFamily="34" charset="-122"/>
                <a:cs typeface="Arial" pitchFamily="34" charset="-120"/>
              </a:rPr>
              <a:t>Все разницы малы: 0.4–1.7 п. п.</a:t>
            </a:r>
            <a:endParaRPr lang="en-US" sz="1600" dirty="0"/>
          </a:p>
        </p:txBody>
      </p:sp>
      <p:sp>
        <p:nvSpPr>
          <p:cNvPr id="8" name="Text 5"/>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Arial" pitchFamily="34" charset="0"/>
                <a:ea typeface="Arial" pitchFamily="34" charset="-122"/>
                <a:cs typeface="Arial" pitchFamily="34" charset="-120"/>
              </a:rPr>
              <a:t>Значимость различий в качестве классификаторов</a:t>
            </a:r>
            <a:endParaRPr lang="en-US" sz="1200" dirty="0"/>
          </a:p>
        </p:txBody>
      </p:sp>
      <p:sp>
        <p:nvSpPr>
          <p:cNvPr id="9" name="Text 6"/>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0"/>
                </a:solidFill>
                <a:latin typeface="Arial" pitchFamily="34" charset="0"/>
                <a:ea typeface="Arial" pitchFamily="34" charset="-122"/>
                <a:cs typeface="Arial"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2B5"/>
                </a:solidFill>
                <a:latin typeface="Arial" pitchFamily="34" charset="0"/>
                <a:ea typeface="Arial" pitchFamily="34" charset="-122"/>
                <a:cs typeface="Arial" pitchFamily="34" charset="-120"/>
              </a:rPr>
              <a:t>03 · ГЛАВНЫЙ РЕЗУЛЬТАТ</a:t>
            </a:r>
            <a:endParaRPr lang="en-US" sz="1200" dirty="0"/>
          </a:p>
        </p:txBody>
      </p:sp>
      <p:sp>
        <p:nvSpPr>
          <p:cNvPr id="3" name="Text 1"/>
          <p:cNvSpPr/>
          <p:nvPr>
            <p:ph type="title"/>
          </p:nvPr>
        </p:nvSpPr>
        <p:spPr>
          <a:xfrm>
            <a:off x="812800" y="1229358"/>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A1A1A"/>
                </a:solidFill>
                <a:latin typeface="Arial" pitchFamily="34" charset="0"/>
                <a:ea typeface="Arial" pitchFamily="34" charset="-122"/>
                <a:cs typeface="Arial" pitchFamily="34" charset="-120"/>
              </a:rPr>
              <a:t>Код: доверительные интервалы</a:t>
            </a:r>
            <a:endParaRPr lang="en-US" sz="3200" dirty="0"/>
          </a:p>
        </p:txBody>
      </p:sp>
      <p:sp>
        <p:nvSpPr>
          <p:cNvPr id="4" name="Shape 2"/>
          <p:cNvSpPr/>
          <p:nvPr/>
        </p:nvSpPr>
        <p:spPr>
          <a:xfrm>
            <a:off x="815975" y="1903102"/>
            <a:ext cx="6343650" cy="2919730"/>
          </a:xfrm>
          <a:prstGeom prst="roundRect">
            <a:avLst>
              <a:gd name="adj" fmla="val 2501"/>
            </a:avLst>
          </a:prstGeom>
          <a:solidFill>
            <a:srgbClr val="F1F1EC"/>
          </a:solidFill>
          <a:ln w="6350">
            <a:solidFill>
              <a:srgbClr val="DEDED6"/>
            </a:solidFill>
            <a:prstDash val="solid"/>
          </a:ln>
        </p:spPr>
      </p:sp>
      <p:sp>
        <p:nvSpPr>
          <p:cNvPr id="5" name="Text 3"/>
          <p:cNvSpPr/>
          <p:nvPr/>
        </p:nvSpPr>
        <p:spPr>
          <a:xfrm>
            <a:off x="1021080" y="2082800"/>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diff = results[ds][a] - results[ds][b]</a:t>
            </a:r>
            <a:endParaRPr lang="en-US" sz="1200" dirty="0"/>
          </a:p>
        </p:txBody>
      </p:sp>
      <p:sp>
        <p:nvSpPr>
          <p:cNvPr id="6" name="Text 4"/>
          <p:cNvSpPr/>
          <p:nvPr/>
        </p:nvSpPr>
        <p:spPr>
          <a:xfrm>
            <a:off x="1021080" y="2296158"/>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n = len(diff)</a:t>
            </a:r>
            <a:endParaRPr lang="en-US" sz="1200" dirty="0"/>
          </a:p>
        </p:txBody>
      </p:sp>
      <p:sp>
        <p:nvSpPr>
          <p:cNvPr id="7" name="Text 5"/>
          <p:cNvSpPr/>
          <p:nvPr/>
        </p:nvSpPr>
        <p:spPr>
          <a:xfrm>
            <a:off x="1021080" y="2509527"/>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mean = diff.mean()</a:t>
            </a:r>
            <a:endParaRPr lang="en-US" sz="1200" dirty="0"/>
          </a:p>
        </p:txBody>
      </p:sp>
      <p:sp>
        <p:nvSpPr>
          <p:cNvPr id="8" name="Text 6"/>
          <p:cNvSpPr/>
          <p:nvPr/>
        </p:nvSpPr>
        <p:spPr>
          <a:xfrm>
            <a:off x="1021080" y="2722885"/>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tcrit = stats.t.ppf(0.975, n - 1)</a:t>
            </a:r>
            <a:endParaRPr lang="en-US" sz="1200" dirty="0"/>
          </a:p>
        </p:txBody>
      </p:sp>
      <p:sp>
        <p:nvSpPr>
          <p:cNvPr id="9" name="Text 7"/>
          <p:cNvSpPr/>
          <p:nvPr/>
        </p:nvSpPr>
        <p:spPr>
          <a:xfrm>
            <a:off x="1021080" y="2936242"/>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se_naive = np.sqrt(np.var(diff, ddof=1) / n)</a:t>
            </a:r>
            <a:endParaRPr lang="en-US" sz="1200" dirty="0"/>
          </a:p>
        </p:txBody>
      </p:sp>
      <p:sp>
        <p:nvSpPr>
          <p:cNvPr id="10" name="Text 8"/>
          <p:cNvSpPr/>
          <p:nvPr/>
        </p:nvSpPr>
        <p:spPr>
          <a:xfrm>
            <a:off x="1021080" y="3362958"/>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_, var_corr, _ = CorrelatedTTest.compute_statistics(</a:t>
            </a:r>
            <a:endParaRPr lang="en-US" sz="1200" dirty="0"/>
          </a:p>
        </p:txBody>
      </p:sp>
      <p:sp>
        <p:nvSpPr>
          <p:cNvPr id="11" name="Text 9"/>
          <p:cNvSpPr/>
          <p:nvPr/>
        </p:nvSpPr>
        <p:spPr>
          <a:xfrm>
            <a:off x="1389380" y="3576327"/>
            <a:ext cx="573209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results[ds][b], results[ds][a])</a:t>
            </a:r>
            <a:endParaRPr lang="en-US" sz="1200" dirty="0"/>
          </a:p>
        </p:txBody>
      </p:sp>
      <p:sp>
        <p:nvSpPr>
          <p:cNvPr id="12" name="Text 10"/>
          <p:cNvSpPr/>
          <p:nvPr/>
        </p:nvSpPr>
        <p:spPr>
          <a:xfrm>
            <a:off x="1021080" y="3789685"/>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se_corr = np.sqrt(var_corr)</a:t>
            </a:r>
            <a:endParaRPr lang="en-US" sz="1200" dirty="0"/>
          </a:p>
        </p:txBody>
      </p:sp>
      <p:sp>
        <p:nvSpPr>
          <p:cNvPr id="13" name="Text 11"/>
          <p:cNvSpPr/>
          <p:nvPr/>
        </p:nvSpPr>
        <p:spPr>
          <a:xfrm>
            <a:off x="1021080" y="4216400"/>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lo_n, hi_n = mean - tcrit * se_naive, mean + tcrit * se_naive</a:t>
            </a:r>
            <a:endParaRPr lang="en-US" sz="1200" dirty="0"/>
          </a:p>
        </p:txBody>
      </p:sp>
      <p:sp>
        <p:nvSpPr>
          <p:cNvPr id="14" name="Text 12"/>
          <p:cNvSpPr/>
          <p:nvPr/>
        </p:nvSpPr>
        <p:spPr>
          <a:xfrm>
            <a:off x="1021080" y="4429758"/>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lo_c, hi_c = mean - tcrit * se_corr, mean + tcrit * se_corr</a:t>
            </a:r>
            <a:endParaRPr lang="en-US" sz="1200" dirty="0"/>
          </a:p>
        </p:txBody>
      </p:sp>
      <p:sp>
        <p:nvSpPr>
          <p:cNvPr id="15" name="Text 13"/>
          <p:cNvSpPr/>
          <p:nvPr/>
        </p:nvSpPr>
        <p:spPr>
          <a:xfrm>
            <a:off x="7366000" y="1899927"/>
            <a:ext cx="4133596"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A1A"/>
                </a:solidFill>
                <a:latin typeface="Arial" pitchFamily="34" charset="0"/>
                <a:ea typeface="Arial" pitchFamily="34" charset="-122"/>
                <a:cs typeface="Arial" pitchFamily="34" charset="-120"/>
              </a:rPr>
              <a:t>diff: разности точности по 10 фолдам. tcrit: множитель для 95% интервала (t-распределение, 9 степеней свободы). Дисперсию с поправкой возвращает baycomp.</a:t>
            </a:r>
            <a:endParaRPr lang="en-US" sz="1400" dirty="0"/>
          </a:p>
        </p:txBody>
      </p:sp>
      <p:sp>
        <p:nvSpPr>
          <p:cNvPr id="16" name="Text 14"/>
          <p:cNvSpPr/>
          <p:nvPr/>
        </p:nvSpPr>
        <p:spPr>
          <a:xfrm>
            <a:off x="7366000" y="3022600"/>
            <a:ext cx="413359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Arial" pitchFamily="34" charset="0"/>
                <a:ea typeface="Arial" pitchFamily="34" charset="-122"/>
                <a:cs typeface="Arial" pitchFamily="34" charset="-120"/>
              </a:rPr>
              <a:t>RF минус LogReg на digits:</a:t>
            </a:r>
            <a:endParaRPr lang="en-US" sz="1200" dirty="0"/>
          </a:p>
        </p:txBody>
      </p:sp>
      <p:sp>
        <p:nvSpPr>
          <p:cNvPr id="17" name="Shape 15"/>
          <p:cNvSpPr/>
          <p:nvPr/>
        </p:nvSpPr>
        <p:spPr>
          <a:xfrm>
            <a:off x="7366000" y="3362958"/>
            <a:ext cx="4013200" cy="1254760"/>
          </a:xfrm>
          <a:prstGeom prst="roundRect">
            <a:avLst>
              <a:gd name="adj" fmla="val 6073"/>
            </a:avLst>
          </a:prstGeom>
          <a:solidFill>
            <a:srgbClr val="15202B"/>
          </a:solidFill>
          <a:ln/>
        </p:spPr>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528560" y="3500118"/>
          <a:ext cx="3698240" cy="990600"/>
        </p:xfrm>
        <a:graphic>
          <a:graphicData uri="http://schemas.openxmlformats.org/drawingml/2006/table">
            <a:tbl>
              <a:tblPr/>
              <a:tblGrid>
                <a:gridCol w="1232747"/>
                <a:gridCol w="1232747"/>
                <a:gridCol w="1232747"/>
              </a:tblGrid>
              <a:tr h="330200">
                <a:tc>
                  <a:txBody>
                    <a:bodyPr/>
                    <a:lstStyle/>
                    <a:p>
                      <a:pPr indent="0" marL="0">
                        <a:lnSpc>
                          <a:spcPts val="1680"/>
                        </a:lnSpc>
                        <a:buNone/>
                      </a:pPr>
                      <a:r>
                        <a:rPr lang="en-US" sz="1200" b="1" dirty="0">
                          <a:solidFill>
                            <a:srgbClr val="E6EDF3"/>
                          </a:solidFill>
                          <a:latin typeface="Courier New" pitchFamily="49" charset="0"/>
                          <a:ea typeface="Courier New" pitchFamily="49" charset="-122"/>
                          <a:cs typeface="Courier New" pitchFamily="49" charset="-120"/>
                        </a:rPr>
                        <a:t> </a:t>
                      </a:r>
                      <a:endParaRPr lang="en-US" sz="1200" dirty="0">
                        <a:latin typeface="Courier New" charset="0"/>
                        <a:ea typeface="Courier New" charset="0"/>
                        <a:cs typeface="Courier New"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4"/>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4"/>
                      </a:solidFill>
                      <a:prstDash val="solid"/>
                      <a:round/>
                      <a:headEnd type="none" w="med" len="med"/>
                      <a:tailEnd type="none" w="med" len="med"/>
                    </a:lnB>
                    <a:solidFill>
                      <a:srgbClr val="151F29"/>
                    </a:solidFill>
                  </a:tcPr>
                </a:tc>
                <a:tc>
                  <a:txBody>
                    <a:bodyPr/>
                    <a:lstStyle/>
                    <a:p>
                      <a:pPr algn="r" indent="0" marL="0">
                        <a:lnSpc>
                          <a:spcPts val="1680"/>
                        </a:lnSpc>
                        <a:buNone/>
                      </a:pPr>
                      <a:r>
                        <a:rPr lang="en-US" sz="1200" b="1" dirty="0">
                          <a:solidFill>
                            <a:srgbClr val="E6EDF3"/>
                          </a:solidFill>
                          <a:latin typeface="Courier New" pitchFamily="49" charset="0"/>
                          <a:ea typeface="Courier New" pitchFamily="49" charset="-122"/>
                          <a:cs typeface="Courier New" pitchFamily="49" charset="-120"/>
                        </a:rPr>
                        <a:t>нижняя</a:t>
                      </a:r>
                      <a:endParaRPr lang="en-US" sz="1200" dirty="0">
                        <a:latin typeface="Courier New" charset="0"/>
                        <a:ea typeface="Courier New" charset="0"/>
                        <a:cs typeface="Courier New" charset="0"/>
                      </a:endParaRPr>
                    </a:p>
                  </a:txBody>
                  <a:tcPr marL="53340" marR="53340" marT="53340" marB="53340" anchor="t">
                    <a:lnL w="12700" cap="flat" cmpd="sng" algn="ctr">
                      <a:solidFill>
                        <a:srgbClr val="151D24"/>
                      </a:solidFill>
                      <a:prstDash val="solid"/>
                      <a:round/>
                      <a:headEnd type="none" w="med" len="med"/>
                      <a:tailEnd type="none" w="med" len="med"/>
                    </a:lnL>
                    <a:lnR w="12700" cap="flat" cmpd="sng" algn="ctr">
                      <a:solidFill>
                        <a:srgbClr val="151D24"/>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4"/>
                      </a:solidFill>
                      <a:prstDash val="solid"/>
                      <a:round/>
                      <a:headEnd type="none" w="med" len="med"/>
                      <a:tailEnd type="none" w="med" len="med"/>
                    </a:lnB>
                    <a:solidFill>
                      <a:srgbClr val="151F29"/>
                    </a:solidFill>
                  </a:tcPr>
                </a:tc>
                <a:tc>
                  <a:txBody>
                    <a:bodyPr/>
                    <a:lstStyle/>
                    <a:p>
                      <a:pPr algn="r" indent="0" marL="0">
                        <a:lnSpc>
                          <a:spcPts val="1680"/>
                        </a:lnSpc>
                        <a:buNone/>
                      </a:pPr>
                      <a:r>
                        <a:rPr lang="en-US" sz="1200" b="1" dirty="0">
                          <a:solidFill>
                            <a:srgbClr val="E6EDF3"/>
                          </a:solidFill>
                          <a:latin typeface="Courier New" pitchFamily="49" charset="0"/>
                          <a:ea typeface="Courier New" pitchFamily="49" charset="-122"/>
                          <a:cs typeface="Courier New" pitchFamily="49" charset="-120"/>
                        </a:rPr>
                        <a:t>верхняя</a:t>
                      </a:r>
                      <a:endParaRPr lang="en-US" sz="1200" dirty="0">
                        <a:latin typeface="Courier New" charset="0"/>
                        <a:ea typeface="Courier New" charset="0"/>
                        <a:cs typeface="Courier New" charset="0"/>
                      </a:endParaRPr>
                    </a:p>
                  </a:txBody>
                  <a:tcPr marL="53340" marR="53340" marT="53340" marB="53340" anchor="t">
                    <a:lnL w="12700" cap="flat" cmpd="sng" algn="ctr">
                      <a:solidFill>
                        <a:srgbClr val="151D24"/>
                      </a:solidFill>
                      <a:prstDash val="solid"/>
                      <a:round/>
                      <a:headEnd type="none" w="med" len="med"/>
                      <a:tailEnd type="none" w="med" len="med"/>
                    </a:lnL>
                    <a:lnR w="12700" cap="flat" cmpd="sng" algn="ctr">
                      <a:solidFill>
                        <a:srgbClr val="151D24"/>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4"/>
                      </a:solidFill>
                      <a:prstDash val="solid"/>
                      <a:round/>
                      <a:headEnd type="none" w="med" len="med"/>
                      <a:tailEnd type="none" w="med" len="med"/>
                    </a:lnB>
                    <a:solidFill>
                      <a:srgbClr val="151F29"/>
                    </a:solidFill>
                  </a:tcPr>
                </a:tc>
              </a:tr>
              <a:tr h="330200">
                <a:tc>
                  <a:txBody>
                    <a:bodyPr/>
                    <a:lstStyle/>
                    <a:p>
                      <a:pPr indent="0" marL="0">
                        <a:lnSpc>
                          <a:spcPts val="1680"/>
                        </a:lnSpc>
                        <a:buNone/>
                      </a:pPr>
                      <a:r>
                        <a:rPr lang="en-US" sz="1200" dirty="0">
                          <a:solidFill>
                            <a:srgbClr val="E6EDF3"/>
                          </a:solidFill>
                          <a:latin typeface="Courier New" pitchFamily="49" charset="0"/>
                          <a:ea typeface="Courier New" pitchFamily="49" charset="-122"/>
                          <a:cs typeface="Courier New" pitchFamily="49" charset="-120"/>
                        </a:rPr>
                        <a:t>наивный</a:t>
                      </a:r>
                      <a:endParaRPr lang="en-US" sz="1200" dirty="0">
                        <a:latin typeface="Courier New" charset="0"/>
                        <a:ea typeface="Courier New" charset="0"/>
                        <a:cs typeface="Courier New"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4"/>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c>
                  <a:txBody>
                    <a:bodyPr/>
                    <a:lstStyle/>
                    <a:p>
                      <a:pPr algn="r" indent="0" marL="0">
                        <a:lnSpc>
                          <a:spcPts val="1680"/>
                        </a:lnSpc>
                        <a:buNone/>
                      </a:pPr>
                      <a:r>
                        <a:rPr lang="en-US" sz="1200" dirty="0">
                          <a:solidFill>
                            <a:srgbClr val="E6EDF3"/>
                          </a:solidFill>
                          <a:latin typeface="Courier New" pitchFamily="49" charset="0"/>
                          <a:ea typeface="Courier New" pitchFamily="49" charset="-122"/>
                          <a:cs typeface="Courier New" pitchFamily="49" charset="-120"/>
                        </a:rPr>
                        <a:t>0.0025</a:t>
                      </a:r>
                      <a:endParaRPr lang="en-US" sz="1200" dirty="0">
                        <a:latin typeface="Courier New" charset="0"/>
                        <a:ea typeface="Courier New" charset="0"/>
                        <a:cs typeface="Courier New"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4"/>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c>
                  <a:txBody>
                    <a:bodyPr/>
                    <a:lstStyle/>
                    <a:p>
                      <a:pPr algn="r" indent="0" marL="0">
                        <a:lnSpc>
                          <a:spcPts val="1680"/>
                        </a:lnSpc>
                        <a:buNone/>
                      </a:pPr>
                      <a:r>
                        <a:rPr lang="en-US" sz="1200" dirty="0">
                          <a:solidFill>
                            <a:srgbClr val="E6EDF3"/>
                          </a:solidFill>
                          <a:latin typeface="Courier New" pitchFamily="49" charset="0"/>
                          <a:ea typeface="Courier New" pitchFamily="49" charset="-122"/>
                          <a:cs typeface="Courier New" pitchFamily="49" charset="-120"/>
                        </a:rPr>
                        <a:t>0.0309</a:t>
                      </a:r>
                      <a:endParaRPr lang="en-US" sz="1200" dirty="0">
                        <a:latin typeface="Courier New" charset="0"/>
                        <a:ea typeface="Courier New" charset="0"/>
                        <a:cs typeface="Courier New"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4"/>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r>
              <a:tr h="330200">
                <a:tc>
                  <a:txBody>
                    <a:bodyPr/>
                    <a:lstStyle/>
                    <a:p>
                      <a:pPr indent="0" marL="0">
                        <a:lnSpc>
                          <a:spcPts val="1680"/>
                        </a:lnSpc>
                        <a:buNone/>
                      </a:pPr>
                      <a:r>
                        <a:rPr lang="en-US" sz="1200" dirty="0">
                          <a:solidFill>
                            <a:srgbClr val="E6EDF3"/>
                          </a:solidFill>
                          <a:latin typeface="Courier New" pitchFamily="49" charset="0"/>
                          <a:ea typeface="Courier New" pitchFamily="49" charset="-122"/>
                          <a:cs typeface="Courier New" pitchFamily="49" charset="-120"/>
                        </a:rPr>
                        <a:t>с поправкой</a:t>
                      </a:r>
                      <a:endParaRPr lang="en-US" sz="1200" dirty="0">
                        <a:latin typeface="Courier New" charset="0"/>
                        <a:ea typeface="Courier New" charset="0"/>
                        <a:cs typeface="Courier New"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c>
                  <a:txBody>
                    <a:bodyPr/>
                    <a:lstStyle/>
                    <a:p>
                      <a:pPr algn="r" indent="0" marL="0">
                        <a:lnSpc>
                          <a:spcPts val="1680"/>
                        </a:lnSpc>
                        <a:buNone/>
                      </a:pPr>
                      <a:r>
                        <a:rPr lang="en-US" sz="1200" dirty="0">
                          <a:solidFill>
                            <a:srgbClr val="E6EDF3"/>
                          </a:solidFill>
                          <a:latin typeface="Courier New" pitchFamily="49" charset="0"/>
                          <a:ea typeface="Courier New" pitchFamily="49" charset="-122"/>
                          <a:cs typeface="Courier New" pitchFamily="49" charset="-120"/>
                        </a:rPr>
                        <a:t>-0.0039</a:t>
                      </a:r>
                      <a:endParaRPr lang="en-US" sz="1200" dirty="0">
                        <a:latin typeface="Courier New" charset="0"/>
                        <a:ea typeface="Courier New" charset="0"/>
                        <a:cs typeface="Courier New"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c>
                  <a:txBody>
                    <a:bodyPr/>
                    <a:lstStyle/>
                    <a:p>
                      <a:pPr algn="r" indent="0" marL="0">
                        <a:lnSpc>
                          <a:spcPts val="1680"/>
                        </a:lnSpc>
                        <a:buNone/>
                      </a:pPr>
                      <a:r>
                        <a:rPr lang="en-US" sz="1200" dirty="0">
                          <a:solidFill>
                            <a:srgbClr val="E6EDF3"/>
                          </a:solidFill>
                          <a:latin typeface="Courier New" pitchFamily="49" charset="0"/>
                          <a:ea typeface="Courier New" pitchFamily="49" charset="-122"/>
                          <a:cs typeface="Courier New" pitchFamily="49" charset="-120"/>
                        </a:rPr>
                        <a:t>0.0373</a:t>
                      </a:r>
                      <a:endParaRPr lang="en-US" sz="1200" dirty="0">
                        <a:latin typeface="Courier New" charset="0"/>
                        <a:ea typeface="Courier New" charset="0"/>
                        <a:cs typeface="Courier New"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r>
            </a:tbl>
          </a:graphicData>
        </a:graphic>
      </p:graphicFrame>
      <p:sp>
        <p:nvSpPr>
          <p:cNvPr id="19" name="Text 16"/>
          <p:cNvSpPr/>
          <p:nvPr/>
        </p:nvSpPr>
        <p:spPr>
          <a:xfrm>
            <a:off x="7366000" y="4744727"/>
            <a:ext cx="413359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F6670"/>
                </a:solidFill>
                <a:latin typeface="Arial" pitchFamily="34" charset="0"/>
                <a:ea typeface="Arial" pitchFamily="34" charset="-122"/>
                <a:cs typeface="Arial" pitchFamily="34" charset="-120"/>
              </a:rPr>
              <a:t>У наивного интервала ноль снаружи, у corrected внутри.</a:t>
            </a:r>
            <a:endParaRPr lang="en-US" sz="1400" dirty="0"/>
          </a:p>
        </p:txBody>
      </p:sp>
      <p:sp>
        <p:nvSpPr>
          <p:cNvPr id="20" name="Text 17"/>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Arial" pitchFamily="34" charset="0"/>
                <a:ea typeface="Arial" pitchFamily="34" charset="-122"/>
                <a:cs typeface="Arial" pitchFamily="34" charset="-120"/>
              </a:rPr>
              <a:t>Значимость различий в качестве классификаторов</a:t>
            </a:r>
            <a:endParaRPr lang="en-US" sz="1200" dirty="0"/>
          </a:p>
        </p:txBody>
      </p:sp>
      <p:sp>
        <p:nvSpPr>
          <p:cNvPr id="21" name="Text 18"/>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0"/>
                </a:solidFill>
                <a:latin typeface="Arial" pitchFamily="34" charset="0"/>
                <a:ea typeface="Arial" pitchFamily="34" charset="-122"/>
                <a:cs typeface="Arial"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2B5"/>
                </a:solidFill>
                <a:latin typeface="Arial" pitchFamily="34" charset="0"/>
                <a:ea typeface="Arial" pitchFamily="34" charset="-122"/>
                <a:cs typeface="Arial" pitchFamily="34" charset="-120"/>
              </a:rPr>
              <a:t>04 · ГРУППОВОЕ СРАВНЕНИЕ</a:t>
            </a:r>
            <a:endParaRPr lang="en-US" sz="1200" dirty="0"/>
          </a:p>
        </p:txBody>
      </p:sp>
      <p:sp>
        <p:nvSpPr>
          <p:cNvPr id="3" name="Text 1"/>
          <p:cNvSpPr/>
          <p:nvPr>
            <p:ph type="title"/>
          </p:nvPr>
        </p:nvSpPr>
        <p:spPr>
          <a:xfrm>
            <a:off x="812800" y="1229358"/>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A1A1A"/>
                </a:solidFill>
                <a:latin typeface="Arial" pitchFamily="34" charset="0"/>
                <a:ea typeface="Arial" pitchFamily="34" charset="-122"/>
                <a:cs typeface="Arial" pitchFamily="34" charset="-120"/>
              </a:rPr>
              <a:t>Три модели на пятнадцати датасетах</a:t>
            </a:r>
            <a:endParaRPr lang="en-US" sz="3200" dirty="0"/>
          </a:p>
        </p:txBody>
      </p:sp>
      <p:sp>
        <p:nvSpPr>
          <p:cNvPr id="4" name="Text 2"/>
          <p:cNvSpPr/>
          <p:nvPr/>
        </p:nvSpPr>
        <p:spPr>
          <a:xfrm>
            <a:off x="812800" y="2226952"/>
            <a:ext cx="3662680" cy="5943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A1A1A"/>
                </a:solidFill>
                <a:latin typeface="Arial" pitchFamily="34" charset="0"/>
                <a:ea typeface="Arial" pitchFamily="34" charset="-122"/>
                <a:cs typeface="Arial" pitchFamily="34" charset="-120"/>
              </a:rPr>
              <a:t>Фридман:</a:t>
            </a:r>
            <a:r>
              <a:rPr lang="en-US" sz="1600" dirty="0">
                <a:solidFill>
                  <a:srgbClr val="1A1A1A"/>
                </a:solidFill>
                <a:latin typeface="Arial" pitchFamily="34" charset="0"/>
                <a:ea typeface="Arial" pitchFamily="34" charset="-122"/>
                <a:cs typeface="Arial" pitchFamily="34" charset="-120"/>
              </a:rPr>
              <a:t> χ² = 1.32, p = 0.52. Различий между моделями нет.</a:t>
            </a:r>
            <a:endParaRPr lang="en-US" sz="1600" dirty="0"/>
          </a:p>
        </p:txBody>
      </p:sp>
      <p:sp>
        <p:nvSpPr>
          <p:cNvPr id="5" name="Text 3"/>
          <p:cNvSpPr/>
          <p:nvPr/>
        </p:nvSpPr>
        <p:spPr>
          <a:xfrm>
            <a:off x="812800" y="2948310"/>
            <a:ext cx="366268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A1A1A"/>
                </a:solidFill>
                <a:latin typeface="Arial" pitchFamily="34" charset="0"/>
                <a:ea typeface="Arial" pitchFamily="34" charset="-122"/>
                <a:cs typeface="Arial" pitchFamily="34" charset="-120"/>
              </a:rPr>
              <a:t>Ранги:</a:t>
            </a:r>
            <a:r>
              <a:rPr lang="en-US" sz="1600" dirty="0">
                <a:solidFill>
                  <a:srgbClr val="1A1A1A"/>
                </a:solidFill>
                <a:latin typeface="Arial" pitchFamily="34" charset="0"/>
                <a:ea typeface="Arial" pitchFamily="34" charset="-122"/>
                <a:cs typeface="Arial" pitchFamily="34" charset="-120"/>
              </a:rPr>
              <a:t> rf 1.83, hgb 1.93, logreg 2.23.</a:t>
            </a:r>
            <a:endParaRPr lang="en-US" sz="1600" dirty="0"/>
          </a:p>
        </p:txBody>
      </p:sp>
      <p:sp>
        <p:nvSpPr>
          <p:cNvPr id="6" name="Text 4"/>
          <p:cNvSpPr/>
          <p:nvPr/>
        </p:nvSpPr>
        <p:spPr>
          <a:xfrm>
            <a:off x="812800" y="3385183"/>
            <a:ext cx="3662680" cy="5943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5F6670"/>
                </a:solidFill>
                <a:latin typeface="Arial" pitchFamily="34" charset="0"/>
                <a:ea typeface="Arial" pitchFamily="34" charset="-122"/>
                <a:cs typeface="Arial" pitchFamily="34" charset="-120"/>
              </a:rPr>
              <a:t>Неменьи:</a:t>
            </a:r>
            <a:r>
              <a:rPr lang="en-US" sz="1600" dirty="0">
                <a:solidFill>
                  <a:srgbClr val="5F6670"/>
                </a:solidFill>
                <a:latin typeface="Arial" pitchFamily="34" charset="0"/>
                <a:ea typeface="Arial" pitchFamily="34" charset="-122"/>
                <a:cs typeface="Arial" pitchFamily="34" charset="-120"/>
              </a:rPr>
              <a:t> все попарные p от 0.52 до 0.96.</a:t>
            </a:r>
            <a:endParaRPr lang="en-US" sz="1600" dirty="0"/>
          </a:p>
        </p:txBody>
      </p:sp>
      <p:pic>
        <p:nvPicPr>
          <p:cNvPr id="7" name="Image 0" descr="Диаграмма критических различий: rf 1.83, hgb 1.93, logreg 2.23, все три соединены одной перемычкой">    </p:cNvPr>
          <p:cNvPicPr>
            <a:picLocks noChangeAspect="1"/>
          </p:cNvPicPr>
          <p:nvPr/>
        </p:nvPicPr>
        <p:blipFill>
          <a:blip r:embed="rId1"/>
          <a:srcRect l="-62" r="-62" t="0" b="0"/>
          <a:stretch/>
        </p:blipFill>
        <p:spPr>
          <a:xfrm>
            <a:off x="4673600" y="1899927"/>
            <a:ext cx="6705600" cy="2381250"/>
          </a:xfrm>
          <a:prstGeom prst="rect">
            <a:avLst/>
          </a:prstGeom>
        </p:spPr>
      </p:pic>
      <p:sp>
        <p:nvSpPr>
          <p:cNvPr id="8" name="Text 5"/>
          <p:cNvSpPr/>
          <p:nvPr/>
        </p:nvSpPr>
        <p:spPr>
          <a:xfrm>
            <a:off x="812800" y="4484377"/>
            <a:ext cx="113792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F6670"/>
                </a:solidFill>
                <a:latin typeface="Arial" pitchFamily="34" charset="0"/>
                <a:ea typeface="Arial" pitchFamily="34" charset="-122"/>
                <a:cs typeface="Arial" pitchFamily="34" charset="-120"/>
              </a:rPr>
              <a:t>Все три модели соединены одной перемычкой: статистически неразличимы. Единица наблюдения здесь датасет, а не фолд.</a:t>
            </a:r>
            <a:endParaRPr lang="en-US" sz="1400" dirty="0"/>
          </a:p>
        </p:txBody>
      </p:sp>
      <p:sp>
        <p:nvSpPr>
          <p:cNvPr id="9" name="Text 6"/>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Arial" pitchFamily="34" charset="0"/>
                <a:ea typeface="Arial" pitchFamily="34" charset="-122"/>
                <a:cs typeface="Arial" pitchFamily="34" charset="-120"/>
              </a:rPr>
              <a:t>Значимость различий в качестве классификаторов</a:t>
            </a:r>
            <a:endParaRPr lang="en-US" sz="1200" dirty="0"/>
          </a:p>
        </p:txBody>
      </p:sp>
      <p:sp>
        <p:nvSpPr>
          <p:cNvPr id="10" name="Text 7"/>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0"/>
                </a:solidFill>
                <a:latin typeface="Arial" pitchFamily="34" charset="0"/>
                <a:ea typeface="Arial" pitchFamily="34" charset="-122"/>
                <a:cs typeface="Arial"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2B5"/>
                </a:solidFill>
                <a:latin typeface="Arial" pitchFamily="34" charset="0"/>
                <a:ea typeface="Arial" pitchFamily="34" charset="-122"/>
                <a:cs typeface="Arial" pitchFamily="34" charset="-120"/>
              </a:rPr>
              <a:t>04 · ГРУППОВОЕ СРАВНЕНИЕ</a:t>
            </a:r>
            <a:endParaRPr lang="en-US" sz="1200" dirty="0"/>
          </a:p>
        </p:txBody>
      </p:sp>
      <p:sp>
        <p:nvSpPr>
          <p:cNvPr id="3" name="Text 1"/>
          <p:cNvSpPr/>
          <p:nvPr>
            <p:ph type="title"/>
          </p:nvPr>
        </p:nvSpPr>
        <p:spPr>
          <a:xfrm>
            <a:off x="812800" y="1229358"/>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A1A1A"/>
                </a:solidFill>
                <a:latin typeface="Arial" pitchFamily="34" charset="0"/>
                <a:ea typeface="Arial" pitchFamily="34" charset="-122"/>
                <a:cs typeface="Arial" pitchFamily="34" charset="-120"/>
              </a:rPr>
              <a:t>Код: Фридман, Неменьи, ранги</a:t>
            </a:r>
            <a:endParaRPr lang="en-US" sz="3200" dirty="0"/>
          </a:p>
        </p:txBody>
      </p:sp>
      <p:sp>
        <p:nvSpPr>
          <p:cNvPr id="4" name="Shape 2"/>
          <p:cNvSpPr/>
          <p:nvPr/>
        </p:nvSpPr>
        <p:spPr>
          <a:xfrm>
            <a:off x="815975" y="1903102"/>
            <a:ext cx="6343650" cy="3300730"/>
          </a:xfrm>
          <a:prstGeom prst="roundRect">
            <a:avLst>
              <a:gd name="adj" fmla="val 2212"/>
            </a:avLst>
          </a:prstGeom>
          <a:solidFill>
            <a:srgbClr val="F1F1EC"/>
          </a:solidFill>
          <a:ln w="6350">
            <a:solidFill>
              <a:srgbClr val="DEDED6"/>
            </a:solidFill>
            <a:prstDash val="solid"/>
          </a:ln>
        </p:spPr>
      </p:sp>
      <p:sp>
        <p:nvSpPr>
          <p:cNvPr id="5" name="Text 3"/>
          <p:cNvSpPr/>
          <p:nvPr/>
        </p:nvSpPr>
        <p:spPr>
          <a:xfrm>
            <a:off x="1021080" y="2082800"/>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stat_f, p_f = friedmanchisquare(</a:t>
            </a:r>
            <a:endParaRPr lang="en-US" sz="1200" dirty="0"/>
          </a:p>
        </p:txBody>
      </p:sp>
      <p:sp>
        <p:nvSpPr>
          <p:cNvPr id="6" name="Text 4"/>
          <p:cNvSpPr/>
          <p:nvPr/>
        </p:nvSpPr>
        <p:spPr>
          <a:xfrm>
            <a:off x="1389380" y="2296158"/>
            <a:ext cx="573209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*[summary[m] </a:t>
            </a:r>
            <a:r>
              <a:rPr lang="en-US" sz="1200" dirty="0">
                <a:solidFill>
                  <a:srgbClr val="6639B7"/>
                </a:solidFill>
                <a:latin typeface="Courier New" pitchFamily="49" charset="0"/>
                <a:ea typeface="Courier New" pitchFamily="49" charset="-122"/>
                <a:cs typeface="Courier New" pitchFamily="49" charset="-120"/>
              </a:rPr>
              <a:t>for</a:t>
            </a:r>
            <a:r>
              <a:rPr lang="en-US" sz="1200" dirty="0">
                <a:solidFill>
                  <a:srgbClr val="1A1A1A"/>
                </a:solidFill>
                <a:latin typeface="Courier New" pitchFamily="49" charset="0"/>
                <a:ea typeface="Courier New" pitchFamily="49" charset="-122"/>
                <a:cs typeface="Courier New" pitchFamily="49" charset="-120"/>
              </a:rPr>
              <a:t> m </a:t>
            </a:r>
            <a:r>
              <a:rPr lang="en-US" sz="1200" dirty="0">
                <a:solidFill>
                  <a:srgbClr val="6639B7"/>
                </a:solidFill>
                <a:latin typeface="Courier New" pitchFamily="49" charset="0"/>
                <a:ea typeface="Courier New" pitchFamily="49" charset="-122"/>
                <a:cs typeface="Courier New" pitchFamily="49" charset="-120"/>
              </a:rPr>
              <a:t>in</a:t>
            </a:r>
            <a:r>
              <a:rPr lang="en-US" sz="1200" dirty="0">
                <a:solidFill>
                  <a:srgbClr val="1A1A1A"/>
                </a:solidFill>
                <a:latin typeface="Courier New" pitchFamily="49" charset="0"/>
                <a:ea typeface="Courier New" pitchFamily="49" charset="-122"/>
                <a:cs typeface="Courier New" pitchFamily="49" charset="-120"/>
              </a:rPr>
              <a:t> summary.columns])</a:t>
            </a:r>
            <a:endParaRPr lang="en-US" sz="1200" dirty="0"/>
          </a:p>
        </p:txBody>
      </p:sp>
      <p:sp>
        <p:nvSpPr>
          <p:cNvPr id="7" name="Text 5"/>
          <p:cNvSpPr/>
          <p:nvPr/>
        </p:nvSpPr>
        <p:spPr>
          <a:xfrm>
            <a:off x="1021080" y="2722885"/>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nemenyi = sp.posthoc_nemenyi_friedman(summary.values)</a:t>
            </a:r>
            <a:endParaRPr lang="en-US" sz="1200" dirty="0"/>
          </a:p>
        </p:txBody>
      </p:sp>
      <p:sp>
        <p:nvSpPr>
          <p:cNvPr id="8" name="Text 6"/>
          <p:cNvSpPr/>
          <p:nvPr/>
        </p:nvSpPr>
        <p:spPr>
          <a:xfrm>
            <a:off x="1021080" y="3149600"/>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ranks = summary.apply(</a:t>
            </a:r>
            <a:endParaRPr lang="en-US" sz="1200" dirty="0"/>
          </a:p>
        </p:txBody>
      </p:sp>
      <p:sp>
        <p:nvSpPr>
          <p:cNvPr id="9" name="Text 7"/>
          <p:cNvSpPr/>
          <p:nvPr/>
        </p:nvSpPr>
        <p:spPr>
          <a:xfrm>
            <a:off x="1389380" y="3362958"/>
            <a:ext cx="573209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6639B7"/>
                </a:solidFill>
                <a:latin typeface="Courier New" pitchFamily="49" charset="0"/>
                <a:ea typeface="Courier New" pitchFamily="49" charset="-122"/>
                <a:cs typeface="Courier New" pitchFamily="49" charset="-120"/>
              </a:rPr>
              <a:t>lambda</a:t>
            </a:r>
            <a:r>
              <a:rPr lang="en-US" sz="1200" dirty="0">
                <a:solidFill>
                  <a:srgbClr val="1A1A1A"/>
                </a:solidFill>
                <a:latin typeface="Courier New" pitchFamily="49" charset="0"/>
                <a:ea typeface="Courier New" pitchFamily="49" charset="-122"/>
                <a:cs typeface="Courier New" pitchFamily="49" charset="-120"/>
              </a:rPr>
              <a:t> row: rankdata(-row), axis=1, result_type=</a:t>
            </a:r>
            <a:r>
              <a:rPr lang="en-US" sz="1200" dirty="0">
                <a:solidFill>
                  <a:srgbClr val="116329"/>
                </a:solidFill>
                <a:latin typeface="Courier New" pitchFamily="49" charset="0"/>
                <a:ea typeface="Courier New" pitchFamily="49" charset="-122"/>
                <a:cs typeface="Courier New" pitchFamily="49" charset="-120"/>
              </a:rPr>
              <a:t>"expand"</a:t>
            </a:r>
            <a:r>
              <a:rPr lang="en-US" sz="1200" dirty="0">
                <a:solidFill>
                  <a:srgbClr val="1A1A1A"/>
                </a:solidFill>
                <a:latin typeface="Courier New" pitchFamily="49" charset="0"/>
                <a:ea typeface="Courier New" pitchFamily="49" charset="-122"/>
                <a:cs typeface="Courier New" pitchFamily="49" charset="-120"/>
              </a:rPr>
              <a:t>)</a:t>
            </a:r>
            <a:endParaRPr lang="en-US" sz="1200" dirty="0"/>
          </a:p>
        </p:txBody>
      </p:sp>
      <p:sp>
        <p:nvSpPr>
          <p:cNvPr id="10" name="Text 8"/>
          <p:cNvSpPr/>
          <p:nvPr/>
        </p:nvSpPr>
        <p:spPr>
          <a:xfrm>
            <a:off x="1021080" y="3576327"/>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avg_ranks = ranks.mean(axis=0)</a:t>
            </a:r>
            <a:endParaRPr lang="en-US" sz="1200" dirty="0"/>
          </a:p>
        </p:txBody>
      </p:sp>
      <p:sp>
        <p:nvSpPr>
          <p:cNvPr id="11" name="Text 9"/>
          <p:cNvSpPr/>
          <p:nvPr/>
        </p:nvSpPr>
        <p:spPr>
          <a:xfrm>
            <a:off x="1021080" y="4003042"/>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sp.critical_difference_diagram(avg_ranks, nemenyi)</a:t>
            </a:r>
            <a:endParaRPr lang="en-US" sz="1200" dirty="0"/>
          </a:p>
        </p:txBody>
      </p:sp>
      <p:sp>
        <p:nvSpPr>
          <p:cNvPr id="12" name="Text 10"/>
          <p:cNvSpPr/>
          <p:nvPr/>
        </p:nvSpPr>
        <p:spPr>
          <a:xfrm>
            <a:off x="7366000" y="1899927"/>
            <a:ext cx="413359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A1A"/>
                </a:solidFill>
                <a:latin typeface="Arial" pitchFamily="34" charset="0"/>
                <a:ea typeface="Arial" pitchFamily="34" charset="-122"/>
                <a:cs typeface="Arial" pitchFamily="34" charset="-120"/>
              </a:rPr>
              <a:t>rankdata(-row): ранг 1 получает модель с наибольшей accuracy.</a:t>
            </a:r>
            <a:endParaRPr lang="en-US" sz="1400" dirty="0"/>
          </a:p>
        </p:txBody>
      </p:sp>
      <p:sp>
        <p:nvSpPr>
          <p:cNvPr id="13" name="Shape 11"/>
          <p:cNvSpPr/>
          <p:nvPr/>
        </p:nvSpPr>
        <p:spPr>
          <a:xfrm>
            <a:off x="7366000" y="2524758"/>
            <a:ext cx="4013200" cy="680720"/>
          </a:xfrm>
          <a:prstGeom prst="roundRect">
            <a:avLst>
              <a:gd name="adj" fmla="val 11194"/>
            </a:avLst>
          </a:prstGeom>
          <a:solidFill>
            <a:srgbClr val="15202B"/>
          </a:solidFill>
          <a:ln/>
        </p:spPr>
      </p:sp>
      <p:sp>
        <p:nvSpPr>
          <p:cNvPr id="14" name="Text 12"/>
          <p:cNvSpPr/>
          <p:nvPr/>
        </p:nvSpPr>
        <p:spPr>
          <a:xfrm>
            <a:off x="7543800" y="2651758"/>
            <a:ext cx="3767328"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DF3"/>
                </a:solidFill>
                <a:latin typeface="Courier New" pitchFamily="49" charset="0"/>
                <a:ea typeface="Courier New" pitchFamily="49" charset="-122"/>
                <a:cs typeface="Courier New" pitchFamily="49" charset="-120"/>
              </a:rPr>
              <a:t>statistic = 1.32, p = 0.516</a:t>
            </a:r>
            <a:endParaRPr lang="en-US" sz="1200" dirty="0"/>
          </a:p>
        </p:txBody>
      </p:sp>
      <p:sp>
        <p:nvSpPr>
          <p:cNvPr id="15" name="Text 13"/>
          <p:cNvSpPr/>
          <p:nvPr/>
        </p:nvSpPr>
        <p:spPr>
          <a:xfrm>
            <a:off x="7543800" y="2865127"/>
            <a:ext cx="3767328"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DF3"/>
                </a:solidFill>
                <a:latin typeface="Courier New" pitchFamily="49" charset="0"/>
                <a:ea typeface="Courier New" pitchFamily="49" charset="-122"/>
                <a:cs typeface="Courier New" pitchFamily="49" charset="-120"/>
              </a:rPr>
              <a:t>ранги: logreg 2.23, rf 1.83, hgb 1.93</a:t>
            </a:r>
            <a:endParaRPr lang="en-US" sz="1200" dirty="0"/>
          </a:p>
        </p:txBody>
      </p:sp>
      <p:sp>
        <p:nvSpPr>
          <p:cNvPr id="16" name="Text 14"/>
          <p:cNvSpPr/>
          <p:nvPr/>
        </p:nvSpPr>
        <p:spPr>
          <a:xfrm>
            <a:off x="7366000" y="3332485"/>
            <a:ext cx="413359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Arial" pitchFamily="34" charset="0"/>
                <a:ea typeface="Arial" pitchFamily="34" charset="-122"/>
                <a:cs typeface="Arial" pitchFamily="34" charset="-120"/>
              </a:rPr>
              <a:t>p-value попарных сравнений (Неменьи):</a:t>
            </a:r>
            <a:endParaRPr lang="en-US" sz="1200" dirty="0"/>
          </a:p>
        </p:txBody>
      </p:sp>
      <p:sp>
        <p:nvSpPr>
          <p:cNvPr id="17" name="Shape 15"/>
          <p:cNvSpPr/>
          <p:nvPr/>
        </p:nvSpPr>
        <p:spPr>
          <a:xfrm>
            <a:off x="7366000" y="3672842"/>
            <a:ext cx="4013200" cy="1534160"/>
          </a:xfrm>
          <a:prstGeom prst="roundRect">
            <a:avLst>
              <a:gd name="adj" fmla="val 4967"/>
            </a:avLst>
          </a:prstGeom>
          <a:solidFill>
            <a:srgbClr val="15202B"/>
          </a:solidFill>
          <a:ln/>
        </p:spPr>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503160" y="3784602"/>
          <a:ext cx="3749040" cy="1320800"/>
        </p:xfrm>
        <a:graphic>
          <a:graphicData uri="http://schemas.openxmlformats.org/drawingml/2006/table">
            <a:tbl>
              <a:tblPr/>
              <a:tblGrid>
                <a:gridCol w="937260"/>
                <a:gridCol w="937260"/>
                <a:gridCol w="937260"/>
                <a:gridCol w="937260"/>
              </a:tblGrid>
              <a:tr h="330200">
                <a:tc>
                  <a:txBody>
                    <a:bodyPr/>
                    <a:lstStyle/>
                    <a:p>
                      <a:pPr indent="0" marL="0">
                        <a:lnSpc>
                          <a:spcPts val="1680"/>
                        </a:lnSpc>
                        <a:buNone/>
                      </a:pPr>
                      <a:r>
                        <a:rPr lang="en-US" sz="1200" b="1" dirty="0">
                          <a:solidFill>
                            <a:srgbClr val="E6EDF3"/>
                          </a:solidFill>
                          <a:latin typeface="Courier New" pitchFamily="49" charset="0"/>
                          <a:ea typeface="Courier New" pitchFamily="49" charset="-122"/>
                          <a:cs typeface="Courier New" pitchFamily="49" charset="-120"/>
                        </a:rPr>
                        <a:t> </a:t>
                      </a:r>
                      <a:endParaRPr lang="en-US" sz="1200" dirty="0">
                        <a:latin typeface="Courier New" charset="0"/>
                        <a:ea typeface="Courier New" charset="0"/>
                        <a:cs typeface="Courier New"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4"/>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4"/>
                      </a:solidFill>
                      <a:prstDash val="solid"/>
                      <a:round/>
                      <a:headEnd type="none" w="med" len="med"/>
                      <a:tailEnd type="none" w="med" len="med"/>
                    </a:lnB>
                    <a:solidFill>
                      <a:srgbClr val="151F29"/>
                    </a:solidFill>
                  </a:tcPr>
                </a:tc>
                <a:tc>
                  <a:txBody>
                    <a:bodyPr/>
                    <a:lstStyle/>
                    <a:p>
                      <a:pPr algn="r" indent="0" marL="0">
                        <a:lnSpc>
                          <a:spcPts val="1680"/>
                        </a:lnSpc>
                        <a:buNone/>
                      </a:pPr>
                      <a:r>
                        <a:rPr lang="en-US" sz="1200" b="1" dirty="0">
                          <a:solidFill>
                            <a:srgbClr val="E6EDF3"/>
                          </a:solidFill>
                          <a:latin typeface="Courier New" pitchFamily="49" charset="0"/>
                          <a:ea typeface="Courier New" pitchFamily="49" charset="-122"/>
                          <a:cs typeface="Courier New" pitchFamily="49" charset="-120"/>
                        </a:rPr>
                        <a:t>logreg</a:t>
                      </a:r>
                      <a:endParaRPr lang="en-US" sz="1200" dirty="0">
                        <a:latin typeface="Courier New" charset="0"/>
                        <a:ea typeface="Courier New" charset="0"/>
                        <a:cs typeface="Courier New" charset="0"/>
                      </a:endParaRPr>
                    </a:p>
                  </a:txBody>
                  <a:tcPr marL="53340" marR="53340" marT="53340" marB="53340" anchor="t">
                    <a:lnL w="12700" cap="flat" cmpd="sng" algn="ctr">
                      <a:solidFill>
                        <a:srgbClr val="151D24"/>
                      </a:solidFill>
                      <a:prstDash val="solid"/>
                      <a:round/>
                      <a:headEnd type="none" w="med" len="med"/>
                      <a:tailEnd type="none" w="med" len="med"/>
                    </a:lnL>
                    <a:lnR w="12700" cap="flat" cmpd="sng" algn="ctr">
                      <a:solidFill>
                        <a:srgbClr val="151D24"/>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4"/>
                      </a:solidFill>
                      <a:prstDash val="solid"/>
                      <a:round/>
                      <a:headEnd type="none" w="med" len="med"/>
                      <a:tailEnd type="none" w="med" len="med"/>
                    </a:lnB>
                    <a:solidFill>
                      <a:srgbClr val="151F29"/>
                    </a:solidFill>
                  </a:tcPr>
                </a:tc>
                <a:tc>
                  <a:txBody>
                    <a:bodyPr/>
                    <a:lstStyle/>
                    <a:p>
                      <a:pPr algn="r" indent="0" marL="0">
                        <a:lnSpc>
                          <a:spcPts val="1680"/>
                        </a:lnSpc>
                        <a:buNone/>
                      </a:pPr>
                      <a:r>
                        <a:rPr lang="en-US" sz="1200" b="1" dirty="0">
                          <a:solidFill>
                            <a:srgbClr val="E6EDF3"/>
                          </a:solidFill>
                          <a:latin typeface="Courier New" pitchFamily="49" charset="0"/>
                          <a:ea typeface="Courier New" pitchFamily="49" charset="-122"/>
                          <a:cs typeface="Courier New" pitchFamily="49" charset="-120"/>
                        </a:rPr>
                        <a:t>rf</a:t>
                      </a:r>
                      <a:endParaRPr lang="en-US" sz="1200" dirty="0">
                        <a:latin typeface="Courier New" charset="0"/>
                        <a:ea typeface="Courier New" charset="0"/>
                        <a:cs typeface="Courier New" charset="0"/>
                      </a:endParaRPr>
                    </a:p>
                  </a:txBody>
                  <a:tcPr marL="53340" marR="53340" marT="53340" marB="53340" anchor="t">
                    <a:lnL w="12700" cap="flat" cmpd="sng" algn="ctr">
                      <a:solidFill>
                        <a:srgbClr val="151D24"/>
                      </a:solidFill>
                      <a:prstDash val="solid"/>
                      <a:round/>
                      <a:headEnd type="none" w="med" len="med"/>
                      <a:tailEnd type="none" w="med" len="med"/>
                    </a:lnL>
                    <a:lnR w="12700" cap="flat" cmpd="sng" algn="ctr">
                      <a:solidFill>
                        <a:srgbClr val="151D24"/>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4"/>
                      </a:solidFill>
                      <a:prstDash val="solid"/>
                      <a:round/>
                      <a:headEnd type="none" w="med" len="med"/>
                      <a:tailEnd type="none" w="med" len="med"/>
                    </a:lnB>
                    <a:solidFill>
                      <a:srgbClr val="151F29"/>
                    </a:solidFill>
                  </a:tcPr>
                </a:tc>
                <a:tc>
                  <a:txBody>
                    <a:bodyPr/>
                    <a:lstStyle/>
                    <a:p>
                      <a:pPr algn="r" indent="0" marL="0">
                        <a:lnSpc>
                          <a:spcPts val="1680"/>
                        </a:lnSpc>
                        <a:buNone/>
                      </a:pPr>
                      <a:r>
                        <a:rPr lang="en-US" sz="1200" b="1" dirty="0">
                          <a:solidFill>
                            <a:srgbClr val="E6EDF3"/>
                          </a:solidFill>
                          <a:latin typeface="Courier New" pitchFamily="49" charset="0"/>
                          <a:ea typeface="Courier New" pitchFamily="49" charset="-122"/>
                          <a:cs typeface="Courier New" pitchFamily="49" charset="-120"/>
                        </a:rPr>
                        <a:t>hgb</a:t>
                      </a:r>
                      <a:endParaRPr lang="en-US" sz="1200" dirty="0">
                        <a:latin typeface="Courier New" charset="0"/>
                        <a:ea typeface="Courier New" charset="0"/>
                        <a:cs typeface="Courier New" charset="0"/>
                      </a:endParaRPr>
                    </a:p>
                  </a:txBody>
                  <a:tcPr marL="53340" marR="53340" marT="53340" marB="53340" anchor="t">
                    <a:lnL w="12700" cap="flat" cmpd="sng" algn="ctr">
                      <a:solidFill>
                        <a:srgbClr val="151D24"/>
                      </a:solidFill>
                      <a:prstDash val="solid"/>
                      <a:round/>
                      <a:headEnd type="none" w="med" len="med"/>
                      <a:tailEnd type="none" w="med" len="med"/>
                    </a:lnL>
                    <a:lnR w="12700" cap="flat" cmpd="sng" algn="ctr">
                      <a:solidFill>
                        <a:srgbClr val="151D24"/>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4"/>
                      </a:solidFill>
                      <a:prstDash val="solid"/>
                      <a:round/>
                      <a:headEnd type="none" w="med" len="med"/>
                      <a:tailEnd type="none" w="med" len="med"/>
                    </a:lnB>
                    <a:solidFill>
                      <a:srgbClr val="151F29"/>
                    </a:solidFill>
                  </a:tcPr>
                </a:tc>
              </a:tr>
              <a:tr h="330200">
                <a:tc>
                  <a:txBody>
                    <a:bodyPr/>
                    <a:lstStyle/>
                    <a:p>
                      <a:pPr indent="0" marL="0">
                        <a:lnSpc>
                          <a:spcPts val="1680"/>
                        </a:lnSpc>
                        <a:buNone/>
                      </a:pPr>
                      <a:r>
                        <a:rPr lang="en-US" sz="1200" dirty="0">
                          <a:solidFill>
                            <a:srgbClr val="E6EDF3"/>
                          </a:solidFill>
                          <a:latin typeface="Courier New" pitchFamily="49" charset="0"/>
                          <a:ea typeface="Courier New" pitchFamily="49" charset="-122"/>
                          <a:cs typeface="Courier New" pitchFamily="49" charset="-120"/>
                        </a:rPr>
                        <a:t>logreg</a:t>
                      </a:r>
                      <a:endParaRPr lang="en-US" sz="1200" dirty="0">
                        <a:latin typeface="Courier New" charset="0"/>
                        <a:ea typeface="Courier New" charset="0"/>
                        <a:cs typeface="Courier New"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4"/>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c>
                  <a:txBody>
                    <a:bodyPr/>
                    <a:lstStyle/>
                    <a:p>
                      <a:pPr algn="r" indent="0" marL="0">
                        <a:lnSpc>
                          <a:spcPts val="1680"/>
                        </a:lnSpc>
                        <a:buNone/>
                      </a:pPr>
                      <a:r>
                        <a:rPr lang="en-US" sz="1200" dirty="0">
                          <a:solidFill>
                            <a:srgbClr val="E6EDF3"/>
                          </a:solidFill>
                          <a:latin typeface="Courier New" pitchFamily="49" charset="0"/>
                          <a:ea typeface="Courier New" pitchFamily="49" charset="-122"/>
                          <a:cs typeface="Courier New" pitchFamily="49" charset="-120"/>
                        </a:rPr>
                        <a:t>1.000</a:t>
                      </a:r>
                      <a:endParaRPr lang="en-US" sz="1200" dirty="0">
                        <a:latin typeface="Courier New" charset="0"/>
                        <a:ea typeface="Courier New" charset="0"/>
                        <a:cs typeface="Courier New"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4"/>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c>
                  <a:txBody>
                    <a:bodyPr/>
                    <a:lstStyle/>
                    <a:p>
                      <a:pPr algn="r" indent="0" marL="0">
                        <a:lnSpc>
                          <a:spcPts val="1680"/>
                        </a:lnSpc>
                        <a:buNone/>
                      </a:pPr>
                      <a:r>
                        <a:rPr lang="en-US" sz="1200" dirty="0">
                          <a:solidFill>
                            <a:srgbClr val="E6EDF3"/>
                          </a:solidFill>
                          <a:latin typeface="Courier New" pitchFamily="49" charset="0"/>
                          <a:ea typeface="Courier New" pitchFamily="49" charset="-122"/>
                          <a:cs typeface="Courier New" pitchFamily="49" charset="-120"/>
                        </a:rPr>
                        <a:t>0.517</a:t>
                      </a:r>
                      <a:endParaRPr lang="en-US" sz="1200" dirty="0">
                        <a:latin typeface="Courier New" charset="0"/>
                        <a:ea typeface="Courier New" charset="0"/>
                        <a:cs typeface="Courier New"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4"/>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c>
                  <a:txBody>
                    <a:bodyPr/>
                    <a:lstStyle/>
                    <a:p>
                      <a:pPr algn="r" indent="0" marL="0">
                        <a:lnSpc>
                          <a:spcPts val="1680"/>
                        </a:lnSpc>
                        <a:buNone/>
                      </a:pPr>
                      <a:r>
                        <a:rPr lang="en-US" sz="1200" dirty="0">
                          <a:solidFill>
                            <a:srgbClr val="E6EDF3"/>
                          </a:solidFill>
                          <a:latin typeface="Courier New" pitchFamily="49" charset="0"/>
                          <a:ea typeface="Courier New" pitchFamily="49" charset="-122"/>
                          <a:cs typeface="Courier New" pitchFamily="49" charset="-120"/>
                        </a:rPr>
                        <a:t>0.690</a:t>
                      </a:r>
                      <a:endParaRPr lang="en-US" sz="1200" dirty="0">
                        <a:latin typeface="Courier New" charset="0"/>
                        <a:ea typeface="Courier New" charset="0"/>
                        <a:cs typeface="Courier New"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4"/>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r>
              <a:tr h="330200">
                <a:tc>
                  <a:txBody>
                    <a:bodyPr/>
                    <a:lstStyle/>
                    <a:p>
                      <a:pPr indent="0" marL="0">
                        <a:lnSpc>
                          <a:spcPts val="1680"/>
                        </a:lnSpc>
                        <a:buNone/>
                      </a:pPr>
                      <a:r>
                        <a:rPr lang="en-US" sz="1200" dirty="0">
                          <a:solidFill>
                            <a:srgbClr val="E6EDF3"/>
                          </a:solidFill>
                          <a:latin typeface="Courier New" pitchFamily="49" charset="0"/>
                          <a:ea typeface="Courier New" pitchFamily="49" charset="-122"/>
                          <a:cs typeface="Courier New" pitchFamily="49" charset="-120"/>
                        </a:rPr>
                        <a:t>rf</a:t>
                      </a:r>
                      <a:endParaRPr lang="en-US" sz="1200" dirty="0">
                        <a:latin typeface="Courier New" charset="0"/>
                        <a:ea typeface="Courier New" charset="0"/>
                        <a:cs typeface="Courier New"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c>
                  <a:txBody>
                    <a:bodyPr/>
                    <a:lstStyle/>
                    <a:p>
                      <a:pPr algn="r" indent="0" marL="0">
                        <a:lnSpc>
                          <a:spcPts val="1680"/>
                        </a:lnSpc>
                        <a:buNone/>
                      </a:pPr>
                      <a:r>
                        <a:rPr lang="en-US" sz="1200" dirty="0">
                          <a:solidFill>
                            <a:srgbClr val="E6EDF3"/>
                          </a:solidFill>
                          <a:latin typeface="Courier New" pitchFamily="49" charset="0"/>
                          <a:ea typeface="Courier New" pitchFamily="49" charset="-122"/>
                          <a:cs typeface="Courier New" pitchFamily="49" charset="-120"/>
                        </a:rPr>
                        <a:t>0.517</a:t>
                      </a:r>
                      <a:endParaRPr lang="en-US" sz="1200" dirty="0">
                        <a:latin typeface="Courier New" charset="0"/>
                        <a:ea typeface="Courier New" charset="0"/>
                        <a:cs typeface="Courier New"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c>
                  <a:txBody>
                    <a:bodyPr/>
                    <a:lstStyle/>
                    <a:p>
                      <a:pPr algn="r" indent="0" marL="0">
                        <a:lnSpc>
                          <a:spcPts val="1680"/>
                        </a:lnSpc>
                        <a:buNone/>
                      </a:pPr>
                      <a:r>
                        <a:rPr lang="en-US" sz="1200" dirty="0">
                          <a:solidFill>
                            <a:srgbClr val="E6EDF3"/>
                          </a:solidFill>
                          <a:latin typeface="Courier New" pitchFamily="49" charset="0"/>
                          <a:ea typeface="Courier New" pitchFamily="49" charset="-122"/>
                          <a:cs typeface="Courier New" pitchFamily="49" charset="-120"/>
                        </a:rPr>
                        <a:t>1.000</a:t>
                      </a:r>
                      <a:endParaRPr lang="en-US" sz="1200" dirty="0">
                        <a:latin typeface="Courier New" charset="0"/>
                        <a:ea typeface="Courier New" charset="0"/>
                        <a:cs typeface="Courier New"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c>
                  <a:txBody>
                    <a:bodyPr/>
                    <a:lstStyle/>
                    <a:p>
                      <a:pPr algn="r" indent="0" marL="0">
                        <a:lnSpc>
                          <a:spcPts val="1680"/>
                        </a:lnSpc>
                        <a:buNone/>
                      </a:pPr>
                      <a:r>
                        <a:rPr lang="en-US" sz="1200" dirty="0">
                          <a:solidFill>
                            <a:srgbClr val="E6EDF3"/>
                          </a:solidFill>
                          <a:latin typeface="Courier New" pitchFamily="49" charset="0"/>
                          <a:ea typeface="Courier New" pitchFamily="49" charset="-122"/>
                          <a:cs typeface="Courier New" pitchFamily="49" charset="-120"/>
                        </a:rPr>
                        <a:t>0.960</a:t>
                      </a:r>
                      <a:endParaRPr lang="en-US" sz="1200" dirty="0">
                        <a:latin typeface="Courier New" charset="0"/>
                        <a:ea typeface="Courier New" charset="0"/>
                        <a:cs typeface="Courier New"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r>
              <a:tr h="330200">
                <a:tc>
                  <a:txBody>
                    <a:bodyPr/>
                    <a:lstStyle/>
                    <a:p>
                      <a:pPr indent="0" marL="0">
                        <a:lnSpc>
                          <a:spcPts val="1680"/>
                        </a:lnSpc>
                        <a:buNone/>
                      </a:pPr>
                      <a:r>
                        <a:rPr lang="en-US" sz="1200" dirty="0">
                          <a:solidFill>
                            <a:srgbClr val="E6EDF3"/>
                          </a:solidFill>
                          <a:latin typeface="Courier New" pitchFamily="49" charset="0"/>
                          <a:ea typeface="Courier New" pitchFamily="49" charset="-122"/>
                          <a:cs typeface="Courier New" pitchFamily="49" charset="-120"/>
                        </a:rPr>
                        <a:t>hgb</a:t>
                      </a:r>
                      <a:endParaRPr lang="en-US" sz="1200" dirty="0">
                        <a:latin typeface="Courier New" charset="0"/>
                        <a:ea typeface="Courier New" charset="0"/>
                        <a:cs typeface="Courier New"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c>
                  <a:txBody>
                    <a:bodyPr/>
                    <a:lstStyle/>
                    <a:p>
                      <a:pPr algn="r" indent="0" marL="0">
                        <a:lnSpc>
                          <a:spcPts val="1680"/>
                        </a:lnSpc>
                        <a:buNone/>
                      </a:pPr>
                      <a:r>
                        <a:rPr lang="en-US" sz="1200" dirty="0">
                          <a:solidFill>
                            <a:srgbClr val="E6EDF3"/>
                          </a:solidFill>
                          <a:latin typeface="Courier New" pitchFamily="49" charset="0"/>
                          <a:ea typeface="Courier New" pitchFamily="49" charset="-122"/>
                          <a:cs typeface="Courier New" pitchFamily="49" charset="-120"/>
                        </a:rPr>
                        <a:t>0.690</a:t>
                      </a:r>
                      <a:endParaRPr lang="en-US" sz="1200" dirty="0">
                        <a:latin typeface="Courier New" charset="0"/>
                        <a:ea typeface="Courier New" charset="0"/>
                        <a:cs typeface="Courier New"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c>
                  <a:txBody>
                    <a:bodyPr/>
                    <a:lstStyle/>
                    <a:p>
                      <a:pPr algn="r" indent="0" marL="0">
                        <a:lnSpc>
                          <a:spcPts val="1680"/>
                        </a:lnSpc>
                        <a:buNone/>
                      </a:pPr>
                      <a:r>
                        <a:rPr lang="en-US" sz="1200" dirty="0">
                          <a:solidFill>
                            <a:srgbClr val="E6EDF3"/>
                          </a:solidFill>
                          <a:latin typeface="Courier New" pitchFamily="49" charset="0"/>
                          <a:ea typeface="Courier New" pitchFamily="49" charset="-122"/>
                          <a:cs typeface="Courier New" pitchFamily="49" charset="-120"/>
                        </a:rPr>
                        <a:t>0.960</a:t>
                      </a:r>
                      <a:endParaRPr lang="en-US" sz="1200" dirty="0">
                        <a:latin typeface="Courier New" charset="0"/>
                        <a:ea typeface="Courier New" charset="0"/>
                        <a:cs typeface="Courier New"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c>
                  <a:txBody>
                    <a:bodyPr/>
                    <a:lstStyle/>
                    <a:p>
                      <a:pPr algn="r" indent="0" marL="0">
                        <a:lnSpc>
                          <a:spcPts val="1680"/>
                        </a:lnSpc>
                        <a:buNone/>
                      </a:pPr>
                      <a:r>
                        <a:rPr lang="en-US" sz="1200" dirty="0">
                          <a:solidFill>
                            <a:srgbClr val="E6EDF3"/>
                          </a:solidFill>
                          <a:latin typeface="Courier New" pitchFamily="49" charset="0"/>
                          <a:ea typeface="Courier New" pitchFamily="49" charset="-122"/>
                          <a:cs typeface="Courier New" pitchFamily="49" charset="-120"/>
                        </a:rPr>
                        <a:t>1.000</a:t>
                      </a:r>
                      <a:endParaRPr lang="en-US" sz="1200" dirty="0">
                        <a:latin typeface="Courier New" charset="0"/>
                        <a:ea typeface="Courier New" charset="0"/>
                        <a:cs typeface="Courier New"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r>
            </a:tbl>
          </a:graphicData>
        </a:graphic>
      </p:graphicFrame>
      <p:sp>
        <p:nvSpPr>
          <p:cNvPr id="19" name="Text 16"/>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Arial" pitchFamily="34" charset="0"/>
                <a:ea typeface="Arial" pitchFamily="34" charset="-122"/>
                <a:cs typeface="Arial" pitchFamily="34" charset="-120"/>
              </a:rPr>
              <a:t>Значимость различий в качестве классификаторов</a:t>
            </a:r>
            <a:endParaRPr lang="en-US" sz="1200" dirty="0"/>
          </a:p>
        </p:txBody>
      </p:sp>
      <p:sp>
        <p:nvSpPr>
          <p:cNvPr id="20" name="Text 17"/>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0"/>
                </a:solidFill>
                <a:latin typeface="Arial" pitchFamily="34" charset="0"/>
                <a:ea typeface="Arial" pitchFamily="34" charset="-122"/>
                <a:cs typeface="Arial"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5202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AB8F0"/>
                </a:solidFill>
                <a:latin typeface="Arial" pitchFamily="34" charset="0"/>
                <a:ea typeface="Arial" pitchFamily="34" charset="-122"/>
                <a:cs typeface="Arial" pitchFamily="34" charset="-120"/>
              </a:rPr>
              <a:t>04 · ГРУППОВОЕ СРАВНЕНИЕ</a:t>
            </a:r>
            <a:endParaRPr lang="en-US" sz="1200" dirty="0"/>
          </a:p>
        </p:txBody>
      </p:sp>
      <p:sp>
        <p:nvSpPr>
          <p:cNvPr id="3" name="Text 1"/>
          <p:cNvSpPr/>
          <p:nvPr>
            <p:ph type="title"/>
          </p:nvPr>
        </p:nvSpPr>
        <p:spPr>
          <a:xfrm>
            <a:off x="812800" y="1229358"/>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4F4EF"/>
                </a:solidFill>
                <a:latin typeface="Arial" pitchFamily="34" charset="0"/>
                <a:ea typeface="Arial" pitchFamily="34" charset="-122"/>
                <a:cs typeface="Arial" pitchFamily="34" charset="-120"/>
              </a:rPr>
              <a:t>Поправка Холма на множественные сравнения</a:t>
            </a:r>
            <a:endParaRPr lang="en-US" sz="3200" dirty="0"/>
          </a:p>
        </p:txBody>
      </p:sp>
      <p:sp>
        <p:nvSpPr>
          <p:cNvPr id="4" name="Shape 2"/>
          <p:cNvSpPr/>
          <p:nvPr/>
        </p:nvSpPr>
        <p:spPr>
          <a:xfrm>
            <a:off x="812800" y="1899927"/>
            <a:ext cx="2527300" cy="1374140"/>
          </a:xfrm>
          <a:prstGeom prst="roundRect">
            <a:avLst>
              <a:gd name="adj" fmla="val 7394"/>
            </a:avLst>
          </a:prstGeom>
          <a:solidFill>
            <a:srgbClr val="1F2D3B"/>
          </a:solidFill>
          <a:ln/>
        </p:spPr>
      </p:sp>
      <p:sp>
        <p:nvSpPr>
          <p:cNvPr id="5" name="Shape 3"/>
          <p:cNvSpPr/>
          <p:nvPr/>
        </p:nvSpPr>
        <p:spPr>
          <a:xfrm>
            <a:off x="812800" y="1899927"/>
            <a:ext cx="2527300" cy="1374140"/>
          </a:xfrm>
          <a:custGeom>
            <a:avLst/>
            <a:gdLst/>
            <a:ahLst/>
            <a:cxnLst/>
            <a:rect l="l" t="t" r="r" b="b"/>
            <a:pathLst>
              <a:path w="2527300" h="1374140">
                <a:moveTo>
                  <a:pt x="0" y="101600"/>
                </a:moveTo>
                <a:lnTo>
                  <a:pt x="0" y="101600"/>
                </a:lnTo>
                <a:arcTo hR="101600" wR="101600" stAng="10800000" swAng="5400000"/>
                <a:lnTo>
                  <a:pt x="2425700" y="0"/>
                </a:lnTo>
                <a:arcTo hR="101600" wR="101600" stAng="16200000" swAng="5400000"/>
                <a:lnTo>
                  <a:pt x="2527300" y="101600"/>
                </a:lnTo>
                <a:arcTo hR="50800" wR="101600" stAng="0" swAng="-5400000"/>
                <a:lnTo>
                  <a:pt x="101600" y="50800"/>
                </a:lnTo>
                <a:arcTo hR="50800" wR="101600" stAng="16200000" swAng="-5400000"/>
                <a:close/>
              </a:path>
            </a:pathLst>
          </a:custGeom>
          <a:solidFill>
            <a:srgbClr val="2A78D6"/>
          </a:solidFill>
          <a:ln/>
        </p:spPr>
      </p:sp>
      <p:sp>
        <p:nvSpPr>
          <p:cNvPr id="6" name="Text 4"/>
          <p:cNvSpPr/>
          <p:nvPr/>
        </p:nvSpPr>
        <p:spPr>
          <a:xfrm>
            <a:off x="1016000" y="2179327"/>
            <a:ext cx="2184527"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FFFFFF"/>
                </a:solidFill>
                <a:latin typeface="Arial" pitchFamily="34" charset="0"/>
                <a:ea typeface="Arial" pitchFamily="34" charset="-122"/>
                <a:cs typeface="Arial" pitchFamily="34" charset="-120"/>
              </a:rPr>
              <a:t>20 → 6</a:t>
            </a:r>
            <a:endParaRPr lang="en-US" sz="4400" dirty="0"/>
          </a:p>
        </p:txBody>
      </p:sp>
      <p:sp>
        <p:nvSpPr>
          <p:cNvPr id="7" name="Text 5"/>
          <p:cNvSpPr/>
          <p:nvPr/>
        </p:nvSpPr>
        <p:spPr>
          <a:xfrm>
            <a:off x="1016000" y="2814327"/>
            <a:ext cx="2184527"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C9D2DB"/>
                </a:solidFill>
                <a:latin typeface="Arial" pitchFamily="34" charset="0"/>
                <a:ea typeface="Arial" pitchFamily="34" charset="-122"/>
                <a:cs typeface="Arial" pitchFamily="34" charset="-120"/>
              </a:rPr>
              <a:t>наивный</a:t>
            </a:r>
            <a:endParaRPr lang="en-US" sz="1400" dirty="0"/>
          </a:p>
        </p:txBody>
      </p:sp>
      <p:sp>
        <p:nvSpPr>
          <p:cNvPr id="8" name="Shape 6"/>
          <p:cNvSpPr/>
          <p:nvPr/>
        </p:nvSpPr>
        <p:spPr>
          <a:xfrm>
            <a:off x="3492500" y="1899927"/>
            <a:ext cx="2527300" cy="1374140"/>
          </a:xfrm>
          <a:prstGeom prst="roundRect">
            <a:avLst>
              <a:gd name="adj" fmla="val 7394"/>
            </a:avLst>
          </a:prstGeom>
          <a:solidFill>
            <a:srgbClr val="1F2D3B"/>
          </a:solidFill>
          <a:ln/>
        </p:spPr>
      </p:sp>
      <p:sp>
        <p:nvSpPr>
          <p:cNvPr id="9" name="Shape 7"/>
          <p:cNvSpPr/>
          <p:nvPr/>
        </p:nvSpPr>
        <p:spPr>
          <a:xfrm>
            <a:off x="3492500" y="1899927"/>
            <a:ext cx="2527300" cy="1374140"/>
          </a:xfrm>
          <a:custGeom>
            <a:avLst/>
            <a:gdLst/>
            <a:ahLst/>
            <a:cxnLst/>
            <a:rect l="l" t="t" r="r" b="b"/>
            <a:pathLst>
              <a:path w="2527300" h="1374140">
                <a:moveTo>
                  <a:pt x="0" y="101600"/>
                </a:moveTo>
                <a:lnTo>
                  <a:pt x="0" y="101600"/>
                </a:lnTo>
                <a:arcTo hR="101600" wR="101600" stAng="10800000" swAng="5400000"/>
                <a:lnTo>
                  <a:pt x="2425700" y="0"/>
                </a:lnTo>
                <a:arcTo hR="101600" wR="101600" stAng="16200000" swAng="5400000"/>
                <a:lnTo>
                  <a:pt x="2527300" y="101600"/>
                </a:lnTo>
                <a:arcTo hR="50800" wR="101600" stAng="0" swAng="-5400000"/>
                <a:lnTo>
                  <a:pt x="101600" y="50800"/>
                </a:lnTo>
                <a:arcTo hR="50800" wR="101600" stAng="16200000" swAng="-5400000"/>
                <a:close/>
              </a:path>
            </a:pathLst>
          </a:custGeom>
          <a:solidFill>
            <a:srgbClr val="EB6834"/>
          </a:solidFill>
          <a:ln/>
        </p:spPr>
      </p:sp>
      <p:sp>
        <p:nvSpPr>
          <p:cNvPr id="10" name="Text 8"/>
          <p:cNvSpPr/>
          <p:nvPr/>
        </p:nvSpPr>
        <p:spPr>
          <a:xfrm>
            <a:off x="3695700" y="2179327"/>
            <a:ext cx="2184527"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FFFFFF"/>
                </a:solidFill>
                <a:latin typeface="Arial" pitchFamily="34" charset="0"/>
                <a:ea typeface="Arial" pitchFamily="34" charset="-122"/>
                <a:cs typeface="Arial" pitchFamily="34" charset="-120"/>
              </a:rPr>
              <a:t>14 → 6</a:t>
            </a:r>
            <a:endParaRPr lang="en-US" sz="4400" dirty="0"/>
          </a:p>
        </p:txBody>
      </p:sp>
      <p:sp>
        <p:nvSpPr>
          <p:cNvPr id="11" name="Text 9"/>
          <p:cNvSpPr/>
          <p:nvPr/>
        </p:nvSpPr>
        <p:spPr>
          <a:xfrm>
            <a:off x="3695700" y="2814327"/>
            <a:ext cx="2184527"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C9D2DB"/>
                </a:solidFill>
                <a:latin typeface="Arial" pitchFamily="34" charset="0"/>
                <a:ea typeface="Arial" pitchFamily="34" charset="-122"/>
                <a:cs typeface="Arial" pitchFamily="34" charset="-120"/>
              </a:rPr>
              <a:t>corrected</a:t>
            </a:r>
            <a:endParaRPr lang="en-US" sz="1400" dirty="0"/>
          </a:p>
        </p:txBody>
      </p:sp>
      <p:sp>
        <p:nvSpPr>
          <p:cNvPr id="12" name="Shape 10"/>
          <p:cNvSpPr/>
          <p:nvPr/>
        </p:nvSpPr>
        <p:spPr>
          <a:xfrm>
            <a:off x="6172200" y="1899927"/>
            <a:ext cx="2527300" cy="1374140"/>
          </a:xfrm>
          <a:prstGeom prst="roundRect">
            <a:avLst>
              <a:gd name="adj" fmla="val 7394"/>
            </a:avLst>
          </a:prstGeom>
          <a:solidFill>
            <a:srgbClr val="1F2D3B"/>
          </a:solidFill>
          <a:ln/>
        </p:spPr>
      </p:sp>
      <p:sp>
        <p:nvSpPr>
          <p:cNvPr id="13" name="Shape 11"/>
          <p:cNvSpPr/>
          <p:nvPr/>
        </p:nvSpPr>
        <p:spPr>
          <a:xfrm>
            <a:off x="6172200" y="1899927"/>
            <a:ext cx="2527300" cy="1374140"/>
          </a:xfrm>
          <a:custGeom>
            <a:avLst/>
            <a:gdLst/>
            <a:ahLst/>
            <a:cxnLst/>
            <a:rect l="l" t="t" r="r" b="b"/>
            <a:pathLst>
              <a:path w="2527300" h="1374140">
                <a:moveTo>
                  <a:pt x="0" y="101600"/>
                </a:moveTo>
                <a:lnTo>
                  <a:pt x="0" y="101600"/>
                </a:lnTo>
                <a:arcTo hR="101600" wR="101600" stAng="10800000" swAng="5400000"/>
                <a:lnTo>
                  <a:pt x="2425700" y="0"/>
                </a:lnTo>
                <a:arcTo hR="101600" wR="101600" stAng="16200000" swAng="5400000"/>
                <a:lnTo>
                  <a:pt x="2527300" y="101600"/>
                </a:lnTo>
                <a:arcTo hR="50800" wR="101600" stAng="0" swAng="-5400000"/>
                <a:lnTo>
                  <a:pt x="101600" y="50800"/>
                </a:lnTo>
                <a:arcTo hR="50800" wR="101600" stAng="16200000" swAng="-5400000"/>
                <a:close/>
              </a:path>
            </a:pathLst>
          </a:custGeom>
          <a:solidFill>
            <a:srgbClr val="1BAF7A"/>
          </a:solidFill>
          <a:ln/>
        </p:spPr>
      </p:sp>
      <p:sp>
        <p:nvSpPr>
          <p:cNvPr id="14" name="Text 12"/>
          <p:cNvSpPr/>
          <p:nvPr/>
        </p:nvSpPr>
        <p:spPr>
          <a:xfrm>
            <a:off x="6375400" y="2179327"/>
            <a:ext cx="2184527"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FFFFFF"/>
                </a:solidFill>
                <a:latin typeface="Arial" pitchFamily="34" charset="0"/>
                <a:ea typeface="Arial" pitchFamily="34" charset="-122"/>
                <a:cs typeface="Arial" pitchFamily="34" charset="-120"/>
              </a:rPr>
              <a:t>9 → 3</a:t>
            </a:r>
            <a:endParaRPr lang="en-US" sz="4400" dirty="0"/>
          </a:p>
        </p:txBody>
      </p:sp>
      <p:sp>
        <p:nvSpPr>
          <p:cNvPr id="15" name="Text 13"/>
          <p:cNvSpPr/>
          <p:nvPr/>
        </p:nvSpPr>
        <p:spPr>
          <a:xfrm>
            <a:off x="6375400" y="2814327"/>
            <a:ext cx="2184527"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C9D2DB"/>
                </a:solidFill>
                <a:latin typeface="Arial" pitchFamily="34" charset="0"/>
                <a:ea typeface="Arial" pitchFamily="34" charset="-122"/>
                <a:cs typeface="Arial" pitchFamily="34" charset="-120"/>
              </a:rPr>
              <a:t>5×2cv</a:t>
            </a:r>
            <a:endParaRPr lang="en-US" sz="1400" dirty="0"/>
          </a:p>
        </p:txBody>
      </p:sp>
      <p:sp>
        <p:nvSpPr>
          <p:cNvPr id="16" name="Shape 14"/>
          <p:cNvSpPr/>
          <p:nvPr/>
        </p:nvSpPr>
        <p:spPr>
          <a:xfrm>
            <a:off x="8851900" y="1899927"/>
            <a:ext cx="2527300" cy="1374140"/>
          </a:xfrm>
          <a:prstGeom prst="roundRect">
            <a:avLst>
              <a:gd name="adj" fmla="val 7394"/>
            </a:avLst>
          </a:prstGeom>
          <a:solidFill>
            <a:srgbClr val="1F2D3B"/>
          </a:solidFill>
          <a:ln/>
        </p:spPr>
      </p:sp>
      <p:sp>
        <p:nvSpPr>
          <p:cNvPr id="17" name="Shape 15"/>
          <p:cNvSpPr/>
          <p:nvPr/>
        </p:nvSpPr>
        <p:spPr>
          <a:xfrm>
            <a:off x="8851900" y="1899927"/>
            <a:ext cx="2527300" cy="1374140"/>
          </a:xfrm>
          <a:custGeom>
            <a:avLst/>
            <a:gdLst/>
            <a:ahLst/>
            <a:cxnLst/>
            <a:rect l="l" t="t" r="r" b="b"/>
            <a:pathLst>
              <a:path w="2527300" h="1374140">
                <a:moveTo>
                  <a:pt x="0" y="101600"/>
                </a:moveTo>
                <a:lnTo>
                  <a:pt x="0" y="101600"/>
                </a:lnTo>
                <a:arcTo hR="101600" wR="101600" stAng="10800000" swAng="5400000"/>
                <a:lnTo>
                  <a:pt x="2425700" y="0"/>
                </a:lnTo>
                <a:arcTo hR="101600" wR="101600" stAng="16200000" swAng="5400000"/>
                <a:lnTo>
                  <a:pt x="2527300" y="101600"/>
                </a:lnTo>
                <a:arcTo hR="50800" wR="101600" stAng="0" swAng="-5400000"/>
                <a:lnTo>
                  <a:pt x="101600" y="50800"/>
                </a:lnTo>
                <a:arcTo hR="50800" wR="101600" stAng="16200000" swAng="-5400000"/>
                <a:close/>
              </a:path>
            </a:pathLst>
          </a:custGeom>
          <a:solidFill>
            <a:srgbClr val="EDA100"/>
          </a:solidFill>
          <a:ln/>
        </p:spPr>
      </p:sp>
      <p:sp>
        <p:nvSpPr>
          <p:cNvPr id="18" name="Text 16"/>
          <p:cNvSpPr/>
          <p:nvPr/>
        </p:nvSpPr>
        <p:spPr>
          <a:xfrm>
            <a:off x="9055100" y="2179327"/>
            <a:ext cx="2184527"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FFFFFF"/>
                </a:solidFill>
                <a:latin typeface="Arial" pitchFamily="34" charset="0"/>
                <a:ea typeface="Arial" pitchFamily="34" charset="-122"/>
                <a:cs typeface="Arial" pitchFamily="34" charset="-120"/>
              </a:rPr>
              <a:t>7 → 6</a:t>
            </a:r>
            <a:endParaRPr lang="en-US" sz="4400" dirty="0"/>
          </a:p>
        </p:txBody>
      </p:sp>
      <p:sp>
        <p:nvSpPr>
          <p:cNvPr id="19" name="Text 17"/>
          <p:cNvSpPr/>
          <p:nvPr/>
        </p:nvSpPr>
        <p:spPr>
          <a:xfrm>
            <a:off x="9055100" y="2814327"/>
            <a:ext cx="2184527"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C9D2DB"/>
                </a:solidFill>
                <a:latin typeface="Arial" pitchFamily="34" charset="0"/>
                <a:ea typeface="Arial" pitchFamily="34" charset="-122"/>
                <a:cs typeface="Arial" pitchFamily="34" charset="-120"/>
              </a:rPr>
              <a:t>McNemar</a:t>
            </a:r>
            <a:endParaRPr lang="en-US" sz="1400" dirty="0"/>
          </a:p>
        </p:txBody>
      </p:sp>
      <p:sp>
        <p:nvSpPr>
          <p:cNvPr id="20" name="Text 18"/>
          <p:cNvSpPr/>
          <p:nvPr/>
        </p:nvSpPr>
        <p:spPr>
          <a:xfrm>
            <a:off x="812800" y="3477258"/>
            <a:ext cx="10883392" cy="6654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F4F4EF"/>
                </a:solidFill>
                <a:latin typeface="Arial" pitchFamily="34" charset="0"/>
                <a:ea typeface="Arial" pitchFamily="34" charset="-122"/>
                <a:cs typeface="Arial" pitchFamily="34" charset="-120"/>
              </a:rPr>
              <a:t>Значимых сравнений из 45 до и после поправки. У наивного и corrected тестов остаются одни и те же 6: segment, spambase и все три пары на phoneme.</a:t>
            </a:r>
            <a:endParaRPr lang="en-US" sz="1800" dirty="0"/>
          </a:p>
        </p:txBody>
      </p:sp>
      <p:sp>
        <p:nvSpPr>
          <p:cNvPr id="21" name="Text 19"/>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8C2"/>
                </a:solidFill>
                <a:latin typeface="Arial" pitchFamily="34" charset="0"/>
                <a:ea typeface="Arial" pitchFamily="34" charset="-122"/>
                <a:cs typeface="Arial" pitchFamily="34" charset="-120"/>
              </a:rPr>
              <a:t>Значимость различий в качестве классификаторов</a:t>
            </a:r>
            <a:endParaRPr lang="en-US" sz="1200" dirty="0"/>
          </a:p>
        </p:txBody>
      </p:sp>
      <p:sp>
        <p:nvSpPr>
          <p:cNvPr id="22" name="Text 20"/>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EB8C2"/>
                </a:solidFill>
                <a:latin typeface="Arial" pitchFamily="34" charset="0"/>
                <a:ea typeface="Arial" pitchFamily="34" charset="-122"/>
                <a:cs typeface="Arial"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2B5"/>
                </a:solidFill>
                <a:latin typeface="Arial" pitchFamily="34" charset="0"/>
                <a:ea typeface="Arial" pitchFamily="34" charset="-122"/>
                <a:cs typeface="Arial" pitchFamily="34" charset="-120"/>
              </a:rPr>
              <a:t>04 · ГРУППОВОЕ СРАВНЕНИЕ</a:t>
            </a:r>
            <a:endParaRPr lang="en-US" sz="1200" dirty="0"/>
          </a:p>
        </p:txBody>
      </p:sp>
      <p:sp>
        <p:nvSpPr>
          <p:cNvPr id="3" name="Text 1"/>
          <p:cNvSpPr/>
          <p:nvPr>
            <p:ph type="title"/>
          </p:nvPr>
        </p:nvSpPr>
        <p:spPr>
          <a:xfrm>
            <a:off x="812800" y="1229358"/>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A1A1A"/>
                </a:solidFill>
                <a:latin typeface="Arial" pitchFamily="34" charset="0"/>
                <a:ea typeface="Arial" pitchFamily="34" charset="-122"/>
                <a:cs typeface="Arial" pitchFamily="34" charset="-120"/>
              </a:rPr>
              <a:t>Код: поправка Холма</a:t>
            </a:r>
            <a:endParaRPr lang="en-US" sz="3200" dirty="0"/>
          </a:p>
        </p:txBody>
      </p:sp>
      <p:sp>
        <p:nvSpPr>
          <p:cNvPr id="4" name="Shape 2"/>
          <p:cNvSpPr/>
          <p:nvPr/>
        </p:nvSpPr>
        <p:spPr>
          <a:xfrm>
            <a:off x="815975" y="1903102"/>
            <a:ext cx="6343650" cy="2279650"/>
          </a:xfrm>
          <a:prstGeom prst="roundRect">
            <a:avLst>
              <a:gd name="adj" fmla="val 3203"/>
            </a:avLst>
          </a:prstGeom>
          <a:solidFill>
            <a:srgbClr val="F1F1EC"/>
          </a:solidFill>
          <a:ln w="6350">
            <a:solidFill>
              <a:srgbClr val="DEDED6"/>
            </a:solidFill>
            <a:prstDash val="solid"/>
          </a:ln>
        </p:spPr>
      </p:sp>
      <p:sp>
        <p:nvSpPr>
          <p:cNvPr id="5" name="Text 3"/>
          <p:cNvSpPr/>
          <p:nvPr/>
        </p:nvSpPr>
        <p:spPr>
          <a:xfrm>
            <a:off x="1021080" y="2082800"/>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holm_rows = []</a:t>
            </a:r>
            <a:endParaRPr lang="en-US" sz="1200" dirty="0"/>
          </a:p>
        </p:txBody>
      </p:sp>
      <p:sp>
        <p:nvSpPr>
          <p:cNvPr id="6" name="Text 4"/>
          <p:cNvSpPr/>
          <p:nvPr/>
        </p:nvSpPr>
        <p:spPr>
          <a:xfrm>
            <a:off x="1021080" y="2296158"/>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6639B7"/>
                </a:solidFill>
                <a:latin typeface="Courier New" pitchFamily="49" charset="0"/>
                <a:ea typeface="Courier New" pitchFamily="49" charset="-122"/>
                <a:cs typeface="Courier New" pitchFamily="49" charset="-120"/>
              </a:rPr>
              <a:t>for</a:t>
            </a:r>
            <a:r>
              <a:rPr lang="en-US" sz="1200" dirty="0">
                <a:solidFill>
                  <a:srgbClr val="1A1A1A"/>
                </a:solidFill>
                <a:latin typeface="Courier New" pitchFamily="49" charset="0"/>
                <a:ea typeface="Courier New" pitchFamily="49" charset="-122"/>
                <a:cs typeface="Courier New" pitchFamily="49" charset="-120"/>
              </a:rPr>
              <a:t> t </a:t>
            </a:r>
            <a:r>
              <a:rPr lang="en-US" sz="1200" dirty="0">
                <a:solidFill>
                  <a:srgbClr val="6639B7"/>
                </a:solidFill>
                <a:latin typeface="Courier New" pitchFamily="49" charset="0"/>
                <a:ea typeface="Courier New" pitchFamily="49" charset="-122"/>
                <a:cs typeface="Courier New" pitchFamily="49" charset="-120"/>
              </a:rPr>
              <a:t>in</a:t>
            </a:r>
            <a:r>
              <a:rPr lang="en-US" sz="1200" dirty="0">
                <a:solidFill>
                  <a:srgbClr val="1A1A1A"/>
                </a:solidFill>
                <a:latin typeface="Courier New" pitchFamily="49" charset="0"/>
                <a:ea typeface="Courier New" pitchFamily="49" charset="-122"/>
                <a:cs typeface="Courier New" pitchFamily="49" charset="-120"/>
              </a:rPr>
              <a:t> TESTS:</a:t>
            </a:r>
            <a:endParaRPr lang="en-US" sz="1200" dirty="0"/>
          </a:p>
        </p:txBody>
      </p:sp>
      <p:sp>
        <p:nvSpPr>
          <p:cNvPr id="7" name="Text 5"/>
          <p:cNvSpPr/>
          <p:nvPr/>
        </p:nvSpPr>
        <p:spPr>
          <a:xfrm>
            <a:off x="1389380" y="2509527"/>
            <a:ext cx="573209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reject, p_adj, _, _ = multipletests(</a:t>
            </a:r>
            <a:endParaRPr lang="en-US" sz="1200" dirty="0"/>
          </a:p>
        </p:txBody>
      </p:sp>
      <p:sp>
        <p:nvSpPr>
          <p:cNvPr id="8" name="Text 6"/>
          <p:cNvSpPr/>
          <p:nvPr/>
        </p:nvSpPr>
        <p:spPr>
          <a:xfrm>
            <a:off x="1751330" y="2722885"/>
            <a:ext cx="5359286"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all_pairs[t], alpha=0.05, method=</a:t>
            </a:r>
            <a:r>
              <a:rPr lang="en-US" sz="1200" dirty="0">
                <a:solidFill>
                  <a:srgbClr val="116329"/>
                </a:solidFill>
                <a:latin typeface="Courier New" pitchFamily="49" charset="0"/>
                <a:ea typeface="Courier New" pitchFamily="49" charset="-122"/>
                <a:cs typeface="Courier New" pitchFamily="49" charset="-120"/>
              </a:rPr>
              <a:t>"holm"</a:t>
            </a:r>
            <a:r>
              <a:rPr lang="en-US" sz="1200" dirty="0">
                <a:solidFill>
                  <a:srgbClr val="1A1A1A"/>
                </a:solidFill>
                <a:latin typeface="Courier New" pitchFamily="49" charset="0"/>
                <a:ea typeface="Courier New" pitchFamily="49" charset="-122"/>
                <a:cs typeface="Courier New" pitchFamily="49" charset="-120"/>
              </a:rPr>
              <a:t>)</a:t>
            </a:r>
            <a:endParaRPr lang="en-US" sz="1200" dirty="0"/>
          </a:p>
        </p:txBody>
      </p:sp>
      <p:sp>
        <p:nvSpPr>
          <p:cNvPr id="9" name="Text 7"/>
          <p:cNvSpPr/>
          <p:nvPr/>
        </p:nvSpPr>
        <p:spPr>
          <a:xfrm>
            <a:off x="1389380" y="2936242"/>
            <a:ext cx="573209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holm_rows.append({</a:t>
            </a:r>
            <a:endParaRPr lang="en-US" sz="1200" dirty="0"/>
          </a:p>
        </p:txBody>
      </p:sp>
      <p:sp>
        <p:nvSpPr>
          <p:cNvPr id="10" name="Text 8"/>
          <p:cNvSpPr/>
          <p:nvPr/>
        </p:nvSpPr>
        <p:spPr>
          <a:xfrm>
            <a:off x="1751330" y="3149600"/>
            <a:ext cx="5359286"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16329"/>
                </a:solidFill>
                <a:latin typeface="Courier New" pitchFamily="49" charset="0"/>
                <a:ea typeface="Courier New" pitchFamily="49" charset="-122"/>
                <a:cs typeface="Courier New" pitchFamily="49" charset="-120"/>
              </a:rPr>
              <a:t>"тест"</a:t>
            </a:r>
            <a:r>
              <a:rPr lang="en-US" sz="1200" dirty="0">
                <a:solidFill>
                  <a:srgbClr val="1A1A1A"/>
                </a:solidFill>
                <a:latin typeface="Courier New" pitchFamily="49" charset="0"/>
                <a:ea typeface="Courier New" pitchFamily="49" charset="-122"/>
                <a:cs typeface="Courier New" pitchFamily="49" charset="-120"/>
              </a:rPr>
              <a:t>: t,</a:t>
            </a:r>
            <a:endParaRPr lang="en-US" sz="1200" dirty="0"/>
          </a:p>
        </p:txBody>
      </p:sp>
      <p:sp>
        <p:nvSpPr>
          <p:cNvPr id="11" name="Text 9"/>
          <p:cNvSpPr/>
          <p:nvPr/>
        </p:nvSpPr>
        <p:spPr>
          <a:xfrm>
            <a:off x="1751330" y="3362958"/>
            <a:ext cx="5359286"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16329"/>
                </a:solidFill>
                <a:latin typeface="Courier New" pitchFamily="49" charset="0"/>
                <a:ea typeface="Courier New" pitchFamily="49" charset="-122"/>
                <a:cs typeface="Courier New" pitchFamily="49" charset="-120"/>
              </a:rPr>
              <a:t>"до"</a:t>
            </a:r>
            <a:r>
              <a:rPr lang="en-US" sz="1200" dirty="0">
                <a:solidFill>
                  <a:srgbClr val="1A1A1A"/>
                </a:solidFill>
                <a:latin typeface="Courier New" pitchFamily="49" charset="0"/>
                <a:ea typeface="Courier New" pitchFamily="49" charset="-122"/>
                <a:cs typeface="Courier New" pitchFamily="49" charset="-120"/>
              </a:rPr>
              <a:t>: int((all_pairs[t] &lt; 0.05).sum()),</a:t>
            </a:r>
            <a:endParaRPr lang="en-US" sz="1200" dirty="0"/>
          </a:p>
        </p:txBody>
      </p:sp>
      <p:sp>
        <p:nvSpPr>
          <p:cNvPr id="12" name="Text 10"/>
          <p:cNvSpPr/>
          <p:nvPr/>
        </p:nvSpPr>
        <p:spPr>
          <a:xfrm>
            <a:off x="1751330" y="3576327"/>
            <a:ext cx="5359286"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16329"/>
                </a:solidFill>
                <a:latin typeface="Courier New" pitchFamily="49" charset="0"/>
                <a:ea typeface="Courier New" pitchFamily="49" charset="-122"/>
                <a:cs typeface="Courier New" pitchFamily="49" charset="-120"/>
              </a:rPr>
              <a:t>"после"</a:t>
            </a:r>
            <a:r>
              <a:rPr lang="en-US" sz="1200" dirty="0">
                <a:solidFill>
                  <a:srgbClr val="1A1A1A"/>
                </a:solidFill>
                <a:latin typeface="Courier New" pitchFamily="49" charset="0"/>
                <a:ea typeface="Courier New" pitchFamily="49" charset="-122"/>
                <a:cs typeface="Courier New" pitchFamily="49" charset="-120"/>
              </a:rPr>
              <a:t>: int(reject.sum()),</a:t>
            </a:r>
            <a:endParaRPr lang="en-US" sz="1200" dirty="0"/>
          </a:p>
        </p:txBody>
      </p:sp>
      <p:sp>
        <p:nvSpPr>
          <p:cNvPr id="13" name="Text 11"/>
          <p:cNvSpPr/>
          <p:nvPr/>
        </p:nvSpPr>
        <p:spPr>
          <a:xfrm>
            <a:off x="1389380" y="3789685"/>
            <a:ext cx="573209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a:t>
            </a:r>
            <a:endParaRPr lang="en-US" sz="1200" dirty="0"/>
          </a:p>
        </p:txBody>
      </p:sp>
      <p:sp>
        <p:nvSpPr>
          <p:cNvPr id="14" name="Text 12"/>
          <p:cNvSpPr/>
          <p:nvPr/>
        </p:nvSpPr>
        <p:spPr>
          <a:xfrm>
            <a:off x="7366000" y="1899927"/>
            <a:ext cx="413359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A1A"/>
                </a:solidFill>
                <a:latin typeface="Arial" pitchFamily="34" charset="0"/>
                <a:ea typeface="Arial" pitchFamily="34" charset="-122"/>
                <a:cs typeface="Arial" pitchFamily="34" charset="-120"/>
              </a:rPr>
              <a:t>Поправка применяется к каждому тесту отдельно: 45 p-value на тест.</a:t>
            </a:r>
            <a:endParaRPr lang="en-US" sz="1400" dirty="0"/>
          </a:p>
        </p:txBody>
      </p:sp>
      <p:sp>
        <p:nvSpPr>
          <p:cNvPr id="15" name="Text 13"/>
          <p:cNvSpPr/>
          <p:nvPr/>
        </p:nvSpPr>
        <p:spPr>
          <a:xfrm>
            <a:off x="7366000" y="2524758"/>
            <a:ext cx="413359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Arial" pitchFamily="34" charset="0"/>
                <a:ea typeface="Arial" pitchFamily="34" charset="-122"/>
                <a:cs typeface="Arial" pitchFamily="34" charset="-120"/>
              </a:rPr>
              <a:t>Результат:</a:t>
            </a:r>
            <a:endParaRPr lang="en-US" sz="1200" dirty="0"/>
          </a:p>
        </p:txBody>
      </p:sp>
      <p:sp>
        <p:nvSpPr>
          <p:cNvPr id="16" name="Shape 14"/>
          <p:cNvSpPr/>
          <p:nvPr/>
        </p:nvSpPr>
        <p:spPr>
          <a:xfrm>
            <a:off x="7366000" y="2865127"/>
            <a:ext cx="4013200" cy="1915160"/>
          </a:xfrm>
          <a:prstGeom prst="roundRect">
            <a:avLst>
              <a:gd name="adj" fmla="val 3979"/>
            </a:avLst>
          </a:prstGeom>
          <a:solidFill>
            <a:srgbClr val="15202B"/>
          </a:solidFill>
          <a:ln/>
        </p:spPr>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7528560" y="3002287"/>
          <a:ext cx="3698240" cy="1651000"/>
        </p:xfrm>
        <a:graphic>
          <a:graphicData uri="http://schemas.openxmlformats.org/drawingml/2006/table">
            <a:tbl>
              <a:tblPr/>
              <a:tblGrid>
                <a:gridCol w="1232747"/>
                <a:gridCol w="1232747"/>
                <a:gridCol w="1232747"/>
              </a:tblGrid>
              <a:tr h="330200">
                <a:tc>
                  <a:txBody>
                    <a:bodyPr/>
                    <a:lstStyle/>
                    <a:p>
                      <a:pPr indent="0" marL="0">
                        <a:lnSpc>
                          <a:spcPts val="1680"/>
                        </a:lnSpc>
                        <a:buNone/>
                      </a:pPr>
                      <a:r>
                        <a:rPr lang="en-US" sz="1200" b="1" dirty="0">
                          <a:solidFill>
                            <a:srgbClr val="E6EDF3"/>
                          </a:solidFill>
                          <a:latin typeface="Courier New" pitchFamily="49" charset="0"/>
                          <a:ea typeface="Courier New" pitchFamily="49" charset="-122"/>
                          <a:cs typeface="Courier New" pitchFamily="49" charset="-120"/>
                        </a:rPr>
                        <a:t>тест</a:t>
                      </a:r>
                      <a:endParaRPr lang="en-US" sz="1200" dirty="0">
                        <a:latin typeface="Courier New" charset="0"/>
                        <a:ea typeface="Courier New" charset="0"/>
                        <a:cs typeface="Courier New"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4"/>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4"/>
                      </a:solidFill>
                      <a:prstDash val="solid"/>
                      <a:round/>
                      <a:headEnd type="none" w="med" len="med"/>
                      <a:tailEnd type="none" w="med" len="med"/>
                    </a:lnB>
                    <a:solidFill>
                      <a:srgbClr val="151F29"/>
                    </a:solidFill>
                  </a:tcPr>
                </a:tc>
                <a:tc>
                  <a:txBody>
                    <a:bodyPr/>
                    <a:lstStyle/>
                    <a:p>
                      <a:pPr algn="r" indent="0" marL="0">
                        <a:lnSpc>
                          <a:spcPts val="1680"/>
                        </a:lnSpc>
                        <a:buNone/>
                      </a:pPr>
                      <a:r>
                        <a:rPr lang="en-US" sz="1200" b="1" dirty="0">
                          <a:solidFill>
                            <a:srgbClr val="E6EDF3"/>
                          </a:solidFill>
                          <a:latin typeface="Courier New" pitchFamily="49" charset="0"/>
                          <a:ea typeface="Courier New" pitchFamily="49" charset="-122"/>
                          <a:cs typeface="Courier New" pitchFamily="49" charset="-120"/>
                        </a:rPr>
                        <a:t>до</a:t>
                      </a:r>
                      <a:endParaRPr lang="en-US" sz="1200" dirty="0">
                        <a:latin typeface="Courier New" charset="0"/>
                        <a:ea typeface="Courier New" charset="0"/>
                        <a:cs typeface="Courier New" charset="0"/>
                      </a:endParaRPr>
                    </a:p>
                  </a:txBody>
                  <a:tcPr marL="53340" marR="53340" marT="53340" marB="53340" anchor="t">
                    <a:lnL w="12700" cap="flat" cmpd="sng" algn="ctr">
                      <a:solidFill>
                        <a:srgbClr val="151D24"/>
                      </a:solidFill>
                      <a:prstDash val="solid"/>
                      <a:round/>
                      <a:headEnd type="none" w="med" len="med"/>
                      <a:tailEnd type="none" w="med" len="med"/>
                    </a:lnL>
                    <a:lnR w="12700" cap="flat" cmpd="sng" algn="ctr">
                      <a:solidFill>
                        <a:srgbClr val="151D24"/>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4"/>
                      </a:solidFill>
                      <a:prstDash val="solid"/>
                      <a:round/>
                      <a:headEnd type="none" w="med" len="med"/>
                      <a:tailEnd type="none" w="med" len="med"/>
                    </a:lnB>
                    <a:solidFill>
                      <a:srgbClr val="151F29"/>
                    </a:solidFill>
                  </a:tcPr>
                </a:tc>
                <a:tc>
                  <a:txBody>
                    <a:bodyPr/>
                    <a:lstStyle/>
                    <a:p>
                      <a:pPr algn="r" indent="0" marL="0">
                        <a:lnSpc>
                          <a:spcPts val="1680"/>
                        </a:lnSpc>
                        <a:buNone/>
                      </a:pPr>
                      <a:r>
                        <a:rPr lang="en-US" sz="1200" b="1" dirty="0">
                          <a:solidFill>
                            <a:srgbClr val="E6EDF3"/>
                          </a:solidFill>
                          <a:latin typeface="Courier New" pitchFamily="49" charset="0"/>
                          <a:ea typeface="Courier New" pitchFamily="49" charset="-122"/>
                          <a:cs typeface="Courier New" pitchFamily="49" charset="-120"/>
                        </a:rPr>
                        <a:t>после</a:t>
                      </a:r>
                      <a:endParaRPr lang="en-US" sz="1200" dirty="0">
                        <a:latin typeface="Courier New" charset="0"/>
                        <a:ea typeface="Courier New" charset="0"/>
                        <a:cs typeface="Courier New" charset="0"/>
                      </a:endParaRPr>
                    </a:p>
                  </a:txBody>
                  <a:tcPr marL="53340" marR="53340" marT="53340" marB="53340" anchor="t">
                    <a:lnL w="12700" cap="flat" cmpd="sng" algn="ctr">
                      <a:solidFill>
                        <a:srgbClr val="151D24"/>
                      </a:solidFill>
                      <a:prstDash val="solid"/>
                      <a:round/>
                      <a:headEnd type="none" w="med" len="med"/>
                      <a:tailEnd type="none" w="med" len="med"/>
                    </a:lnL>
                    <a:lnR w="12700" cap="flat" cmpd="sng" algn="ctr">
                      <a:solidFill>
                        <a:srgbClr val="151D24"/>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4"/>
                      </a:solidFill>
                      <a:prstDash val="solid"/>
                      <a:round/>
                      <a:headEnd type="none" w="med" len="med"/>
                      <a:tailEnd type="none" w="med" len="med"/>
                    </a:lnB>
                    <a:solidFill>
                      <a:srgbClr val="151F29"/>
                    </a:solidFill>
                  </a:tcPr>
                </a:tc>
              </a:tr>
              <a:tr h="330200">
                <a:tc>
                  <a:txBody>
                    <a:bodyPr/>
                    <a:lstStyle/>
                    <a:p>
                      <a:pPr indent="0" marL="0">
                        <a:lnSpc>
                          <a:spcPts val="1680"/>
                        </a:lnSpc>
                        <a:buNone/>
                      </a:pPr>
                      <a:r>
                        <a:rPr lang="en-US" sz="1200" dirty="0">
                          <a:solidFill>
                            <a:srgbClr val="E6EDF3"/>
                          </a:solidFill>
                          <a:latin typeface="Courier New" pitchFamily="49" charset="0"/>
                          <a:ea typeface="Courier New" pitchFamily="49" charset="-122"/>
                          <a:cs typeface="Courier New" pitchFamily="49" charset="-120"/>
                        </a:rPr>
                        <a:t>naive</a:t>
                      </a:r>
                      <a:endParaRPr lang="en-US" sz="1200" dirty="0">
                        <a:latin typeface="Courier New" charset="0"/>
                        <a:ea typeface="Courier New" charset="0"/>
                        <a:cs typeface="Courier New"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4"/>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c>
                  <a:txBody>
                    <a:bodyPr/>
                    <a:lstStyle/>
                    <a:p>
                      <a:pPr algn="r" indent="0" marL="0">
                        <a:lnSpc>
                          <a:spcPts val="1680"/>
                        </a:lnSpc>
                        <a:buNone/>
                      </a:pPr>
                      <a:r>
                        <a:rPr lang="en-US" sz="1200" dirty="0">
                          <a:solidFill>
                            <a:srgbClr val="E6EDF3"/>
                          </a:solidFill>
                          <a:latin typeface="Courier New" pitchFamily="49" charset="0"/>
                          <a:ea typeface="Courier New" pitchFamily="49" charset="-122"/>
                          <a:cs typeface="Courier New" pitchFamily="49" charset="-120"/>
                        </a:rPr>
                        <a:t>20</a:t>
                      </a:r>
                      <a:endParaRPr lang="en-US" sz="1200" dirty="0">
                        <a:latin typeface="Courier New" charset="0"/>
                        <a:ea typeface="Courier New" charset="0"/>
                        <a:cs typeface="Courier New"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4"/>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c>
                  <a:txBody>
                    <a:bodyPr/>
                    <a:lstStyle/>
                    <a:p>
                      <a:pPr algn="r" indent="0" marL="0">
                        <a:lnSpc>
                          <a:spcPts val="1680"/>
                        </a:lnSpc>
                        <a:buNone/>
                      </a:pPr>
                      <a:r>
                        <a:rPr lang="en-US" sz="1200" dirty="0">
                          <a:solidFill>
                            <a:srgbClr val="E6EDF3"/>
                          </a:solidFill>
                          <a:latin typeface="Courier New" pitchFamily="49" charset="0"/>
                          <a:ea typeface="Courier New" pitchFamily="49" charset="-122"/>
                          <a:cs typeface="Courier New" pitchFamily="49" charset="-120"/>
                        </a:rPr>
                        <a:t>6</a:t>
                      </a:r>
                      <a:endParaRPr lang="en-US" sz="1200" dirty="0">
                        <a:latin typeface="Courier New" charset="0"/>
                        <a:ea typeface="Courier New" charset="0"/>
                        <a:cs typeface="Courier New"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4"/>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r>
              <a:tr h="330200">
                <a:tc>
                  <a:txBody>
                    <a:bodyPr/>
                    <a:lstStyle/>
                    <a:p>
                      <a:pPr indent="0" marL="0">
                        <a:lnSpc>
                          <a:spcPts val="1680"/>
                        </a:lnSpc>
                        <a:buNone/>
                      </a:pPr>
                      <a:r>
                        <a:rPr lang="en-US" sz="1200" dirty="0">
                          <a:solidFill>
                            <a:srgbClr val="E6EDF3"/>
                          </a:solidFill>
                          <a:latin typeface="Courier New" pitchFamily="49" charset="0"/>
                          <a:ea typeface="Courier New" pitchFamily="49" charset="-122"/>
                          <a:cs typeface="Courier New" pitchFamily="49" charset="-120"/>
                        </a:rPr>
                        <a:t>corrected</a:t>
                      </a:r>
                      <a:endParaRPr lang="en-US" sz="1200" dirty="0">
                        <a:latin typeface="Courier New" charset="0"/>
                        <a:ea typeface="Courier New" charset="0"/>
                        <a:cs typeface="Courier New"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c>
                  <a:txBody>
                    <a:bodyPr/>
                    <a:lstStyle/>
                    <a:p>
                      <a:pPr algn="r" indent="0" marL="0">
                        <a:lnSpc>
                          <a:spcPts val="1680"/>
                        </a:lnSpc>
                        <a:buNone/>
                      </a:pPr>
                      <a:r>
                        <a:rPr lang="en-US" sz="1200" dirty="0">
                          <a:solidFill>
                            <a:srgbClr val="E6EDF3"/>
                          </a:solidFill>
                          <a:latin typeface="Courier New" pitchFamily="49" charset="0"/>
                          <a:ea typeface="Courier New" pitchFamily="49" charset="-122"/>
                          <a:cs typeface="Courier New" pitchFamily="49" charset="-120"/>
                        </a:rPr>
                        <a:t>14</a:t>
                      </a:r>
                      <a:endParaRPr lang="en-US" sz="1200" dirty="0">
                        <a:latin typeface="Courier New" charset="0"/>
                        <a:ea typeface="Courier New" charset="0"/>
                        <a:cs typeface="Courier New"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c>
                  <a:txBody>
                    <a:bodyPr/>
                    <a:lstStyle/>
                    <a:p>
                      <a:pPr algn="r" indent="0" marL="0">
                        <a:lnSpc>
                          <a:spcPts val="1680"/>
                        </a:lnSpc>
                        <a:buNone/>
                      </a:pPr>
                      <a:r>
                        <a:rPr lang="en-US" sz="1200" dirty="0">
                          <a:solidFill>
                            <a:srgbClr val="E6EDF3"/>
                          </a:solidFill>
                          <a:latin typeface="Courier New" pitchFamily="49" charset="0"/>
                          <a:ea typeface="Courier New" pitchFamily="49" charset="-122"/>
                          <a:cs typeface="Courier New" pitchFamily="49" charset="-120"/>
                        </a:rPr>
                        <a:t>6</a:t>
                      </a:r>
                      <a:endParaRPr lang="en-US" sz="1200" dirty="0">
                        <a:latin typeface="Courier New" charset="0"/>
                        <a:ea typeface="Courier New" charset="0"/>
                        <a:cs typeface="Courier New"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r>
              <a:tr h="330200">
                <a:tc>
                  <a:txBody>
                    <a:bodyPr/>
                    <a:lstStyle/>
                    <a:p>
                      <a:pPr indent="0" marL="0">
                        <a:lnSpc>
                          <a:spcPts val="1680"/>
                        </a:lnSpc>
                        <a:buNone/>
                      </a:pPr>
                      <a:r>
                        <a:rPr lang="en-US" sz="1200" dirty="0">
                          <a:solidFill>
                            <a:srgbClr val="E6EDF3"/>
                          </a:solidFill>
                          <a:latin typeface="Courier New" pitchFamily="49" charset="0"/>
                          <a:ea typeface="Courier New" pitchFamily="49" charset="-122"/>
                          <a:cs typeface="Courier New" pitchFamily="49" charset="-120"/>
                        </a:rPr>
                        <a:t>5x2cv</a:t>
                      </a:r>
                      <a:endParaRPr lang="en-US" sz="1200" dirty="0">
                        <a:latin typeface="Courier New" charset="0"/>
                        <a:ea typeface="Courier New" charset="0"/>
                        <a:cs typeface="Courier New"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c>
                  <a:txBody>
                    <a:bodyPr/>
                    <a:lstStyle/>
                    <a:p>
                      <a:pPr algn="r" indent="0" marL="0">
                        <a:lnSpc>
                          <a:spcPts val="1680"/>
                        </a:lnSpc>
                        <a:buNone/>
                      </a:pPr>
                      <a:r>
                        <a:rPr lang="en-US" sz="1200" dirty="0">
                          <a:solidFill>
                            <a:srgbClr val="E6EDF3"/>
                          </a:solidFill>
                          <a:latin typeface="Courier New" pitchFamily="49" charset="0"/>
                          <a:ea typeface="Courier New" pitchFamily="49" charset="-122"/>
                          <a:cs typeface="Courier New" pitchFamily="49" charset="-120"/>
                        </a:rPr>
                        <a:t>9</a:t>
                      </a:r>
                      <a:endParaRPr lang="en-US" sz="1200" dirty="0">
                        <a:latin typeface="Courier New" charset="0"/>
                        <a:ea typeface="Courier New" charset="0"/>
                        <a:cs typeface="Courier New"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c>
                  <a:txBody>
                    <a:bodyPr/>
                    <a:lstStyle/>
                    <a:p>
                      <a:pPr algn="r" indent="0" marL="0">
                        <a:lnSpc>
                          <a:spcPts val="1680"/>
                        </a:lnSpc>
                        <a:buNone/>
                      </a:pPr>
                      <a:r>
                        <a:rPr lang="en-US" sz="1200" dirty="0">
                          <a:solidFill>
                            <a:srgbClr val="E6EDF3"/>
                          </a:solidFill>
                          <a:latin typeface="Courier New" pitchFamily="49" charset="0"/>
                          <a:ea typeface="Courier New" pitchFamily="49" charset="-122"/>
                          <a:cs typeface="Courier New" pitchFamily="49" charset="-120"/>
                        </a:rPr>
                        <a:t>3</a:t>
                      </a:r>
                      <a:endParaRPr lang="en-US" sz="1200" dirty="0">
                        <a:latin typeface="Courier New" charset="0"/>
                        <a:ea typeface="Courier New" charset="0"/>
                        <a:cs typeface="Courier New"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r>
              <a:tr h="330200">
                <a:tc>
                  <a:txBody>
                    <a:bodyPr/>
                    <a:lstStyle/>
                    <a:p>
                      <a:pPr indent="0" marL="0">
                        <a:lnSpc>
                          <a:spcPts val="1680"/>
                        </a:lnSpc>
                        <a:buNone/>
                      </a:pPr>
                      <a:r>
                        <a:rPr lang="en-US" sz="1200" dirty="0">
                          <a:solidFill>
                            <a:srgbClr val="E6EDF3"/>
                          </a:solidFill>
                          <a:latin typeface="Courier New" pitchFamily="49" charset="0"/>
                          <a:ea typeface="Courier New" pitchFamily="49" charset="-122"/>
                          <a:cs typeface="Courier New" pitchFamily="49" charset="-120"/>
                        </a:rPr>
                        <a:t>McNemar</a:t>
                      </a:r>
                      <a:endParaRPr lang="en-US" sz="1200" dirty="0">
                        <a:latin typeface="Courier New" charset="0"/>
                        <a:ea typeface="Courier New" charset="0"/>
                        <a:cs typeface="Courier New"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c>
                  <a:txBody>
                    <a:bodyPr/>
                    <a:lstStyle/>
                    <a:p>
                      <a:pPr algn="r" indent="0" marL="0">
                        <a:lnSpc>
                          <a:spcPts val="1680"/>
                        </a:lnSpc>
                        <a:buNone/>
                      </a:pPr>
                      <a:r>
                        <a:rPr lang="en-US" sz="1200" dirty="0">
                          <a:solidFill>
                            <a:srgbClr val="E6EDF3"/>
                          </a:solidFill>
                          <a:latin typeface="Courier New" pitchFamily="49" charset="0"/>
                          <a:ea typeface="Courier New" pitchFamily="49" charset="-122"/>
                          <a:cs typeface="Courier New" pitchFamily="49" charset="-120"/>
                        </a:rPr>
                        <a:t>7</a:t>
                      </a:r>
                      <a:endParaRPr lang="en-US" sz="1200" dirty="0">
                        <a:latin typeface="Courier New" charset="0"/>
                        <a:ea typeface="Courier New" charset="0"/>
                        <a:cs typeface="Courier New"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c>
                  <a:txBody>
                    <a:bodyPr/>
                    <a:lstStyle/>
                    <a:p>
                      <a:pPr algn="r" indent="0" marL="0">
                        <a:lnSpc>
                          <a:spcPts val="1680"/>
                        </a:lnSpc>
                        <a:buNone/>
                      </a:pPr>
                      <a:r>
                        <a:rPr lang="en-US" sz="1200" dirty="0">
                          <a:solidFill>
                            <a:srgbClr val="E6EDF3"/>
                          </a:solidFill>
                          <a:latin typeface="Courier New" pitchFamily="49" charset="0"/>
                          <a:ea typeface="Courier New" pitchFamily="49" charset="-122"/>
                          <a:cs typeface="Courier New" pitchFamily="49" charset="-120"/>
                        </a:rPr>
                        <a:t>6</a:t>
                      </a:r>
                      <a:endParaRPr lang="en-US" sz="1200" dirty="0">
                        <a:latin typeface="Courier New" charset="0"/>
                        <a:ea typeface="Courier New" charset="0"/>
                        <a:cs typeface="Courier New"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r>
            </a:tbl>
          </a:graphicData>
        </a:graphic>
      </p:graphicFrame>
      <p:sp>
        <p:nvSpPr>
          <p:cNvPr id="18" name="Text 15"/>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Arial" pitchFamily="34" charset="0"/>
                <a:ea typeface="Arial" pitchFamily="34" charset="-122"/>
                <a:cs typeface="Arial" pitchFamily="34" charset="-120"/>
              </a:rPr>
              <a:t>Значимость различий в качестве классификаторов</a:t>
            </a:r>
            <a:endParaRPr lang="en-US" sz="1200" dirty="0"/>
          </a:p>
        </p:txBody>
      </p:sp>
      <p:sp>
        <p:nvSpPr>
          <p:cNvPr id="19" name="Text 16"/>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0"/>
                </a:solidFill>
                <a:latin typeface="Arial" pitchFamily="34" charset="0"/>
                <a:ea typeface="Arial" pitchFamily="34" charset="-122"/>
                <a:cs typeface="Arial"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2B5"/>
                </a:solidFill>
                <a:latin typeface="Arial" pitchFamily="34" charset="0"/>
                <a:ea typeface="Arial" pitchFamily="34" charset="-122"/>
                <a:cs typeface="Arial" pitchFamily="34" charset="-120"/>
              </a:rPr>
              <a:t>05 · СИМУЛЯЦИЯ</a:t>
            </a:r>
            <a:endParaRPr lang="en-US" sz="1200" dirty="0"/>
          </a:p>
        </p:txBody>
      </p:sp>
      <p:sp>
        <p:nvSpPr>
          <p:cNvPr id="3" name="Text 1"/>
          <p:cNvSpPr/>
          <p:nvPr>
            <p:ph type="title"/>
          </p:nvPr>
        </p:nvSpPr>
        <p:spPr>
          <a:xfrm>
            <a:off x="812800" y="1229358"/>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A1A1A"/>
                </a:solidFill>
                <a:latin typeface="Arial" pitchFamily="34" charset="0"/>
                <a:ea typeface="Arial" pitchFamily="34" charset="-122"/>
                <a:cs typeface="Arial" pitchFamily="34" charset="-120"/>
              </a:rPr>
              <a:t>Проверка на данных с известным ответом</a:t>
            </a:r>
            <a:endParaRPr lang="en-US" sz="3200" dirty="0"/>
          </a:p>
        </p:txBody>
      </p:sp>
      <p:sp>
        <p:nvSpPr>
          <p:cNvPr id="4" name="Shape 2"/>
          <p:cNvSpPr/>
          <p:nvPr/>
        </p:nvSpPr>
        <p:spPr>
          <a:xfrm>
            <a:off x="812800" y="1899927"/>
            <a:ext cx="5181600" cy="3030220"/>
          </a:xfrm>
          <a:prstGeom prst="roundRect">
            <a:avLst>
              <a:gd name="adj" fmla="val 3353"/>
            </a:avLst>
          </a:prstGeom>
          <a:solidFill>
            <a:srgbClr val="F1F1EC"/>
          </a:solidFill>
          <a:ln/>
        </p:spPr>
      </p:sp>
      <p:sp>
        <p:nvSpPr>
          <p:cNvPr id="5" name="Text 3"/>
          <p:cNvSpPr/>
          <p:nvPr/>
        </p:nvSpPr>
        <p:spPr>
          <a:xfrm>
            <a:off x="1066800" y="2153927"/>
            <a:ext cx="481380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A1A1A"/>
                </a:solidFill>
                <a:latin typeface="Arial" pitchFamily="34" charset="0"/>
                <a:ea typeface="Arial" pitchFamily="34" charset="-122"/>
                <a:cs typeface="Arial" pitchFamily="34" charset="-120"/>
              </a:rPr>
              <a:t>Два сценария</a:t>
            </a:r>
            <a:endParaRPr lang="en-US" sz="1800" dirty="0"/>
          </a:p>
        </p:txBody>
      </p:sp>
      <p:sp>
        <p:nvSpPr>
          <p:cNvPr id="6" name="Text 4"/>
          <p:cNvSpPr/>
          <p:nvPr/>
        </p:nvSpPr>
        <p:spPr>
          <a:xfrm>
            <a:off x="1066800" y="2555242"/>
            <a:ext cx="4813808"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A1A1A"/>
                </a:solidFill>
                <a:latin typeface="Arial" pitchFamily="34" charset="0"/>
                <a:ea typeface="Arial" pitchFamily="34" charset="-122"/>
                <a:cs typeface="Arial" pitchFamily="34" charset="-120"/>
              </a:rPr>
              <a:t>H₀:</a:t>
            </a:r>
            <a:r>
              <a:rPr lang="en-US" sz="1500" dirty="0">
                <a:solidFill>
                  <a:srgbClr val="1A1A1A"/>
                </a:solidFill>
                <a:latin typeface="Arial" pitchFamily="34" charset="0"/>
                <a:ea typeface="Arial" pitchFamily="34" charset="-122"/>
                <a:cs typeface="Arial" pitchFamily="34" charset="-120"/>
              </a:rPr>
              <a:t> модели равны по построению. Доля «значимо» это ошибка первого рода, ожидаем около 5%.</a:t>
            </a:r>
            <a:endParaRPr lang="en-US" sz="1500" dirty="0"/>
          </a:p>
        </p:txBody>
      </p:sp>
      <p:sp>
        <p:nvSpPr>
          <p:cNvPr id="7" name="Text 5"/>
          <p:cNvSpPr/>
          <p:nvPr/>
        </p:nvSpPr>
        <p:spPr>
          <a:xfrm>
            <a:off x="1066800" y="3215642"/>
            <a:ext cx="4813808"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A1A1A"/>
                </a:solidFill>
                <a:latin typeface="Arial" pitchFamily="34" charset="0"/>
                <a:ea typeface="Arial" pitchFamily="34" charset="-122"/>
                <a:cs typeface="Arial" pitchFamily="34" charset="-120"/>
              </a:rPr>
              <a:t>H₁:</a:t>
            </a:r>
            <a:r>
              <a:rPr lang="en-US" sz="1500" dirty="0">
                <a:solidFill>
                  <a:srgbClr val="1A1A1A"/>
                </a:solidFill>
                <a:latin typeface="Arial" pitchFamily="34" charset="0"/>
                <a:ea typeface="Arial" pitchFamily="34" charset="-122"/>
                <a:cs typeface="Arial" pitchFamily="34" charset="-120"/>
              </a:rPr>
              <a:t> вторая модель объективно хуже. Доля «значимо» это мощность.</a:t>
            </a:r>
            <a:endParaRPr lang="en-US" sz="1500" dirty="0"/>
          </a:p>
        </p:txBody>
      </p:sp>
      <p:sp>
        <p:nvSpPr>
          <p:cNvPr id="8" name="Text 6"/>
          <p:cNvSpPr/>
          <p:nvPr/>
        </p:nvSpPr>
        <p:spPr>
          <a:xfrm>
            <a:off x="1066800" y="3876042"/>
            <a:ext cx="4813808"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F6670"/>
                </a:solidFill>
                <a:latin typeface="Arial" pitchFamily="34" charset="0"/>
                <a:ea typeface="Arial" pitchFamily="34" charset="-122"/>
                <a:cs typeface="Arial" pitchFamily="34" charset="-120"/>
              </a:rPr>
              <a:t>500 повторов, 100, 200 и 400 объектов, логистическая регрессия на двух независимых «видах» признаков.</a:t>
            </a:r>
            <a:endParaRPr lang="en-US" sz="1500" dirty="0"/>
          </a:p>
        </p:txBody>
      </p:sp>
      <p:sp>
        <p:nvSpPr>
          <p:cNvPr id="9" name="Shape 7"/>
          <p:cNvSpPr/>
          <p:nvPr/>
        </p:nvSpPr>
        <p:spPr>
          <a:xfrm>
            <a:off x="6197600" y="1899927"/>
            <a:ext cx="5181600" cy="3030220"/>
          </a:xfrm>
          <a:prstGeom prst="roundRect">
            <a:avLst>
              <a:gd name="adj" fmla="val 3353"/>
            </a:avLst>
          </a:prstGeom>
          <a:solidFill>
            <a:srgbClr val="F1F1EC"/>
          </a:solidFill>
          <a:ln/>
        </p:spPr>
      </p:sp>
      <p:sp>
        <p:nvSpPr>
          <p:cNvPr id="10" name="Text 8"/>
          <p:cNvSpPr/>
          <p:nvPr/>
        </p:nvSpPr>
        <p:spPr>
          <a:xfrm>
            <a:off x="6451600" y="2153927"/>
            <a:ext cx="481380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A1A1A"/>
                </a:solidFill>
                <a:latin typeface="Arial" pitchFamily="34" charset="0"/>
                <a:ea typeface="Arial" pitchFamily="34" charset="-122"/>
                <a:cs typeface="Arial" pitchFamily="34" charset="-120"/>
              </a:rPr>
              <a:t>Пять процедур</a:t>
            </a:r>
            <a:endParaRPr lang="en-US" sz="1800" dirty="0"/>
          </a:p>
        </p:txBody>
      </p:sp>
      <p:sp>
        <p:nvSpPr>
          <p:cNvPr id="11" name="Text 9"/>
          <p:cNvSpPr/>
          <p:nvPr/>
        </p:nvSpPr>
        <p:spPr>
          <a:xfrm>
            <a:off x="6493748" y="2555242"/>
            <a:ext cx="4764040" cy="1454150"/>
          </a:xfrm>
          <a:prstGeom prst="rect">
            <a:avLst/>
          </a:prstGeom>
          <a:noFill/>
          <a:ln/>
        </p:spPr>
        <p:txBody>
          <a:bodyPr wrap="square" lIns="0" tIns="0" rIns="0" bIns="0" rtlCol="0" anchor="t">
            <a:normAutofit/>
          </a:bodyPr>
          <a:lstStyle/>
          <a:p>
            <a:pPr algn="l" marL="211852" indent="-211852">
              <a:lnSpc>
                <a:spcPts val="2250"/>
              </a:lnSpc>
              <a:buSzPct val="100000"/>
              <a:buFontTx/>
              <a:buAutoNum type="arabicPeriod" startAt="1"/>
            </a:pPr>
            <a:r>
              <a:rPr lang="en-US" sz="1500" dirty="0">
                <a:solidFill>
                  <a:srgbClr val="1A1A1A"/>
                </a:solidFill>
                <a:latin typeface="Arial" pitchFamily="34" charset="0"/>
                <a:ea typeface="Arial" pitchFamily="34" charset="-122"/>
                <a:cs typeface="Arial" pitchFamily="34" charset="-120"/>
              </a:rPr>
              <a:t>Наивный t-test, 10-fold</a:t>
            </a:r>
            <a:endParaRPr lang="en-US" sz="1500" dirty="0"/>
          </a:p>
          <a:p>
            <a:pPr algn="l" marL="211852" indent="-211852">
              <a:lnSpc>
                <a:spcPts val="2250"/>
              </a:lnSpc>
              <a:buSzPct val="100000"/>
              <a:buFontTx/>
              <a:buAutoNum type="arabicPeriod" startAt="1"/>
            </a:pPr>
            <a:r>
              <a:rPr lang="en-US" sz="1500" dirty="0">
                <a:solidFill>
                  <a:srgbClr val="1A1A1A"/>
                </a:solidFill>
                <a:latin typeface="Arial" pitchFamily="34" charset="0"/>
                <a:ea typeface="Arial" pitchFamily="34" charset="-122"/>
                <a:cs typeface="Arial" pitchFamily="34" charset="-120"/>
              </a:rPr>
              <a:t>Corrected t-test, 10-fold</a:t>
            </a:r>
            <a:endParaRPr lang="en-US" sz="1500" dirty="0"/>
          </a:p>
          <a:p>
            <a:pPr algn="l" marL="211852" indent="-211852">
              <a:lnSpc>
                <a:spcPts val="2250"/>
              </a:lnSpc>
              <a:buSzPct val="100000"/>
              <a:buFontTx/>
              <a:buAutoNum type="arabicPeriod" startAt="1"/>
            </a:pPr>
            <a:r>
              <a:rPr lang="en-US" sz="1500" dirty="0">
                <a:solidFill>
                  <a:srgbClr val="1A1A1A"/>
                </a:solidFill>
                <a:latin typeface="Arial" pitchFamily="34" charset="0"/>
                <a:ea typeface="Arial" pitchFamily="34" charset="-122"/>
                <a:cs typeface="Arial" pitchFamily="34" charset="-120"/>
              </a:rPr>
              <a:t>5×2cv</a:t>
            </a:r>
            <a:endParaRPr lang="en-US" sz="1500" dirty="0"/>
          </a:p>
          <a:p>
            <a:pPr algn="l" marL="211852" indent="-211852">
              <a:lnSpc>
                <a:spcPts val="2250"/>
              </a:lnSpc>
              <a:buSzPct val="100000"/>
              <a:buFontTx/>
              <a:buAutoNum type="arabicPeriod" startAt="1"/>
            </a:pPr>
            <a:r>
              <a:rPr lang="en-US" sz="1500" dirty="0">
                <a:solidFill>
                  <a:srgbClr val="1A1A1A"/>
                </a:solidFill>
                <a:latin typeface="Arial" pitchFamily="34" charset="0"/>
                <a:ea typeface="Arial" pitchFamily="34" charset="-122"/>
                <a:cs typeface="Arial" pitchFamily="34" charset="-120"/>
              </a:rPr>
              <a:t>Наивный t-test, 30 повторных разбиений</a:t>
            </a:r>
            <a:endParaRPr lang="en-US" sz="1500" dirty="0"/>
          </a:p>
          <a:p>
            <a:pPr algn="l" marL="211852" indent="-211852">
              <a:lnSpc>
                <a:spcPts val="2250"/>
              </a:lnSpc>
              <a:buSzPct val="100000"/>
              <a:buFontTx/>
              <a:buAutoNum type="arabicPeriod" startAt="1"/>
            </a:pPr>
            <a:r>
              <a:rPr lang="en-US" sz="1500" dirty="0">
                <a:solidFill>
                  <a:srgbClr val="1A1A1A"/>
                </a:solidFill>
                <a:latin typeface="Arial" pitchFamily="34" charset="0"/>
                <a:ea typeface="Arial" pitchFamily="34" charset="-122"/>
                <a:cs typeface="Arial" pitchFamily="34" charset="-120"/>
              </a:rPr>
              <a:t>Corrected t-test, 30 повторных разбиений</a:t>
            </a:r>
            <a:endParaRPr lang="en-US" sz="1500" dirty="0"/>
          </a:p>
        </p:txBody>
      </p:sp>
      <p:sp>
        <p:nvSpPr>
          <p:cNvPr id="12" name="Text 10"/>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Arial" pitchFamily="34" charset="0"/>
                <a:ea typeface="Arial" pitchFamily="34" charset="-122"/>
                <a:cs typeface="Arial" pitchFamily="34" charset="-120"/>
              </a:rPr>
              <a:t>Значимость различий в качестве классификаторов</a:t>
            </a:r>
            <a:endParaRPr lang="en-US" sz="1200" dirty="0"/>
          </a:p>
        </p:txBody>
      </p:sp>
      <p:sp>
        <p:nvSpPr>
          <p:cNvPr id="13" name="Text 11"/>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0"/>
                </a:solidFill>
                <a:latin typeface="Arial" pitchFamily="34" charset="0"/>
                <a:ea typeface="Arial" pitchFamily="34" charset="-122"/>
                <a:cs typeface="Arial"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2B5"/>
                </a:solidFill>
                <a:latin typeface="Arial" pitchFamily="34" charset="0"/>
                <a:ea typeface="Arial" pitchFamily="34" charset="-122"/>
                <a:cs typeface="Arial" pitchFamily="34" charset="-120"/>
              </a:rPr>
              <a:t>05 · СИМУЛЯЦИЯ</a:t>
            </a:r>
            <a:endParaRPr lang="en-US" sz="1200" dirty="0"/>
          </a:p>
        </p:txBody>
      </p:sp>
      <p:sp>
        <p:nvSpPr>
          <p:cNvPr id="3" name="Text 1"/>
          <p:cNvSpPr/>
          <p:nvPr>
            <p:ph type="title"/>
          </p:nvPr>
        </p:nvSpPr>
        <p:spPr>
          <a:xfrm>
            <a:off x="812800" y="1229358"/>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A1A1A"/>
                </a:solidFill>
                <a:latin typeface="Arial" pitchFamily="34" charset="0"/>
                <a:ea typeface="Arial" pitchFamily="34" charset="-122"/>
                <a:cs typeface="Arial" pitchFamily="34" charset="-120"/>
              </a:rPr>
              <a:t>Код: симуляция</a:t>
            </a:r>
            <a:endParaRPr lang="en-US" sz="3200" dirty="0"/>
          </a:p>
        </p:txBody>
      </p:sp>
      <p:sp>
        <p:nvSpPr>
          <p:cNvPr id="4" name="Shape 2"/>
          <p:cNvSpPr/>
          <p:nvPr/>
        </p:nvSpPr>
        <p:spPr>
          <a:xfrm>
            <a:off x="815975" y="1903102"/>
            <a:ext cx="6343650" cy="3773170"/>
          </a:xfrm>
          <a:prstGeom prst="roundRect">
            <a:avLst>
              <a:gd name="adj" fmla="val 1935"/>
            </a:avLst>
          </a:prstGeom>
          <a:solidFill>
            <a:srgbClr val="F1F1EC"/>
          </a:solidFill>
          <a:ln w="6350">
            <a:solidFill>
              <a:srgbClr val="DEDED6"/>
            </a:solidFill>
            <a:prstDash val="solid"/>
          </a:ln>
        </p:spPr>
      </p:sp>
      <p:sp>
        <p:nvSpPr>
          <p:cNvPr id="5" name="Text 3"/>
          <p:cNvSpPr/>
          <p:nvPr/>
        </p:nvSpPr>
        <p:spPr>
          <a:xfrm>
            <a:off x="1021080" y="2082800"/>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6639B7"/>
                </a:solidFill>
                <a:latin typeface="Courier New" pitchFamily="49" charset="0"/>
                <a:ea typeface="Courier New" pitchFamily="49" charset="-122"/>
                <a:cs typeface="Courier New" pitchFamily="49" charset="-120"/>
              </a:rPr>
              <a:t>def</a:t>
            </a:r>
            <a:r>
              <a:rPr lang="en-US" sz="1200" dirty="0">
                <a:solidFill>
                  <a:srgbClr val="1A1A1A"/>
                </a:solidFill>
                <a:latin typeface="Courier New" pitchFamily="49" charset="0"/>
                <a:ea typeface="Courier New" pitchFamily="49" charset="-122"/>
                <a:cs typeface="Courier New" pitchFamily="49" charset="-120"/>
              </a:rPr>
              <a:t> p_from_differences(d, variance_factor, df):</a:t>
            </a:r>
            <a:endParaRPr lang="en-US" sz="1200" dirty="0"/>
          </a:p>
        </p:txBody>
      </p:sp>
      <p:sp>
        <p:nvSpPr>
          <p:cNvPr id="6" name="Text 4"/>
          <p:cNvSpPr/>
          <p:nvPr/>
        </p:nvSpPr>
        <p:spPr>
          <a:xfrm>
            <a:off x="1389380" y="2296158"/>
            <a:ext cx="573209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t = d.mean() / (d.std(ddof=1) * np.sqrt(variance_factor))</a:t>
            </a:r>
            <a:endParaRPr lang="en-US" sz="1200" dirty="0"/>
          </a:p>
        </p:txBody>
      </p:sp>
      <p:sp>
        <p:nvSpPr>
          <p:cNvPr id="7" name="Text 5"/>
          <p:cNvSpPr/>
          <p:nvPr/>
        </p:nvSpPr>
        <p:spPr>
          <a:xfrm>
            <a:off x="1389380" y="2509527"/>
            <a:ext cx="573209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6639B7"/>
                </a:solidFill>
                <a:latin typeface="Courier New" pitchFamily="49" charset="0"/>
                <a:ea typeface="Courier New" pitchFamily="49" charset="-122"/>
                <a:cs typeface="Courier New" pitchFamily="49" charset="-120"/>
              </a:rPr>
              <a:t>return</a:t>
            </a:r>
            <a:r>
              <a:rPr lang="en-US" sz="1200" dirty="0">
                <a:solidFill>
                  <a:srgbClr val="1A1A1A"/>
                </a:solidFill>
                <a:latin typeface="Courier New" pitchFamily="49" charset="0"/>
                <a:ea typeface="Courier New" pitchFamily="49" charset="-122"/>
                <a:cs typeface="Courier New" pitchFamily="49" charset="-120"/>
              </a:rPr>
              <a:t> 2 * stats.t.sf(abs(t), df)</a:t>
            </a:r>
            <a:endParaRPr lang="en-US" sz="1200" dirty="0"/>
          </a:p>
        </p:txBody>
      </p:sp>
      <p:sp>
        <p:nvSpPr>
          <p:cNvPr id="8" name="Text 6"/>
          <p:cNvSpPr/>
          <p:nvPr/>
        </p:nvSpPr>
        <p:spPr>
          <a:xfrm>
            <a:off x="1021080" y="2936242"/>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6639B7"/>
                </a:solidFill>
                <a:latin typeface="Courier New" pitchFamily="49" charset="0"/>
                <a:ea typeface="Courier New" pitchFamily="49" charset="-122"/>
                <a:cs typeface="Courier New" pitchFamily="49" charset="-120"/>
              </a:rPr>
              <a:t>def</a:t>
            </a:r>
            <a:r>
              <a:rPr lang="en-US" sz="1200" dirty="0">
                <a:solidFill>
                  <a:srgbClr val="1A1A1A"/>
                </a:solidFill>
                <a:latin typeface="Courier New" pitchFamily="49" charset="0"/>
                <a:ea typeface="Courier New" pitchFamily="49" charset="-122"/>
                <a:cs typeface="Courier New" pitchFamily="49" charset="-120"/>
              </a:rPr>
              <a:t> make_two_view_data(rng, n_objects, shift1, shift2):</a:t>
            </a:r>
            <a:endParaRPr lang="en-US" sz="1200" dirty="0"/>
          </a:p>
        </p:txBody>
      </p:sp>
      <p:sp>
        <p:nvSpPr>
          <p:cNvPr id="9" name="Text 7"/>
          <p:cNvSpPr/>
          <p:nvPr/>
        </p:nvSpPr>
        <p:spPr>
          <a:xfrm>
            <a:off x="1389380" y="3149600"/>
            <a:ext cx="573209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y = rng.randint(0, 2, n_objects)</a:t>
            </a:r>
            <a:endParaRPr lang="en-US" sz="1200" dirty="0"/>
          </a:p>
        </p:txBody>
      </p:sp>
      <p:sp>
        <p:nvSpPr>
          <p:cNvPr id="10" name="Text 8"/>
          <p:cNvSpPr/>
          <p:nvPr/>
        </p:nvSpPr>
        <p:spPr>
          <a:xfrm>
            <a:off x="1389380" y="3362958"/>
            <a:ext cx="573209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sign = (2 * y - 1)[:, None]</a:t>
            </a:r>
            <a:endParaRPr lang="en-US" sz="1200" dirty="0"/>
          </a:p>
        </p:txBody>
      </p:sp>
      <p:sp>
        <p:nvSpPr>
          <p:cNvPr id="11" name="Text 9"/>
          <p:cNvSpPr/>
          <p:nvPr/>
        </p:nvSpPr>
        <p:spPr>
          <a:xfrm>
            <a:off x="1389380" y="3576327"/>
            <a:ext cx="573209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view1 = sign * shift1 + rng.randn(n_objects, 5)</a:t>
            </a:r>
            <a:endParaRPr lang="en-US" sz="1200" dirty="0"/>
          </a:p>
        </p:txBody>
      </p:sp>
      <p:sp>
        <p:nvSpPr>
          <p:cNvPr id="12" name="Text 10"/>
          <p:cNvSpPr/>
          <p:nvPr/>
        </p:nvSpPr>
        <p:spPr>
          <a:xfrm>
            <a:off x="1389380" y="3789685"/>
            <a:ext cx="573209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view2 = sign * shift2 + rng.randn(n_objects, 5)</a:t>
            </a:r>
            <a:endParaRPr lang="en-US" sz="1200" dirty="0"/>
          </a:p>
        </p:txBody>
      </p:sp>
      <p:sp>
        <p:nvSpPr>
          <p:cNvPr id="13" name="Text 11"/>
          <p:cNvSpPr/>
          <p:nvPr/>
        </p:nvSpPr>
        <p:spPr>
          <a:xfrm>
            <a:off x="1389380" y="4003042"/>
            <a:ext cx="573209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6639B7"/>
                </a:solidFill>
                <a:latin typeface="Courier New" pitchFamily="49" charset="0"/>
                <a:ea typeface="Courier New" pitchFamily="49" charset="-122"/>
                <a:cs typeface="Courier New" pitchFamily="49" charset="-120"/>
              </a:rPr>
              <a:t>return</a:t>
            </a:r>
            <a:r>
              <a:rPr lang="en-US" sz="1200" dirty="0">
                <a:solidFill>
                  <a:srgbClr val="1A1A1A"/>
                </a:solidFill>
                <a:latin typeface="Courier New" pitchFamily="49" charset="0"/>
                <a:ea typeface="Courier New" pitchFamily="49" charset="-122"/>
                <a:cs typeface="Courier New" pitchFamily="49" charset="-120"/>
              </a:rPr>
              <a:t> np.hstack([view1, view2]), y</a:t>
            </a:r>
            <a:endParaRPr lang="en-US" sz="1200" dirty="0"/>
          </a:p>
        </p:txBody>
      </p:sp>
      <p:sp>
        <p:nvSpPr>
          <p:cNvPr id="14" name="Text 12"/>
          <p:cNvSpPr/>
          <p:nvPr/>
        </p:nvSpPr>
        <p:spPr>
          <a:xfrm>
            <a:off x="1021080" y="4429758"/>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6639B7"/>
                </a:solidFill>
                <a:latin typeface="Courier New" pitchFamily="49" charset="0"/>
                <a:ea typeface="Courier New" pitchFamily="49" charset="-122"/>
                <a:cs typeface="Courier New" pitchFamily="49" charset="-120"/>
              </a:rPr>
              <a:t>for</a:t>
            </a:r>
            <a:r>
              <a:rPr lang="en-US" sz="1200" dirty="0">
                <a:solidFill>
                  <a:srgbClr val="1A1A1A"/>
                </a:solidFill>
                <a:latin typeface="Courier New" pitchFamily="49" charset="0"/>
                <a:ea typeface="Courier New" pitchFamily="49" charset="-122"/>
                <a:cs typeface="Courier New" pitchFamily="49" charset="-120"/>
              </a:rPr>
              <a:t> scenario, shift2 </a:t>
            </a:r>
            <a:r>
              <a:rPr lang="en-US" sz="1200" dirty="0">
                <a:solidFill>
                  <a:srgbClr val="6639B7"/>
                </a:solidFill>
                <a:latin typeface="Courier New" pitchFamily="49" charset="0"/>
                <a:ea typeface="Courier New" pitchFamily="49" charset="-122"/>
                <a:cs typeface="Courier New" pitchFamily="49" charset="-120"/>
              </a:rPr>
              <a:t>in</a:t>
            </a:r>
            <a:r>
              <a:rPr lang="en-US" sz="1200" dirty="0">
                <a:solidFill>
                  <a:srgbClr val="1A1A1A"/>
                </a:solidFill>
                <a:latin typeface="Courier New" pitchFamily="49" charset="0"/>
                <a:ea typeface="Courier New" pitchFamily="49" charset="-122"/>
                <a:cs typeface="Courier New" pitchFamily="49" charset="-120"/>
              </a:rPr>
              <a:t> scenarios:</a:t>
            </a:r>
            <a:endParaRPr lang="en-US" sz="1200" dirty="0"/>
          </a:p>
        </p:txBody>
      </p:sp>
      <p:sp>
        <p:nvSpPr>
          <p:cNvPr id="15" name="Text 13"/>
          <p:cNvSpPr/>
          <p:nvPr/>
        </p:nvSpPr>
        <p:spPr>
          <a:xfrm>
            <a:off x="1389380" y="4643127"/>
            <a:ext cx="573209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p = Parallel(n_jobs=-1)(</a:t>
            </a:r>
            <a:endParaRPr lang="en-US" sz="1200" dirty="0"/>
          </a:p>
        </p:txBody>
      </p:sp>
      <p:sp>
        <p:nvSpPr>
          <p:cNvPr id="16" name="Text 14"/>
          <p:cNvSpPr/>
          <p:nvPr/>
        </p:nvSpPr>
        <p:spPr>
          <a:xfrm>
            <a:off x="1751330" y="4856485"/>
            <a:ext cx="5359286"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delayed(one_repetition)(r, 200, shift2)</a:t>
            </a:r>
            <a:endParaRPr lang="en-US" sz="1200" dirty="0"/>
          </a:p>
        </p:txBody>
      </p:sp>
      <p:sp>
        <p:nvSpPr>
          <p:cNvPr id="17" name="Text 15"/>
          <p:cNvSpPr/>
          <p:nvPr/>
        </p:nvSpPr>
        <p:spPr>
          <a:xfrm>
            <a:off x="1751330" y="5069842"/>
            <a:ext cx="5359286"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6639B7"/>
                </a:solidFill>
                <a:latin typeface="Courier New" pitchFamily="49" charset="0"/>
                <a:ea typeface="Courier New" pitchFamily="49" charset="-122"/>
                <a:cs typeface="Courier New" pitchFamily="49" charset="-120"/>
              </a:rPr>
              <a:t>for</a:t>
            </a:r>
            <a:r>
              <a:rPr lang="en-US" sz="1200" dirty="0">
                <a:solidFill>
                  <a:srgbClr val="1A1A1A"/>
                </a:solidFill>
                <a:latin typeface="Courier New" pitchFamily="49" charset="0"/>
                <a:ea typeface="Courier New" pitchFamily="49" charset="-122"/>
                <a:cs typeface="Courier New" pitchFamily="49" charset="-120"/>
              </a:rPr>
              <a:t> r </a:t>
            </a:r>
            <a:r>
              <a:rPr lang="en-US" sz="1200" dirty="0">
                <a:solidFill>
                  <a:srgbClr val="6639B7"/>
                </a:solidFill>
                <a:latin typeface="Courier New" pitchFamily="49" charset="0"/>
                <a:ea typeface="Courier New" pitchFamily="49" charset="-122"/>
                <a:cs typeface="Courier New" pitchFamily="49" charset="-120"/>
              </a:rPr>
              <a:t>in</a:t>
            </a:r>
            <a:r>
              <a:rPr lang="en-US" sz="1200" dirty="0">
                <a:solidFill>
                  <a:srgbClr val="1A1A1A"/>
                </a:solidFill>
                <a:latin typeface="Courier New" pitchFamily="49" charset="0"/>
                <a:ea typeface="Courier New" pitchFamily="49" charset="-122"/>
                <a:cs typeface="Courier New" pitchFamily="49" charset="-120"/>
              </a:rPr>
              <a:t> range(500))</a:t>
            </a:r>
            <a:endParaRPr lang="en-US" sz="1200" dirty="0"/>
          </a:p>
        </p:txBody>
      </p:sp>
      <p:sp>
        <p:nvSpPr>
          <p:cNvPr id="18" name="Text 16"/>
          <p:cNvSpPr/>
          <p:nvPr/>
        </p:nvSpPr>
        <p:spPr>
          <a:xfrm>
            <a:off x="1389380" y="5283200"/>
            <a:ext cx="573209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Courier New" pitchFamily="49" charset="0"/>
                <a:ea typeface="Courier New" pitchFamily="49" charset="-122"/>
                <a:cs typeface="Courier New" pitchFamily="49" charset="-120"/>
              </a:rPr>
              <a:t>rates[scenario] = (np.array(p) &lt; 0.05).mean(axis=0)</a:t>
            </a:r>
            <a:endParaRPr lang="en-US" sz="1200" dirty="0"/>
          </a:p>
        </p:txBody>
      </p:sp>
      <p:sp>
        <p:nvSpPr>
          <p:cNvPr id="19" name="Text 17"/>
          <p:cNvSpPr/>
          <p:nvPr/>
        </p:nvSpPr>
        <p:spPr>
          <a:xfrm>
            <a:off x="7366000" y="1899927"/>
            <a:ext cx="413359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A1A"/>
                </a:solidFill>
                <a:latin typeface="Arial" pitchFamily="34" charset="0"/>
                <a:ea typeface="Arial" pitchFamily="34" charset="-122"/>
                <a:cs typeface="Arial" pitchFamily="34" charset="-120"/>
              </a:rPr>
              <a:t>variance_factor: 1/k для наивного теста, 1/k + 1/(k−1) для corrected.</a:t>
            </a:r>
            <a:endParaRPr lang="en-US" sz="1400" dirty="0"/>
          </a:p>
        </p:txBody>
      </p:sp>
      <p:sp>
        <p:nvSpPr>
          <p:cNvPr id="20" name="Text 18"/>
          <p:cNvSpPr/>
          <p:nvPr/>
        </p:nvSpPr>
        <p:spPr>
          <a:xfrm>
            <a:off x="7366000" y="2524758"/>
            <a:ext cx="413359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A1A"/>
                </a:solidFill>
                <a:latin typeface="Arial" pitchFamily="34" charset="0"/>
                <a:ea typeface="Arial" pitchFamily="34" charset="-122"/>
                <a:cs typeface="Arial" pitchFamily="34" charset="-120"/>
              </a:rPr>
              <a:t>Два «вида» признаков: модель A видит первый, модель B второй.</a:t>
            </a:r>
            <a:endParaRPr lang="en-US" sz="1400" dirty="0"/>
          </a:p>
        </p:txBody>
      </p:sp>
      <p:sp>
        <p:nvSpPr>
          <p:cNvPr id="21" name="Text 19"/>
          <p:cNvSpPr/>
          <p:nvPr/>
        </p:nvSpPr>
        <p:spPr>
          <a:xfrm>
            <a:off x="7366000" y="3149600"/>
            <a:ext cx="4133596"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F6670"/>
                </a:solidFill>
                <a:latin typeface="Arial" pitchFamily="34" charset="0"/>
                <a:ea typeface="Arial" pitchFamily="34" charset="-122"/>
                <a:cs typeface="Arial" pitchFamily="34" charset="-120"/>
              </a:rPr>
              <a:t>scenarios: H₀ (shift2 = 0.45, модели равны) и H₁ (shift2 = 0.30). one_repetition считает пять процедур, код сокращён.</a:t>
            </a:r>
            <a:endParaRPr lang="en-US" sz="1400" dirty="0"/>
          </a:p>
        </p:txBody>
      </p:sp>
      <p:sp>
        <p:nvSpPr>
          <p:cNvPr id="22" name="Text 20"/>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Arial" pitchFamily="34" charset="0"/>
                <a:ea typeface="Arial" pitchFamily="34" charset="-122"/>
                <a:cs typeface="Arial" pitchFamily="34" charset="-120"/>
              </a:rPr>
              <a:t>Значимость различий в качестве классификаторов</a:t>
            </a:r>
            <a:endParaRPr lang="en-US" sz="1200" dirty="0"/>
          </a:p>
        </p:txBody>
      </p:sp>
      <p:sp>
        <p:nvSpPr>
          <p:cNvPr id="23" name="Text 21"/>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0"/>
                </a:solidFill>
                <a:latin typeface="Arial" pitchFamily="34" charset="0"/>
                <a:ea typeface="Arial" pitchFamily="34" charset="-122"/>
                <a:cs typeface="Arial"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2B5"/>
                </a:solidFill>
                <a:latin typeface="Arial" pitchFamily="34" charset="0"/>
                <a:ea typeface="Arial" pitchFamily="34" charset="-122"/>
                <a:cs typeface="Arial" pitchFamily="34" charset="-120"/>
              </a:rPr>
              <a:t>05 · СИМУЛЯЦИЯ</a:t>
            </a:r>
            <a:endParaRPr lang="en-US" sz="1200" dirty="0"/>
          </a:p>
        </p:txBody>
      </p:sp>
      <p:sp>
        <p:nvSpPr>
          <p:cNvPr id="3" name="Text 1"/>
          <p:cNvSpPr/>
          <p:nvPr>
            <p:ph type="title"/>
          </p:nvPr>
        </p:nvSpPr>
        <p:spPr>
          <a:xfrm>
            <a:off x="812800" y="1229358"/>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A1A1A"/>
                </a:solidFill>
                <a:latin typeface="Arial" pitchFamily="34" charset="0"/>
                <a:ea typeface="Arial" pitchFamily="34" charset="-122"/>
                <a:cs typeface="Arial" pitchFamily="34" charset="-120"/>
              </a:rPr>
              <a:t>Где наивный тест действительно ошибается</a:t>
            </a:r>
            <a:endParaRPr lang="en-US" sz="3200" dirty="0"/>
          </a:p>
        </p:txBody>
      </p:sp>
      <p:pic>
        <p:nvPicPr>
          <p:cNvPr id="4" name="Image 0" descr="Два столбчатых графика: ошибка первого рода и мощность пяти процедур; наивный t-test на 30 повторных разбиениях ошибается в 58.8% случаев">    </p:cNvPr>
          <p:cNvPicPr>
            <a:picLocks noChangeAspect="1"/>
          </p:cNvPicPr>
          <p:nvPr/>
        </p:nvPicPr>
        <p:blipFill>
          <a:blip r:embed="rId1"/>
          <a:srcRect l="0" r="0" t="-35" b="-35"/>
          <a:stretch/>
        </p:blipFill>
        <p:spPr>
          <a:xfrm>
            <a:off x="812800" y="1899927"/>
            <a:ext cx="8255000" cy="3028950"/>
          </a:xfrm>
          <a:prstGeom prst="rect">
            <a:avLst/>
          </a:prstGeom>
        </p:spPr>
      </p:pic>
      <p:sp>
        <p:nvSpPr>
          <p:cNvPr id="5" name="Text 2"/>
          <p:cNvSpPr/>
          <p:nvPr/>
        </p:nvSpPr>
        <p:spPr>
          <a:xfrm>
            <a:off x="812800" y="5132077"/>
            <a:ext cx="1088339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A1A1A"/>
                </a:solidFill>
                <a:latin typeface="Arial" pitchFamily="34" charset="0"/>
                <a:ea typeface="Arial" pitchFamily="34" charset="-122"/>
                <a:cs typeface="Arial" pitchFamily="34" charset="-120"/>
              </a:rPr>
              <a:t>Повторные разбиения: 58.8% ложных находок при норме 5%. 10-fold: 3.0%. Поправка на 10-fold консервативна: мощность 25% против 53%. При 100 и 400 объектах картина та же.</a:t>
            </a:r>
            <a:endParaRPr lang="en-US" sz="1600" dirty="0"/>
          </a:p>
        </p:txBody>
      </p:sp>
      <p:sp>
        <p:nvSpPr>
          <p:cNvPr id="6" name="Text 3"/>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Arial" pitchFamily="34" charset="0"/>
                <a:ea typeface="Arial" pitchFamily="34" charset="-122"/>
                <a:cs typeface="Arial" pitchFamily="34" charset="-120"/>
              </a:rPr>
              <a:t>Значимость различий в качестве классификаторов</a:t>
            </a:r>
            <a:endParaRPr lang="en-US" sz="1200" dirty="0"/>
          </a:p>
        </p:txBody>
      </p:sp>
      <p:sp>
        <p:nvSpPr>
          <p:cNvPr id="7" name="Text 4"/>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0"/>
                </a:solidFill>
                <a:latin typeface="Arial" pitchFamily="34" charset="0"/>
                <a:ea typeface="Arial" pitchFamily="34" charset="-122"/>
                <a:cs typeface="Arial"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2B5"/>
                </a:solidFill>
                <a:latin typeface="Arial" pitchFamily="34" charset="0"/>
                <a:ea typeface="Arial" pitchFamily="34" charset="-122"/>
                <a:cs typeface="Arial" pitchFamily="34" charset="-120"/>
              </a:rPr>
              <a:t>06 · ИТОГИ</a:t>
            </a:r>
            <a:endParaRPr lang="en-US" sz="1200" dirty="0"/>
          </a:p>
        </p:txBody>
      </p:sp>
      <p:sp>
        <p:nvSpPr>
          <p:cNvPr id="3" name="Text 1"/>
          <p:cNvSpPr/>
          <p:nvPr>
            <p:ph type="title"/>
          </p:nvPr>
        </p:nvSpPr>
        <p:spPr>
          <a:xfrm>
            <a:off x="812800" y="1229358"/>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A1A1A"/>
                </a:solidFill>
                <a:latin typeface="Arial" pitchFamily="34" charset="0"/>
                <a:ea typeface="Arial" pitchFamily="34" charset="-122"/>
                <a:cs typeface="Arial" pitchFamily="34" charset="-120"/>
              </a:rPr>
              <a:t>Выводы</a:t>
            </a:r>
            <a:endParaRPr lang="en-US" sz="3200" dirty="0"/>
          </a:p>
        </p:txBody>
      </p:sp>
      <p:sp>
        <p:nvSpPr>
          <p:cNvPr id="4" name="Shape 2"/>
          <p:cNvSpPr/>
          <p:nvPr/>
        </p:nvSpPr>
        <p:spPr>
          <a:xfrm>
            <a:off x="812800" y="1899927"/>
            <a:ext cx="5181600" cy="1376680"/>
          </a:xfrm>
          <a:prstGeom prst="roundRect">
            <a:avLst>
              <a:gd name="adj" fmla="val 7380"/>
            </a:avLst>
          </a:prstGeom>
          <a:solidFill>
            <a:srgbClr val="F1F1EC"/>
          </a:solidFill>
          <a:ln/>
        </p:spPr>
      </p:sp>
      <p:sp>
        <p:nvSpPr>
          <p:cNvPr id="5" name="Text 3"/>
          <p:cNvSpPr/>
          <p:nvPr/>
        </p:nvSpPr>
        <p:spPr>
          <a:xfrm>
            <a:off x="1066800" y="2128527"/>
            <a:ext cx="481380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A1A1A"/>
                </a:solidFill>
                <a:latin typeface="Arial" pitchFamily="34" charset="0"/>
                <a:ea typeface="Arial" pitchFamily="34" charset="-122"/>
                <a:cs typeface="Arial" pitchFamily="34" charset="-120"/>
              </a:rPr>
              <a:t>Выбор теста меняет вывод</a:t>
            </a:r>
            <a:endParaRPr lang="en-US" sz="1800" dirty="0"/>
          </a:p>
        </p:txBody>
      </p:sp>
      <p:sp>
        <p:nvSpPr>
          <p:cNvPr id="6" name="Text 4"/>
          <p:cNvSpPr/>
          <p:nvPr/>
        </p:nvSpPr>
        <p:spPr>
          <a:xfrm>
            <a:off x="1066800" y="2479042"/>
            <a:ext cx="4813808"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F6670"/>
                </a:solidFill>
                <a:latin typeface="Arial" pitchFamily="34" charset="0"/>
                <a:ea typeface="Arial" pitchFamily="34" charset="-122"/>
                <a:cs typeface="Arial" pitchFamily="34" charset="-120"/>
              </a:rPr>
              <a:t>Из 45 сравнений наивный тест находит 20 значимых, corrected 14, 5×2cv 9, McNemar 7.</a:t>
            </a:r>
            <a:endParaRPr lang="en-US" sz="1600" dirty="0"/>
          </a:p>
        </p:txBody>
      </p:sp>
      <p:sp>
        <p:nvSpPr>
          <p:cNvPr id="7" name="Shape 5"/>
          <p:cNvSpPr/>
          <p:nvPr/>
        </p:nvSpPr>
        <p:spPr>
          <a:xfrm>
            <a:off x="6197600" y="1899927"/>
            <a:ext cx="5181600" cy="1376680"/>
          </a:xfrm>
          <a:prstGeom prst="roundRect">
            <a:avLst>
              <a:gd name="adj" fmla="val 7380"/>
            </a:avLst>
          </a:prstGeom>
          <a:solidFill>
            <a:srgbClr val="F1F1EC"/>
          </a:solidFill>
          <a:ln/>
        </p:spPr>
      </p:sp>
      <p:sp>
        <p:nvSpPr>
          <p:cNvPr id="8" name="Text 6"/>
          <p:cNvSpPr/>
          <p:nvPr/>
        </p:nvSpPr>
        <p:spPr>
          <a:xfrm>
            <a:off x="6451600" y="2128527"/>
            <a:ext cx="481380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A1A1A"/>
                </a:solidFill>
                <a:latin typeface="Arial" pitchFamily="34" charset="0"/>
                <a:ea typeface="Arial" pitchFamily="34" charset="-122"/>
                <a:cs typeface="Arial" pitchFamily="34" charset="-120"/>
              </a:rPr>
              <a:t>Сильные различия видны всем</a:t>
            </a:r>
            <a:endParaRPr lang="en-US" sz="1800" dirty="0"/>
          </a:p>
        </p:txBody>
      </p:sp>
      <p:sp>
        <p:nvSpPr>
          <p:cNvPr id="9" name="Text 7"/>
          <p:cNvSpPr/>
          <p:nvPr/>
        </p:nvSpPr>
        <p:spPr>
          <a:xfrm>
            <a:off x="6451600" y="2479042"/>
            <a:ext cx="4813808"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F6670"/>
                </a:solidFill>
                <a:latin typeface="Arial" pitchFamily="34" charset="0"/>
                <a:ea typeface="Arial" pitchFamily="34" charset="-122"/>
                <a:cs typeface="Arial" pitchFamily="34" charset="-120"/>
              </a:rPr>
              <a:t>После Холма наивный и corrected оставляют одни и те же 6 сравнений (разрыв 2–16 п. п.).</a:t>
            </a:r>
            <a:endParaRPr lang="en-US" sz="1600" dirty="0"/>
          </a:p>
        </p:txBody>
      </p:sp>
      <p:sp>
        <p:nvSpPr>
          <p:cNvPr id="10" name="Shape 8"/>
          <p:cNvSpPr/>
          <p:nvPr/>
        </p:nvSpPr>
        <p:spPr>
          <a:xfrm>
            <a:off x="812800" y="3479800"/>
            <a:ext cx="5181600" cy="1376680"/>
          </a:xfrm>
          <a:prstGeom prst="roundRect">
            <a:avLst>
              <a:gd name="adj" fmla="val 7380"/>
            </a:avLst>
          </a:prstGeom>
          <a:solidFill>
            <a:srgbClr val="F1F1EC"/>
          </a:solidFill>
          <a:ln/>
        </p:spPr>
      </p:sp>
      <p:sp>
        <p:nvSpPr>
          <p:cNvPr id="11" name="Text 9"/>
          <p:cNvSpPr/>
          <p:nvPr/>
        </p:nvSpPr>
        <p:spPr>
          <a:xfrm>
            <a:off x="1066800" y="3708400"/>
            <a:ext cx="481380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A1A1A"/>
                </a:solidFill>
                <a:latin typeface="Arial" pitchFamily="34" charset="0"/>
                <a:ea typeface="Arial" pitchFamily="34" charset="-122"/>
                <a:cs typeface="Arial" pitchFamily="34" charset="-120"/>
              </a:rPr>
              <a:t>Наивный тест ломается не везде</a:t>
            </a:r>
            <a:endParaRPr lang="en-US" sz="1800" dirty="0"/>
          </a:p>
        </p:txBody>
      </p:sp>
      <p:sp>
        <p:nvSpPr>
          <p:cNvPr id="12" name="Text 10"/>
          <p:cNvSpPr/>
          <p:nvPr/>
        </p:nvSpPr>
        <p:spPr>
          <a:xfrm>
            <a:off x="1066800" y="4058927"/>
            <a:ext cx="4813808"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F6670"/>
                </a:solidFill>
                <a:latin typeface="Arial" pitchFamily="34" charset="0"/>
                <a:ea typeface="Arial" pitchFamily="34" charset="-122"/>
                <a:cs typeface="Arial" pitchFamily="34" charset="-120"/>
              </a:rPr>
              <a:t>На повторных разбиениях 59% ложных находок, на 10-fold около 3%.</a:t>
            </a:r>
            <a:endParaRPr lang="en-US" sz="1600" dirty="0"/>
          </a:p>
        </p:txBody>
      </p:sp>
      <p:sp>
        <p:nvSpPr>
          <p:cNvPr id="13" name="Shape 11"/>
          <p:cNvSpPr/>
          <p:nvPr/>
        </p:nvSpPr>
        <p:spPr>
          <a:xfrm>
            <a:off x="6197600" y="3479800"/>
            <a:ext cx="5181600" cy="1376680"/>
          </a:xfrm>
          <a:prstGeom prst="roundRect">
            <a:avLst>
              <a:gd name="adj" fmla="val 7380"/>
            </a:avLst>
          </a:prstGeom>
          <a:solidFill>
            <a:srgbClr val="F1F1EC"/>
          </a:solidFill>
          <a:ln/>
        </p:spPr>
      </p:sp>
      <p:sp>
        <p:nvSpPr>
          <p:cNvPr id="14" name="Text 12"/>
          <p:cNvSpPr/>
          <p:nvPr/>
        </p:nvSpPr>
        <p:spPr>
          <a:xfrm>
            <a:off x="6451600" y="3708400"/>
            <a:ext cx="481380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A1A1A"/>
                </a:solidFill>
                <a:latin typeface="Arial" pitchFamily="34" charset="0"/>
                <a:ea typeface="Arial" pitchFamily="34" charset="-122"/>
                <a:cs typeface="Arial" pitchFamily="34" charset="-120"/>
              </a:rPr>
              <a:t>Лучшей модели в целом нет</a:t>
            </a:r>
            <a:endParaRPr lang="en-US" sz="1800" dirty="0"/>
          </a:p>
        </p:txBody>
      </p:sp>
      <p:sp>
        <p:nvSpPr>
          <p:cNvPr id="15" name="Text 13"/>
          <p:cNvSpPr/>
          <p:nvPr/>
        </p:nvSpPr>
        <p:spPr>
          <a:xfrm>
            <a:off x="6451600" y="4058927"/>
            <a:ext cx="4813808"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F6670"/>
                </a:solidFill>
                <a:latin typeface="Arial" pitchFamily="34" charset="0"/>
                <a:ea typeface="Arial" pitchFamily="34" charset="-122"/>
                <a:cs typeface="Arial" pitchFamily="34" charset="-120"/>
              </a:rPr>
              <a:t>Фридман на 15 датасетах: p = 0.52. Лидер меняется от датасета к датасету.</a:t>
            </a:r>
            <a:endParaRPr lang="en-US" sz="1600" dirty="0"/>
          </a:p>
        </p:txBody>
      </p:sp>
      <p:sp>
        <p:nvSpPr>
          <p:cNvPr id="16" name="Text 14"/>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Arial" pitchFamily="34" charset="0"/>
                <a:ea typeface="Arial" pitchFamily="34" charset="-122"/>
                <a:cs typeface="Arial" pitchFamily="34" charset="-120"/>
              </a:rPr>
              <a:t>Значимость различий в качестве классификаторов</a:t>
            </a:r>
            <a:endParaRPr lang="en-US" sz="1200" dirty="0"/>
          </a:p>
        </p:txBody>
      </p:sp>
      <p:sp>
        <p:nvSpPr>
          <p:cNvPr id="17" name="Text 15"/>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0"/>
                </a:solidFill>
                <a:latin typeface="Arial" pitchFamily="34" charset="0"/>
                <a:ea typeface="Arial" pitchFamily="34" charset="-122"/>
                <a:cs typeface="Arial" pitchFamily="34"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2B5"/>
                </a:solidFill>
                <a:latin typeface="Arial" pitchFamily="34" charset="0"/>
                <a:ea typeface="Arial" pitchFamily="34" charset="-122"/>
                <a:cs typeface="Arial" pitchFamily="34" charset="-120"/>
              </a:rPr>
              <a:t>06 · ИТОГИ</a:t>
            </a:r>
            <a:endParaRPr lang="en-US" sz="1200" dirty="0"/>
          </a:p>
        </p:txBody>
      </p:sp>
      <p:sp>
        <p:nvSpPr>
          <p:cNvPr id="3" name="Text 1"/>
          <p:cNvSpPr/>
          <p:nvPr>
            <p:ph type="title"/>
          </p:nvPr>
        </p:nvSpPr>
        <p:spPr>
          <a:xfrm>
            <a:off x="812800" y="1229358"/>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A1A1A"/>
                </a:solidFill>
                <a:latin typeface="Arial" pitchFamily="34" charset="0"/>
                <a:ea typeface="Arial" pitchFamily="34" charset="-122"/>
                <a:cs typeface="Arial" pitchFamily="34" charset="-120"/>
              </a:rPr>
              <a:t>Ограничения</a:t>
            </a:r>
            <a:endParaRPr lang="en-US" sz="3200" dirty="0"/>
          </a:p>
        </p:txBody>
      </p:sp>
      <p:sp>
        <p:nvSpPr>
          <p:cNvPr id="4" name="Text 2"/>
          <p:cNvSpPr/>
          <p:nvPr/>
        </p:nvSpPr>
        <p:spPr>
          <a:xfrm>
            <a:off x="854710" y="1899927"/>
            <a:ext cx="10833862" cy="1993900"/>
          </a:xfrm>
          <a:prstGeom prst="rect">
            <a:avLst/>
          </a:prstGeom>
          <a:noFill/>
          <a:ln/>
        </p:spPr>
        <p:txBody>
          <a:bodyPr wrap="square" lIns="0" tIns="0" rIns="0" bIns="0" rtlCol="0" anchor="t">
            <a:normAutofit/>
          </a:bodyPr>
          <a:lstStyle/>
          <a:p>
            <a:pPr algn="l" marL="212090" indent="-212090">
              <a:lnSpc>
                <a:spcPts val="3100"/>
              </a:lnSpc>
              <a:buSzPct val="100000"/>
              <a:buChar char="•"/>
            </a:pPr>
            <a:r>
              <a:rPr lang="en-US" sz="2000" dirty="0">
                <a:solidFill>
                  <a:srgbClr val="1A1A1A"/>
                </a:solidFill>
                <a:latin typeface="Arial" pitchFamily="34" charset="0"/>
                <a:ea typeface="Arial" pitchFamily="34" charset="-122"/>
                <a:cs typeface="Arial" pitchFamily="34" charset="-120"/>
              </a:rPr>
              <a:t>15 датасетов: мощность группового теста всё ещё ограничена.</a:t>
            </a:r>
            <a:endParaRPr lang="en-US" sz="2000" dirty="0"/>
          </a:p>
          <a:p>
            <a:pPr algn="l" marL="212090" indent="-212090">
              <a:lnSpc>
                <a:spcPts val="3100"/>
              </a:lnSpc>
              <a:buSzPct val="100000"/>
              <a:buChar char="•"/>
            </a:pPr>
            <a:r>
              <a:rPr lang="en-US" sz="2000" dirty="0">
                <a:solidFill>
                  <a:srgbClr val="1A1A1A"/>
                </a:solidFill>
                <a:latin typeface="Arial" pitchFamily="34" charset="0"/>
                <a:ea typeface="Arial" pitchFamily="34" charset="-122"/>
                <a:cs typeface="Arial" pitchFamily="34" charset="-120"/>
              </a:rPr>
              <a:t>Гиперпараметры по умолчанию: цель работы это тесты, а не точность.</a:t>
            </a:r>
            <a:endParaRPr lang="en-US" sz="2000" dirty="0"/>
          </a:p>
          <a:p>
            <a:pPr algn="l" marL="212090" indent="-212090">
              <a:lnSpc>
                <a:spcPts val="3100"/>
              </a:lnSpc>
              <a:buSzPct val="100000"/>
              <a:buChar char="•"/>
            </a:pPr>
            <a:r>
              <a:rPr lang="en-US" sz="2000" dirty="0">
                <a:solidFill>
                  <a:srgbClr val="1A1A1A"/>
                </a:solidFill>
                <a:latin typeface="Arial" pitchFamily="34" charset="0"/>
                <a:ea typeface="Arial" pitchFamily="34" charset="-122"/>
                <a:cs typeface="Arial" pitchFamily="34" charset="-120"/>
              </a:rPr>
              <a:t>На реальных данных истинная разница неизвестна, поэтому нужна симуляция.</a:t>
            </a:r>
            <a:endParaRPr lang="en-US" sz="2000" dirty="0"/>
          </a:p>
          <a:p>
            <a:pPr algn="l" marL="212090" indent="-212090">
              <a:lnSpc>
                <a:spcPts val="3100"/>
              </a:lnSpc>
              <a:buSzPct val="100000"/>
              <a:buChar char="•"/>
            </a:pPr>
            <a:r>
              <a:rPr lang="en-US" sz="2000" dirty="0">
                <a:solidFill>
                  <a:srgbClr val="1A1A1A"/>
                </a:solidFill>
                <a:latin typeface="Arial" pitchFamily="34" charset="0"/>
                <a:ea typeface="Arial" pitchFamily="34" charset="-122"/>
                <a:cs typeface="Arial" pitchFamily="34" charset="-120"/>
              </a:rPr>
              <a:t>Симуляция: один дизайн (логрегрессия), 100–400 объектов.</a:t>
            </a:r>
            <a:endParaRPr lang="en-US" sz="2000" dirty="0"/>
          </a:p>
          <a:p>
            <a:pPr algn="l" marL="212090" indent="-212090">
              <a:lnSpc>
                <a:spcPts val="3100"/>
              </a:lnSpc>
              <a:buSzPct val="100000"/>
              <a:buChar char="•"/>
            </a:pPr>
            <a:r>
              <a:rPr lang="en-US" sz="2000" dirty="0">
                <a:solidFill>
                  <a:srgbClr val="1A1A1A"/>
                </a:solidFill>
                <a:latin typeface="Arial" pitchFamily="34" charset="0"/>
                <a:ea typeface="Arial" pitchFamily="34" charset="-122"/>
                <a:cs typeface="Arial" pitchFamily="34" charset="-120"/>
              </a:rPr>
              <a:t>5×2cv и McNemar приведены как медиана по нескольким разбиениям.</a:t>
            </a:r>
            <a:endParaRPr lang="en-US" sz="2000" dirty="0"/>
          </a:p>
        </p:txBody>
      </p:sp>
      <p:sp>
        <p:nvSpPr>
          <p:cNvPr id="5" name="Text 3"/>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Arial" pitchFamily="34" charset="0"/>
                <a:ea typeface="Arial" pitchFamily="34" charset="-122"/>
                <a:cs typeface="Arial" pitchFamily="34" charset="-120"/>
              </a:rPr>
              <a:t>Значимость различий в качестве классификаторов</a:t>
            </a:r>
            <a:endParaRPr lang="en-US" sz="1200" dirty="0"/>
          </a:p>
        </p:txBody>
      </p:sp>
      <p:sp>
        <p:nvSpPr>
          <p:cNvPr id="6" name="Text 4"/>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0"/>
                </a:solidFill>
                <a:latin typeface="Arial" pitchFamily="34" charset="0"/>
                <a:ea typeface="Arial" pitchFamily="34" charset="-122"/>
                <a:cs typeface="Arial" pitchFamily="34"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2B5"/>
                </a:solidFill>
                <a:latin typeface="Arial" pitchFamily="34" charset="0"/>
                <a:ea typeface="Arial" pitchFamily="34" charset="-122"/>
                <a:cs typeface="Arial" pitchFamily="34" charset="-120"/>
              </a:rPr>
              <a:t>06 · ИТОГИ</a:t>
            </a:r>
            <a:endParaRPr lang="en-US" sz="1200" dirty="0"/>
          </a:p>
        </p:txBody>
      </p:sp>
      <p:sp>
        <p:nvSpPr>
          <p:cNvPr id="3" name="Text 1"/>
          <p:cNvSpPr/>
          <p:nvPr>
            <p:ph type="title"/>
          </p:nvPr>
        </p:nvSpPr>
        <p:spPr>
          <a:xfrm>
            <a:off x="812800" y="1229358"/>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A1A1A"/>
                </a:solidFill>
                <a:latin typeface="Arial" pitchFamily="34" charset="0"/>
                <a:ea typeface="Arial" pitchFamily="34" charset="-122"/>
                <a:cs typeface="Arial" pitchFamily="34" charset="-120"/>
              </a:rPr>
              <a:t>Источники</a:t>
            </a:r>
            <a:endParaRPr lang="en-US" sz="3200" dirty="0"/>
          </a:p>
        </p:txBody>
      </p:sp>
      <p:sp>
        <p:nvSpPr>
          <p:cNvPr id="4" name="Text 2"/>
          <p:cNvSpPr/>
          <p:nvPr/>
        </p:nvSpPr>
        <p:spPr>
          <a:xfrm>
            <a:off x="889508" y="1899927"/>
            <a:ext cx="10799064" cy="2159000"/>
          </a:xfrm>
          <a:prstGeom prst="rect">
            <a:avLst/>
          </a:prstGeom>
          <a:noFill/>
          <a:ln/>
        </p:spPr>
        <p:txBody>
          <a:bodyPr wrap="square" lIns="0" tIns="0" rIns="0" bIns="0" rtlCol="0" anchor="t">
            <a:normAutofit/>
          </a:bodyPr>
          <a:lstStyle/>
          <a:p>
            <a:pPr algn="l" marL="177292" indent="-177292">
              <a:lnSpc>
                <a:spcPts val="2400"/>
              </a:lnSpc>
              <a:buSzPct val="100000"/>
              <a:buChar char="•"/>
            </a:pPr>
            <a:r>
              <a:rPr lang="en-US" sz="1600" dirty="0">
                <a:solidFill>
                  <a:srgbClr val="1A1A1A"/>
                </a:solidFill>
                <a:latin typeface="Arial" pitchFamily="34" charset="0"/>
                <a:ea typeface="Arial" pitchFamily="34" charset="-122"/>
                <a:cs typeface="Arial" pitchFamily="34" charset="-120"/>
              </a:rPr>
              <a:t>Dietterich T. G. (1998). Approximate Statistical Tests for Comparing Supervised Classification Learning Algorithms. Neural Computation, 10(7).</a:t>
            </a:r>
            <a:endParaRPr lang="en-US" sz="1600" dirty="0"/>
          </a:p>
          <a:p>
            <a:pPr algn="l" marL="177292" indent="-177292">
              <a:lnSpc>
                <a:spcPts val="2400"/>
              </a:lnSpc>
              <a:buSzPct val="100000"/>
              <a:buChar char="•"/>
            </a:pPr>
            <a:r>
              <a:rPr lang="en-US" sz="1600" dirty="0">
                <a:solidFill>
                  <a:srgbClr val="1A1A1A"/>
                </a:solidFill>
                <a:latin typeface="Arial" pitchFamily="34" charset="0"/>
                <a:ea typeface="Arial" pitchFamily="34" charset="-122"/>
                <a:cs typeface="Arial" pitchFamily="34" charset="-120"/>
              </a:rPr>
              <a:t>Nadeau C., Bengio Y. (2003). Inference for the Generalization Error. Machine Learning, 52.</a:t>
            </a:r>
            <a:endParaRPr lang="en-US" sz="1600" dirty="0"/>
          </a:p>
          <a:p>
            <a:pPr algn="l" marL="177292" indent="-177292">
              <a:lnSpc>
                <a:spcPts val="2400"/>
              </a:lnSpc>
              <a:buSzPct val="100000"/>
              <a:buChar char="•"/>
            </a:pPr>
            <a:r>
              <a:rPr lang="en-US" sz="1600" dirty="0">
                <a:solidFill>
                  <a:srgbClr val="1A1A1A"/>
                </a:solidFill>
                <a:latin typeface="Arial" pitchFamily="34" charset="0"/>
                <a:ea typeface="Arial" pitchFamily="34" charset="-122"/>
                <a:cs typeface="Arial" pitchFamily="34" charset="-120"/>
              </a:rPr>
              <a:t>Demšar J. (2006). Statistical Comparisons of Classifiers over Multiple Data Sets. JMLR, 7.</a:t>
            </a:r>
            <a:endParaRPr lang="en-US" sz="1600" dirty="0"/>
          </a:p>
          <a:p>
            <a:pPr algn="l" marL="177292" indent="-177292">
              <a:lnSpc>
                <a:spcPts val="2400"/>
              </a:lnSpc>
              <a:buSzPct val="100000"/>
              <a:buChar char="•"/>
            </a:pPr>
            <a:r>
              <a:rPr lang="en-US" sz="1600" dirty="0">
                <a:solidFill>
                  <a:srgbClr val="1A1A1A"/>
                </a:solidFill>
                <a:latin typeface="Arial" pitchFamily="34" charset="0"/>
                <a:ea typeface="Arial" pitchFamily="34" charset="-122"/>
                <a:cs typeface="Arial" pitchFamily="34" charset="-120"/>
              </a:rPr>
              <a:t>García S., Herrera F. (2008). An Extension on «Statistical Comparisons of Classifiers over Multiple Data Sets» for all Pairwise Comparisons. JMLR, 9.</a:t>
            </a:r>
            <a:endParaRPr lang="en-US" sz="1600" dirty="0"/>
          </a:p>
          <a:p>
            <a:pPr algn="l" marL="177292" indent="-177292">
              <a:lnSpc>
                <a:spcPts val="2400"/>
              </a:lnSpc>
              <a:buSzPct val="100000"/>
              <a:buChar char="•"/>
            </a:pPr>
            <a:r>
              <a:rPr lang="en-US" sz="1600" dirty="0">
                <a:solidFill>
                  <a:srgbClr val="1A1A1A"/>
                </a:solidFill>
                <a:latin typeface="Arial" pitchFamily="34" charset="0"/>
                <a:ea typeface="Arial" pitchFamily="34" charset="-122"/>
                <a:cs typeface="Arial" pitchFamily="34" charset="-120"/>
              </a:rPr>
              <a:t>Király F. J., Mateen B., Sonabend R. (2018). NIPS — Not Even Wrong? arXiv:1812.07519.</a:t>
            </a:r>
            <a:endParaRPr lang="en-US" sz="1600" dirty="0"/>
          </a:p>
        </p:txBody>
      </p:sp>
      <p:sp>
        <p:nvSpPr>
          <p:cNvPr id="5" name="Text 3"/>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Arial" pitchFamily="34" charset="0"/>
                <a:ea typeface="Arial" pitchFamily="34" charset="-122"/>
                <a:cs typeface="Arial" pitchFamily="34" charset="-120"/>
              </a:rPr>
              <a:t>Значимость различий в качестве классификаторов</a:t>
            </a:r>
            <a:endParaRPr lang="en-US" sz="1200" dirty="0"/>
          </a:p>
        </p:txBody>
      </p:sp>
      <p:sp>
        <p:nvSpPr>
          <p:cNvPr id="6" name="Text 4"/>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0"/>
                </a:solidFill>
                <a:latin typeface="Arial" pitchFamily="34" charset="0"/>
                <a:ea typeface="Arial" pitchFamily="34" charset="-122"/>
                <a:cs typeface="Arial" pitchFamily="34" charset="-120"/>
              </a:rPr>
              <a:t>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5202B"/>
        </a:solidFill>
      </p:bgPr>
    </p:bg>
    <p:spTree>
      <p:nvGrpSpPr>
        <p:cNvPr id="1" name=""/>
        <p:cNvGrpSpPr/>
        <p:nvPr/>
      </p:nvGrpSpPr>
      <p:grpSpPr>
        <a:xfrm>
          <a:off x="0" y="0"/>
          <a:ext cx="0" cy="0"/>
          <a:chOff x="0" y="0"/>
          <a:chExt cx="0" cy="0"/>
        </a:xfrm>
      </p:grpSpPr>
      <p:sp>
        <p:nvSpPr>
          <p:cNvPr id="2" name="Shape 0"/>
          <p:cNvSpPr/>
          <p:nvPr/>
        </p:nvSpPr>
        <p:spPr>
          <a:xfrm>
            <a:off x="812800" y="2381250"/>
            <a:ext cx="609600" cy="50800"/>
          </a:xfrm>
          <a:prstGeom prst="rect">
            <a:avLst/>
          </a:prstGeom>
          <a:solidFill>
            <a:srgbClr val="2A78D6"/>
          </a:solidFill>
          <a:ln/>
        </p:spPr>
      </p:sp>
      <p:sp>
        <p:nvSpPr>
          <p:cNvPr id="3" name="Text 1"/>
          <p:cNvSpPr/>
          <p:nvPr>
            <p:ph type="title"/>
          </p:nvPr>
        </p:nvSpPr>
        <p:spPr>
          <a:xfrm>
            <a:off x="812800" y="2686050"/>
            <a:ext cx="10883392" cy="69596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4F4EF"/>
                </a:solidFill>
                <a:latin typeface="Arial" pitchFamily="34" charset="0"/>
                <a:ea typeface="Arial" pitchFamily="34" charset="-122"/>
                <a:cs typeface="Arial" pitchFamily="34" charset="-120"/>
              </a:rPr>
              <a:t>Спасибо за внимание</a:t>
            </a:r>
            <a:endParaRPr lang="en-US" sz="4800" dirty="0"/>
          </a:p>
        </p:txBody>
      </p:sp>
      <p:sp>
        <p:nvSpPr>
          <p:cNvPr id="4" name="Text 2"/>
          <p:cNvSpPr/>
          <p:nvPr/>
        </p:nvSpPr>
        <p:spPr>
          <a:xfrm>
            <a:off x="812800" y="3610608"/>
            <a:ext cx="8502650" cy="38862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C9D2DB"/>
                </a:solidFill>
                <a:latin typeface="Arial" pitchFamily="34" charset="0"/>
                <a:ea typeface="Arial" pitchFamily="34" charset="-122"/>
                <a:cs typeface="Arial" pitchFamily="34" charset="-120"/>
              </a:rPr>
              <a:t>Вопросы?</a:t>
            </a:r>
            <a:endParaRPr lang="en-US" sz="2200" dirty="0"/>
          </a:p>
        </p:txBody>
      </p:sp>
      <p:sp>
        <p:nvSpPr>
          <p:cNvPr id="5" name="Text 3"/>
          <p:cNvSpPr/>
          <p:nvPr/>
        </p:nvSpPr>
        <p:spPr>
          <a:xfrm>
            <a:off x="812800" y="4227835"/>
            <a:ext cx="850265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EB8C2"/>
                </a:solidFill>
                <a:latin typeface="Arial" pitchFamily="34" charset="0"/>
                <a:ea typeface="Arial" pitchFamily="34" charset="-122"/>
                <a:cs typeface="Arial" pitchFamily="34" charset="-120"/>
              </a:rPr>
              <a:t>Код, расчёты и графики: ноутбук first.ipynb</a:t>
            </a:r>
            <a:endParaRPr lang="en-US" sz="1400" dirty="0"/>
          </a:p>
        </p:txBody>
      </p:sp>
    </p:spTree>
  </p:cSld>
  <p:clrMapOvr>
    <a:masterClrMapping/>
  </p:clrMapOvr>
</p:sld>
</file>

<file path=ppt/theme/theme1.xml><?xml version="1.0" encoding="utf-8"?>
<a:theme xmlns:a="http://schemas.openxmlformats.org/drawingml/2006/main" name="Значимость различий в качестве классификаторов">
  <a:themeElements>
    <a:clrScheme name="Значимость различий в качестве классификаторов">
      <a:dk1>
        <a:srgbClr val="1A1A1A"/>
      </a:dk1>
      <a:lt1>
        <a:srgbClr val="FBFBF8"/>
      </a:lt1>
      <a:dk2>
        <a:srgbClr val="525252"/>
      </a:dk2>
      <a:lt2>
        <a:srgbClr val="E5E5E2"/>
      </a:lt2>
      <a:accent1>
        <a:srgbClr val="1F62B5"/>
      </a:accent1>
      <a:accent2>
        <a:srgbClr val="0F7A52"/>
      </a:accent2>
      <a:accent3>
        <a:srgbClr val="2A78D6"/>
      </a:accent3>
      <a:accent4>
        <a:srgbClr val="C2410C"/>
      </a:accent4>
      <a:accent5>
        <a:srgbClr val="8AB8F0"/>
      </a:accent5>
      <a:accent6>
        <a:srgbClr val="5F6670"/>
      </a:accent6>
      <a:hlink>
        <a:srgbClr val="0563C1"/>
      </a:hlink>
      <a:folHlink>
        <a:srgbClr val="954F72"/>
      </a:folHlink>
    </a:clrScheme>
    <a:fontScheme name="Значимость различий в качестве классификаторов">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Значимость различий в качестве классификаторов</dc:title>
  <dc:subject/>
  <dc:creator/>
  <cp:lastModifiedBy/>
  <cp:revision>1</cp:revision>
  <dcterms:created xsi:type="dcterms:W3CDTF">2026-10-19T20:28:10Z</dcterms:created>
  <dcterms:modified xsi:type="dcterms:W3CDTF">2026-10-19T20:28:10Z</dcterms:modified>
</cp:coreProperties>
</file>