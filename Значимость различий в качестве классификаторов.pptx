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Тема работы: как правильно проверять, что одна модель машинного обучения действительно лучше другой. Я покажу на расчётах, где обычный подход ломается, а где нет.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Две модели дали, например, 0.950 и 0.933 точности. Значима эта разница или нам просто повезло с разбиением? Чтобы ответить, нужна проверка статистической гипотезы. В систематическом обзоре Király и соавторов (121 подходящая работа NeurIPS 2017 из выборки в 679 аннотаций) лишь 3% сообщали о формальном сравнении алгоритма с baseline, и 32% приводили доверительные интервалы. Важно: это не то же самое, что «3% применяли t-test».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Пример десяти частей данных. В первом фолде проверка идёт на части 1, а обучение на частях 2–10. Во втором фолде проверка на части 2, обучение на частях 1 и 3–10. Общие части обучения: с 3 по 10, то есть 8 из 9. Поэтому две модели, обученные в этих фолдах, почти одинаковы, и их ошибки связаны. Парный t-test же считает, что 10 разностей независимы, как 10 бросков монеты. Формально это допущение нарушено. Насколько это важно на практике, проверяет симуляция в конце работы.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Цель — не придумать новую статистику, а честно проверить известные методы на современных моделях и открытых данных. Пять шагов плана перед вами. Напомню, как читать p-value: маленькое значение означает, что такая разница редко получается случайно.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Пятнадцать открытых датасетов разного размера: от 178 до 5404 объектов, от 4 до 64 признаков, от 2 до 10 классов. Чем больше разных датасетов, тем надёжнее групповое сравнение моделей: в классических работах по этой теме берут 14–30. В credit_g есть категориальные признаки, поэтому их кодирование (one-hot) встроено в модель и выполняется в каждом фолде отдельно.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Код загружает все 15 датасетов в один словарь. Три берутся из sklearn, остальные с сайта OpenML по названию. Параметр as_frame=True возвращает таблицу pandas: у столбцов сохраняются типы, и категориальные признаки можно отличить от числовых. Метки классов приводятся к массиву. Справа размеры нескольких датасетов, как их показывает таблица info в ноутбуке.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семейства моделей: линейная, бэггинг и бустинг. Тюнинг гиперпараметров не делается намеренно: настройка на тех же данных, на которых потом сравнивают модели, исказила бы сравнение. Точность считается по 10-fold кросс-валидации. Масштабирование признаков (нужно логистической регрессии, иначе она не сходится) и кодирование категорий встроены в модель как конвейер и выполняются отдельно в каждом фолде.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make_models собирает три модели. Каждая это конвейер: сначала предобработка, потом сама модель. Предобработка внутри конвейера обучается только на обучающей части каждого фолда, поэтому информация из проверочной части не попадает в обучение. cross_val_score делит данные на 10 фолдов и возвращает 10 значений точности. Мы сохраняем весь массив, а не среднее: тестам нужны значения по фолдам.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Цвет считается внутри строки: чем темнее клетка, тем лучше модель на этом датасете, самая светлая это худшая. Числа в клетках — средняя точность. Цвет показывает порядок моделей, а величину разрыва нужно читать по числам. Важный момент: до стандартизации признаков логистическая регрессия не сходилась и выглядела худшей почти везде. После исправления ни одна модель не лидирует везде.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Все четыре теста проверяют одну и ту же нулевую гипотезу о равенстве моделей, но устроены по-разному. Наивный и corrected используют одни и те же фолды кросс-валидации, у corrected дисперсия увеличена. Corrected-тест берётся из библиотеки baycomp, где реализована поправка Nadeau и Bengio. Обратите внимание: функция paired_ttest_kfold_cv из mlxtend поправки не содержит, она считает обычный t-test. 5×2cv использует половинные разбиения. McNemar смотрит только на объекты, где модели расходятся, поэтому он отвечает на немного другой вопрос.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Одна и та же пара моделей, один и тот же вопрос, но четыре разных p-value.Наивный тест (0.026) находит значимую разницу. Corrected (0.100), 5×2cv (0.140) и McNemar (0.118) значимости не находят. Разница между наивным и corrected только в знаменателе: у corrected стандартная ошибка больше в 1.45 раза из-за зависимости фолдов. McNemar смотрит на 15 объектов из 450, где модели расходятся: RF права 4 раза, LogReg 11 раз.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Наивный тест принимает два массива точности по фолдам. Corrected-тест: функция CorrelatedTTest.probs из библиотеки baycomp возвращает две вероятности, это два хвоста распределения разности. Двустороннее p-value равно удвоенной меньшей из них. Поправку Nadeau и Bengio библиотека применяет внутри сама, вручную её писать не нужно. 5×2cv берётся из mlxtend: он принимает сами модели и данные, делит данные пополам пять раз.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Одно разбиение на обучение и проверку, обе модели обучаются один раз. mcnemar_table строит таблицу два на два: на диагонали объекты, где модели согласны, вне диагонали те, где расходятся. Когда расходящихся объектов мало (меньше 25), приближённая формула хи-квадрат неточна, и используется точный биномиальный тест. Здесь расходятся 15 объектов: 4 против 11, p = 0.118.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пары моделей на 15 датасетах, всего 45 сравнений. Каждая точка это одно сравнение: по горизонтали p-value наивного теста, по вертикали p-value теста с поправкой, обе шкалы логарифмические. Диагональ пунктиром означает «p одинаковые». Все точки выше диагонали: поправка всегда увеличивает p. Пунктирные линии это порог 0.05. Оранжевые квадраты левее вертикального порога и выше горизонтального: наивный тест называл разницу значимой, а с поправкой она уже незначима. Точки у левого края это p меньше 0.00002 (показаны на границе). Справа сколько сравнений каждый тест называет значимым.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Функция считает все четыре теста для одной пары моделей на одном датасете. Наивный и corrected тесты берут готовые значения точности по фолдам, поэтому они считаются по одним и тем же фолдам. 5×2cv и McNemar зависят от случайного разбиения, поэтому берётся медиана p-value по нескольким разным разбиениям: 5 для 5×2cv и 10 для McNemar. Для 45 сравнений функция вызывается параллельно, результат собирается в таблицу all_pairs.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Как читать: у каждой пары две линии. Подпись слева «RF минус LogReg, digits» значит, что считается разница точности «RF минус LogReg» на датасете digits. Точка на линии это средняя разница по 10 фолдам. Отрезок это диапазон, в котором истинная разница может лежать с вероятностью 95%. Пунктир на нуле означает «разницы нет». Если отрезок накрывает ноль, ноль нельзя исключить. Синяя линия считается с обычной стандартной ошибкой, оранжевая с поправкой на зависимость фолдов, поэтому она шире. Центр отрезка это просто средняя разность, а ширина показывает неопределённость.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Интервал строится как среднее плюс-минус критическое значение t, умноженное на стандартную ошибку. Единственное отличие синего интервала от оранжевого это стандартная ошибка: у оранжевого она больше, потому что дисперсия берётся с поправкой Nadeau и Bengio из библиотеки baycomp. На паре RF и LogReg на digits наивный интервал не накрывает ноль, а интервал с поправкой накрывает.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каждом из 15 датасетов три модели ранжируются по точности: 1 лучшая, 3 худшая. Затем ранги усредняются по датасетам. Если бы одна модель была лучше других, её средний ранг был бы заметно меньше. Здесь ранги почти равны: 1.83, 1.93 и 2.23. Критерий Фридмана проверяет, можно ли отличить такой разброс рангов от случайного, и отвечает «нет» (p = 0.52). Поэтому пост-тест Неменьи формально не нужен, он показан для полноты. Критическая разность рангов около 0.86, а наибольшая наблюдаемая разность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 таблица средней точности: 15 датасетов, три модели. Критерий Фридмана получает три колонки и проверяет, одинаковы ли ранги моделей. Он незначим (p = 0.52). Пост-тест Неменьи при этом показан для полноты: он выдаёт матрицу p-value для всех пар, и все они далеки от 0.05. Средние ранги затем идут на диаграмму критических различий.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Каждый тест проверяет 45 гипотез. Если на каждую смотреть с порогом 0.05, то даже без реальных различий в среднем 45 умножить на 0.05, то есть около 2 сравнений, окажутся «значимыми» случайно. Метод Холма пересчитывает p-value так, чтобы вероятность хотя бы одной ложной находки среди всех 45 не превышала 0.05. Слева число значимых сравнений до поправки, справа после. Те шесть сравнений, что остались у наивного и corrected тестов, имеют разрыв между моделями от 2 до 16 процентных пунктов: это настоящие различия, и все тесты их видят.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каждого из четырёх тестов берётся столбец из 45 p-value и передаётся в multipletests с методом holm. Функция возвращает исправленные p-value и флаги reject: отвергается ли гипотеза после поправки. Потом считаем, сколько сравнений было значимо до поправки (p меньше 0.05) и сколько осталось после.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реальных данных мы не знаем истинной разницы между моделями, поэтому сравнивать тесты «по правоте» нельзя. Здесь данные генерируются так, что ответ известен: у каждого объекта два независимых вида признаков, модель A видит первый, модель B второй. При одинаковой силе сигнала ожидаемая точность равна, то есть H₀ верна. Повторные случайные разбиения добавлены потому, что именно для них Nadeau и Bengio придумали поправку.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ключевых куска кода. Первая функция превращает вектор разностей точности в p-value, и именно через множитель дисперсии различаются наивный тест и тест с поправкой. Вторая генерирует данные с двумя независимыми видами признаков. Цикл прогоняет пятьсот повторов для каждого сценария и считает долю случаев, когда p меньше 0.05.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Слева ошибка первого рода: при равных моделях хороший тест должен давать около 5%. Наивный t-test на повторных случайных разбиениях ошибается в 59% случаев, потому что пересечение обучающих выборок там максимально. Поправка Nadeau и Bengio возвращает ошибку к 3.8%. Наивный тест на 10-fold в этом дизайне в норме, 3%. А поправка на 10-fold слишком консервативна: мощность падает с 53% до 25%. Поэтому большие p-value у corrected теста на реальных данных отчасти объясняются потерей мощности. Результат получен на одном дизайне, цифры на других данных будут иными.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Главный вывод: метод проверки нужно выбирать и обосновывать, а не брать по умолчанию. Одни и те же данные дают разные ответы: наивный тест называет значимыми 20 сравнений из 45, corrected 14. Там, где разрыв между моделями большой, все тесты согласны. Расходятся они на пограничных результатах. Симуляция показала, что наивный тест действительно ломается на повторных случайных разбиениях, а на 10-fold он близок к норме, и поправка там излишне осторожна. Групповое сравнение не нашло лучшей модели в целом: когда логистическую регрессию правильно подготовили (стандартизация признаков), она перестала быть худшей.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Ограничения, которые остались после исправлений. Пятнадцать датасетов это уровень классических работ, но групповой тест всё равно может не заметить небольшие различия. Гиперпараметры не настраивались намеренно. Истинная разница на реальных данных неизвестна, поэтому о правильности тестов можно судить только по симуляции, где ответ задан. Симуляция это один дизайн, хотя размер выборки менялся. Уже исправленные ограничения: стандартизация признаков для логистической регрессии, кодирование категорий внутри фолдов, поправка Nadeau и Bengio берётся из библиотеки, а не пишется вручную, 5×2cv и McNemar усреднены по разбиениям.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Основные источники: Dietterich предложил 5×2cv и McNemar для сравнения алгоритмов, Nadeau и Bengio — поправку к дисперсии, Demšar — схему группового сравнения (Фридман и Неменьи), García и Herrera — поправки на множественные сравнения. Обзор Király и соавторов — аргумент о том, что статистическую проверку на практике проводят редко.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Если спросят, почему корректные p-value больше: частично это исправление наивного теста, а частично потеря мощности у поправки на 10-fold, это видно по симуляции.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6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A1A1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01520"/>
            <a:ext cx="10566400" cy="4043680"/>
          </a:xfrm>
          <a:prstGeom prst="rect">
            <a:avLst/>
          </a:prstGeom>
          <a:noFill/>
          <a:ln/>
        </p:spPr>
        <p:txBody>
          <a:bodyPr wrap="square" lIns="0" tIns="0" rIns="0" bIns="0" rtlCol="0" anchor="t"/>
          <a:lstStyle>
            <a:lvl1pPr algn="l" indent="0" marL="0">
              <a:lnSpc>
                <a:spcPct val="140000"/>
              </a:lnSpc>
              <a:buNone/>
              <a:defRPr lang="en-US" sz="1600" dirty="0">
                <a:solidFill>
                  <a:srgbClr val="1A1A1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6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A1A1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01520"/>
            <a:ext cx="10566400" cy="4043680"/>
          </a:xfrm>
          <a:prstGeom prst="rect">
            <a:avLst/>
          </a:prstGeom>
          <a:noFill/>
          <a:ln/>
        </p:spPr>
        <p:txBody>
          <a:bodyPr wrap="square" lIns="0" tIns="0" rIns="0" bIns="0" rtlCol="0" anchor="t"/>
          <a:lstStyle>
            <a:lvl1pPr algn="l" indent="0" marL="0">
              <a:lnSpc>
                <a:spcPct val="140000"/>
              </a:lnSpc>
              <a:buNone/>
              <a:defRPr lang="en-US" sz="1600" dirty="0">
                <a:solidFill>
                  <a:srgbClr val="1A1A1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02B"/>
        </a:solidFill>
      </p:bgPr>
    </p:bg>
    <p:spTree>
      <p:nvGrpSpPr>
        <p:cNvPr id="1" name=""/>
        <p:cNvGrpSpPr/>
        <p:nvPr/>
      </p:nvGrpSpPr>
      <p:grpSpPr>
        <a:xfrm>
          <a:off x="0" y="0"/>
          <a:ext cx="0" cy="0"/>
          <a:chOff x="0" y="0"/>
          <a:chExt cx="0" cy="0"/>
        </a:xfrm>
      </p:grpSpPr>
      <p:sp>
        <p:nvSpPr>
          <p:cNvPr id="2" name="Text 0"/>
          <p:cNvSpPr/>
          <p:nvPr/>
        </p:nvSpPr>
        <p:spPr>
          <a:xfrm>
            <a:off x="812800" y="167132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8AB8F0"/>
                </a:solidFill>
                <a:latin typeface="IBM Plex Sans" pitchFamily="34" charset="0"/>
                <a:ea typeface="IBM Plex Sans" pitchFamily="34" charset="-122"/>
                <a:cs typeface="IBM Plex Sans" pitchFamily="34" charset="-120"/>
              </a:rPr>
              <a:t>КУРСОВОЙ ПРОЕКТ · СТАТИСТИЧЕСКИЙ АНАЛИЗ ДАННЫХ</a:t>
            </a:r>
            <a:endParaRPr lang="en-US" sz="1400" dirty="0"/>
          </a:p>
        </p:txBody>
      </p:sp>
      <p:sp>
        <p:nvSpPr>
          <p:cNvPr id="3" name="Shape 1"/>
          <p:cNvSpPr/>
          <p:nvPr/>
        </p:nvSpPr>
        <p:spPr>
          <a:xfrm>
            <a:off x="812800" y="2174240"/>
            <a:ext cx="609600" cy="50800"/>
          </a:xfrm>
          <a:prstGeom prst="rect">
            <a:avLst/>
          </a:prstGeom>
          <a:solidFill>
            <a:srgbClr val="2A78D6"/>
          </a:solidFill>
          <a:ln/>
        </p:spPr>
      </p:sp>
      <p:sp>
        <p:nvSpPr>
          <p:cNvPr id="4" name="Text 2"/>
          <p:cNvSpPr/>
          <p:nvPr>
            <p:ph type="title"/>
          </p:nvPr>
        </p:nvSpPr>
        <p:spPr>
          <a:xfrm>
            <a:off x="812800" y="2479040"/>
            <a:ext cx="9810750" cy="12547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4F4EF"/>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4400" dirty="0"/>
          </a:p>
        </p:txBody>
      </p:sp>
      <p:sp>
        <p:nvSpPr>
          <p:cNvPr id="5" name="Text 3"/>
          <p:cNvSpPr/>
          <p:nvPr/>
        </p:nvSpPr>
        <p:spPr>
          <a:xfrm>
            <a:off x="812800" y="3962400"/>
            <a:ext cx="91567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9D2DB"/>
                </a:solidFill>
                <a:latin typeface="IBM Plex Sans" pitchFamily="34" charset="0"/>
                <a:ea typeface="IBM Plex Sans" pitchFamily="34" charset="-122"/>
                <a:cs typeface="IBM Plex Sans" pitchFamily="34" charset="-120"/>
              </a:rPr>
              <a:t>Наивные и корректные методы проверки гипотез при сравнении моделей на нескольких наборах данных</a:t>
            </a:r>
            <a:endParaRPr lang="en-US" sz="2000" dirty="0"/>
          </a:p>
        </p:txBody>
      </p:sp>
      <p:sp>
        <p:nvSpPr>
          <p:cNvPr id="6" name="Text 4"/>
          <p:cNvSpPr/>
          <p:nvPr/>
        </p:nvSpPr>
        <p:spPr>
          <a:xfrm>
            <a:off x="812800" y="490220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EB8C2"/>
                </a:solidFill>
                <a:latin typeface="IBM Plex Sans" pitchFamily="34" charset="0"/>
                <a:ea typeface="IBM Plex Sans" pitchFamily="34" charset="-122"/>
                <a:cs typeface="IBM Plex Sans" pitchFamily="34" charset="-120"/>
              </a:rPr>
              <a:t>Кирилл Дмитриев</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01 · ПОСТАНОВКА</a:t>
            </a:r>
            <a:endParaRPr lang="en-US" sz="1200" dirty="0"/>
          </a:p>
        </p:txBody>
      </p:sp>
      <p:sp>
        <p:nvSpPr>
          <p:cNvPr id="3" name="Text 1"/>
          <p:cNvSpPr/>
          <p:nvPr>
            <p:ph type="title"/>
          </p:nvPr>
        </p:nvSpPr>
        <p:spPr>
          <a:xfrm>
            <a:off x="812800" y="122936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Разница в точности — случайная величина</a:t>
            </a:r>
            <a:endParaRPr lang="en-US" sz="3200" dirty="0"/>
          </a:p>
        </p:txBody>
      </p:sp>
      <p:sp>
        <p:nvSpPr>
          <p:cNvPr id="4" name="Shape 2"/>
          <p:cNvSpPr/>
          <p:nvPr/>
        </p:nvSpPr>
        <p:spPr>
          <a:xfrm>
            <a:off x="812800" y="1899920"/>
            <a:ext cx="5181600" cy="2947670"/>
          </a:xfrm>
          <a:prstGeom prst="roundRect">
            <a:avLst>
              <a:gd name="adj" fmla="val 3447"/>
            </a:avLst>
          </a:prstGeom>
          <a:solidFill>
            <a:srgbClr val="F1F1EC"/>
          </a:solidFill>
          <a:ln/>
        </p:spPr>
      </p:sp>
      <p:sp>
        <p:nvSpPr>
          <p:cNvPr id="5" name="Text 3"/>
          <p:cNvSpPr/>
          <p:nvPr/>
        </p:nvSpPr>
        <p:spPr>
          <a:xfrm>
            <a:off x="1117600" y="2204720"/>
            <a:ext cx="4709160" cy="10731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1A1A1A"/>
                </a:solidFill>
                <a:latin typeface="IBM Plex Sans" pitchFamily="34" charset="0"/>
                <a:ea typeface="IBM Plex Sans" pitchFamily="34" charset="-122"/>
                <a:cs typeface="IBM Plex Sans" pitchFamily="34" charset="-120"/>
              </a:rPr>
              <a:t>Обычно смотрят, у какой модели число больше, и считают это доказательством.</a:t>
            </a:r>
            <a:endParaRPr lang="en-US" sz="2200" dirty="0"/>
          </a:p>
        </p:txBody>
      </p:sp>
      <p:sp>
        <p:nvSpPr>
          <p:cNvPr id="6" name="Text 4"/>
          <p:cNvSpPr/>
          <p:nvPr/>
        </p:nvSpPr>
        <p:spPr>
          <a:xfrm>
            <a:off x="1117600" y="3404870"/>
            <a:ext cx="4709160" cy="1163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F6670"/>
                </a:solidFill>
                <a:latin typeface="IBM Plex Sans" pitchFamily="34" charset="0"/>
                <a:ea typeface="IBM Plex Sans" pitchFamily="34" charset="-122"/>
                <a:cs typeface="IBM Plex Sans" pitchFamily="34" charset="-120"/>
              </a:rPr>
              <a:t>Но точность зависит от того, на каких объектах модель обучали и проверяли. Чтобы утверждать «A лучше B», нужна проверка гипотезы.</a:t>
            </a:r>
            <a:endParaRPr lang="en-US" sz="1600" dirty="0"/>
          </a:p>
        </p:txBody>
      </p:sp>
      <p:sp>
        <p:nvSpPr>
          <p:cNvPr id="7" name="Shape 5"/>
          <p:cNvSpPr/>
          <p:nvPr/>
        </p:nvSpPr>
        <p:spPr>
          <a:xfrm>
            <a:off x="6197600" y="1899920"/>
            <a:ext cx="5181600" cy="2947670"/>
          </a:xfrm>
          <a:prstGeom prst="roundRect">
            <a:avLst>
              <a:gd name="adj" fmla="val 3447"/>
            </a:avLst>
          </a:prstGeom>
          <a:solidFill>
            <a:srgbClr val="F1F1EC"/>
          </a:solidFill>
          <a:ln/>
        </p:spPr>
      </p:sp>
      <p:sp>
        <p:nvSpPr>
          <p:cNvPr id="8" name="Text 6"/>
          <p:cNvSpPr/>
          <p:nvPr/>
        </p:nvSpPr>
        <p:spPr>
          <a:xfrm>
            <a:off x="6502400" y="2372995"/>
            <a:ext cx="470916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F62B5"/>
                </a:solidFill>
                <a:latin typeface="IBM Plex Sans" pitchFamily="34" charset="0"/>
                <a:ea typeface="IBM Plex Sans" pitchFamily="34" charset="-122"/>
                <a:cs typeface="IBM Plex Sans" pitchFamily="34" charset="-120"/>
              </a:rPr>
              <a:t>≈3%</a:t>
            </a:r>
            <a:endParaRPr lang="en-US" sz="6000" dirty="0"/>
          </a:p>
        </p:txBody>
      </p:sp>
      <p:sp>
        <p:nvSpPr>
          <p:cNvPr id="9" name="Text 7"/>
          <p:cNvSpPr/>
          <p:nvPr/>
        </p:nvSpPr>
        <p:spPr>
          <a:xfrm>
            <a:off x="6502400" y="3236595"/>
            <a:ext cx="4709160" cy="84836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A1A1A"/>
                </a:solidFill>
                <a:latin typeface="IBM Plex Sans" pitchFamily="34" charset="0"/>
                <a:ea typeface="IBM Plex Sans" pitchFamily="34" charset="-122"/>
                <a:cs typeface="IBM Plex Sans" pitchFamily="34" charset="-120"/>
              </a:rPr>
              <a:t>из 121 работы NeurIPS 2017 в обзоре сообщали о формальном сравнении алгоритма с baseline</a:t>
            </a:r>
            <a:endParaRPr lang="en-US" sz="1600" dirty="0"/>
          </a:p>
        </p:txBody>
      </p:sp>
      <p:sp>
        <p:nvSpPr>
          <p:cNvPr id="10" name="Text 8"/>
          <p:cNvSpPr/>
          <p:nvPr/>
        </p:nvSpPr>
        <p:spPr>
          <a:xfrm>
            <a:off x="6502400" y="4161155"/>
            <a:ext cx="47091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Király, Mateen, Sonabend (2018), arXiv:1812.07519</a:t>
            </a:r>
            <a:endParaRPr lang="en-US" sz="1200" dirty="0"/>
          </a:p>
        </p:txBody>
      </p:sp>
      <p:sp>
        <p:nvSpPr>
          <p:cNvPr id="11" name="Text 9"/>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12" name="Text 10"/>
          <p:cNvSpPr/>
          <p:nvPr/>
        </p:nvSpPr>
        <p:spPr>
          <a:xfrm>
            <a:off x="10566400" y="62382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01 · ПОСТАНОВКА</a:t>
            </a:r>
            <a:endParaRPr lang="en-US" sz="1200" dirty="0"/>
          </a:p>
        </p:txBody>
      </p:sp>
      <p:sp>
        <p:nvSpPr>
          <p:cNvPr id="3" name="Text 1"/>
          <p:cNvSpPr/>
          <p:nvPr>
            <p:ph type="title"/>
          </p:nvPr>
        </p:nvSpPr>
        <p:spPr>
          <a:xfrm>
            <a:off x="812800" y="1229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Почему очевидный тест сомнителен</a:t>
            </a:r>
            <a:endParaRPr lang="en-US" sz="3200" dirty="0"/>
          </a:p>
        </p:txBody>
      </p:sp>
      <p:sp>
        <p:nvSpPr>
          <p:cNvPr id="4" name="Text 2"/>
          <p:cNvSpPr/>
          <p:nvPr/>
        </p:nvSpPr>
        <p:spPr>
          <a:xfrm>
            <a:off x="812800" y="1899920"/>
            <a:ext cx="11379200"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A1A1A"/>
                </a:solidFill>
                <a:latin typeface="IBM Plex Sans" pitchFamily="34" charset="0"/>
                <a:ea typeface="IBM Plex Sans" pitchFamily="34" charset="-122"/>
                <a:cs typeface="IBM Plex Sans" pitchFamily="34" charset="-120"/>
              </a:rPr>
              <a:t>Данные делятся на 10 частей. В каждом фолде одна часть — </a:t>
            </a:r>
            <a:r>
              <a:rPr lang="en-US" sz="1700" b="1" dirty="0">
                <a:solidFill>
                  <a:srgbClr val="C2410C"/>
                </a:solidFill>
                <a:latin typeface="IBM Plex Sans" pitchFamily="34" charset="0"/>
                <a:ea typeface="IBM Plex Sans" pitchFamily="34" charset="-122"/>
                <a:cs typeface="IBM Plex Sans" pitchFamily="34" charset="-120"/>
              </a:rPr>
              <a:t>проверка</a:t>
            </a:r>
            <a:r>
              <a:rPr lang="en-US" sz="1700" dirty="0">
                <a:solidFill>
                  <a:srgbClr val="1A1A1A"/>
                </a:solidFill>
                <a:latin typeface="IBM Plex Sans" pitchFamily="34" charset="0"/>
                <a:ea typeface="IBM Plex Sans" pitchFamily="34" charset="-122"/>
                <a:cs typeface="IBM Plex Sans" pitchFamily="34" charset="-120"/>
              </a:rPr>
              <a:t>, остальные девять — </a:t>
            </a:r>
            <a:r>
              <a:rPr lang="en-US" sz="1700" b="1" dirty="0">
                <a:solidFill>
                  <a:srgbClr val="1F62B5"/>
                </a:solidFill>
                <a:latin typeface="IBM Plex Sans" pitchFamily="34" charset="0"/>
                <a:ea typeface="IBM Plex Sans" pitchFamily="34" charset="-122"/>
                <a:cs typeface="IBM Plex Sans" pitchFamily="34" charset="-120"/>
              </a:rPr>
              <a:t>обучение</a:t>
            </a:r>
            <a:r>
              <a:rPr lang="en-US" sz="1700" dirty="0">
                <a:solidFill>
                  <a:srgbClr val="1A1A1A"/>
                </a:solidFill>
                <a:latin typeface="IBM Plex Sans" pitchFamily="34" charset="0"/>
                <a:ea typeface="IBM Plex Sans" pitchFamily="34" charset="-122"/>
                <a:cs typeface="IBM Plex Sans" pitchFamily="34" charset="-120"/>
              </a:rPr>
              <a:t>.</a:t>
            </a:r>
            <a:endParaRPr lang="en-US" sz="1700" dirty="0"/>
          </a:p>
        </p:txBody>
      </p:sp>
      <p:sp>
        <p:nvSpPr>
          <p:cNvPr id="5" name="Text 3"/>
          <p:cNvSpPr/>
          <p:nvPr/>
        </p:nvSpPr>
        <p:spPr>
          <a:xfrm>
            <a:off x="812800" y="2500630"/>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A1A1A"/>
                </a:solidFill>
                <a:latin typeface="IBM Plex Sans" pitchFamily="34" charset="0"/>
                <a:ea typeface="IBM Plex Sans" pitchFamily="34" charset="-122"/>
                <a:cs typeface="IBM Plex Sans" pitchFamily="34" charset="-120"/>
              </a:rPr>
              <a:t>Фолд 1</a:t>
            </a:r>
            <a:endParaRPr lang="en-US" sz="1500" dirty="0"/>
          </a:p>
        </p:txBody>
      </p:sp>
      <p:sp>
        <p:nvSpPr>
          <p:cNvPr id="6" name="Text 4"/>
          <p:cNvSpPr/>
          <p:nvPr/>
        </p:nvSpPr>
        <p:spPr>
          <a:xfrm>
            <a:off x="2768600" y="2405380"/>
            <a:ext cx="635000" cy="457200"/>
          </a:xfrm>
          <a:prstGeom prst="roundRect">
            <a:avLst>
              <a:gd name="adj" fmla="val 11111"/>
            </a:avLst>
          </a:prstGeom>
          <a:solidFill>
            <a:srgbClr val="C2410C"/>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1</a:t>
            </a:r>
            <a:endParaRPr lang="en-US" sz="1400" dirty="0"/>
          </a:p>
        </p:txBody>
      </p:sp>
      <p:sp>
        <p:nvSpPr>
          <p:cNvPr id="7" name="Text 5"/>
          <p:cNvSpPr/>
          <p:nvPr/>
        </p:nvSpPr>
        <p:spPr>
          <a:xfrm>
            <a:off x="3454400" y="2405380"/>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2</a:t>
            </a:r>
            <a:endParaRPr lang="en-US" sz="1400" dirty="0"/>
          </a:p>
        </p:txBody>
      </p:sp>
      <p:sp>
        <p:nvSpPr>
          <p:cNvPr id="8" name="Text 6"/>
          <p:cNvSpPr/>
          <p:nvPr/>
        </p:nvSpPr>
        <p:spPr>
          <a:xfrm>
            <a:off x="4140200" y="2405380"/>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3</a:t>
            </a:r>
            <a:endParaRPr lang="en-US" sz="1400" dirty="0"/>
          </a:p>
        </p:txBody>
      </p:sp>
      <p:sp>
        <p:nvSpPr>
          <p:cNvPr id="9" name="Text 7"/>
          <p:cNvSpPr/>
          <p:nvPr/>
        </p:nvSpPr>
        <p:spPr>
          <a:xfrm>
            <a:off x="4826000" y="2405380"/>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4</a:t>
            </a:r>
            <a:endParaRPr lang="en-US" sz="1400" dirty="0"/>
          </a:p>
        </p:txBody>
      </p:sp>
      <p:sp>
        <p:nvSpPr>
          <p:cNvPr id="10" name="Text 8"/>
          <p:cNvSpPr/>
          <p:nvPr/>
        </p:nvSpPr>
        <p:spPr>
          <a:xfrm>
            <a:off x="5511800" y="2405380"/>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5</a:t>
            </a:r>
            <a:endParaRPr lang="en-US" sz="1400" dirty="0"/>
          </a:p>
        </p:txBody>
      </p:sp>
      <p:sp>
        <p:nvSpPr>
          <p:cNvPr id="11" name="Text 9"/>
          <p:cNvSpPr/>
          <p:nvPr/>
        </p:nvSpPr>
        <p:spPr>
          <a:xfrm>
            <a:off x="6197600" y="2405380"/>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6</a:t>
            </a:r>
            <a:endParaRPr lang="en-US" sz="1400" dirty="0"/>
          </a:p>
        </p:txBody>
      </p:sp>
      <p:sp>
        <p:nvSpPr>
          <p:cNvPr id="12" name="Text 10"/>
          <p:cNvSpPr/>
          <p:nvPr/>
        </p:nvSpPr>
        <p:spPr>
          <a:xfrm>
            <a:off x="6883400" y="2405380"/>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7</a:t>
            </a:r>
            <a:endParaRPr lang="en-US" sz="1400" dirty="0"/>
          </a:p>
        </p:txBody>
      </p:sp>
      <p:sp>
        <p:nvSpPr>
          <p:cNvPr id="13" name="Text 11"/>
          <p:cNvSpPr/>
          <p:nvPr/>
        </p:nvSpPr>
        <p:spPr>
          <a:xfrm>
            <a:off x="7569200" y="2405380"/>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8</a:t>
            </a:r>
            <a:endParaRPr lang="en-US" sz="1400" dirty="0"/>
          </a:p>
        </p:txBody>
      </p:sp>
      <p:sp>
        <p:nvSpPr>
          <p:cNvPr id="14" name="Text 12"/>
          <p:cNvSpPr/>
          <p:nvPr/>
        </p:nvSpPr>
        <p:spPr>
          <a:xfrm>
            <a:off x="8255000" y="2405380"/>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9</a:t>
            </a:r>
            <a:endParaRPr lang="en-US" sz="1400" dirty="0"/>
          </a:p>
        </p:txBody>
      </p:sp>
      <p:sp>
        <p:nvSpPr>
          <p:cNvPr id="15" name="Text 13"/>
          <p:cNvSpPr/>
          <p:nvPr/>
        </p:nvSpPr>
        <p:spPr>
          <a:xfrm>
            <a:off x="8940800" y="2405380"/>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10</a:t>
            </a:r>
            <a:endParaRPr lang="en-US" sz="1400" dirty="0"/>
          </a:p>
        </p:txBody>
      </p:sp>
      <p:sp>
        <p:nvSpPr>
          <p:cNvPr id="16" name="Text 14"/>
          <p:cNvSpPr/>
          <p:nvPr/>
        </p:nvSpPr>
        <p:spPr>
          <a:xfrm>
            <a:off x="812800" y="3059430"/>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A1A1A"/>
                </a:solidFill>
                <a:latin typeface="IBM Plex Sans" pitchFamily="34" charset="0"/>
                <a:ea typeface="IBM Plex Sans" pitchFamily="34" charset="-122"/>
                <a:cs typeface="IBM Plex Sans" pitchFamily="34" charset="-120"/>
              </a:rPr>
              <a:t>Фолд 2</a:t>
            </a:r>
            <a:endParaRPr lang="en-US" sz="1500" dirty="0"/>
          </a:p>
        </p:txBody>
      </p:sp>
      <p:sp>
        <p:nvSpPr>
          <p:cNvPr id="17" name="Text 15"/>
          <p:cNvSpPr/>
          <p:nvPr/>
        </p:nvSpPr>
        <p:spPr>
          <a:xfrm>
            <a:off x="2768600" y="2964180"/>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1</a:t>
            </a:r>
            <a:endParaRPr lang="en-US" sz="1400" dirty="0"/>
          </a:p>
        </p:txBody>
      </p:sp>
      <p:sp>
        <p:nvSpPr>
          <p:cNvPr id="18" name="Text 16"/>
          <p:cNvSpPr/>
          <p:nvPr/>
        </p:nvSpPr>
        <p:spPr>
          <a:xfrm>
            <a:off x="3454400" y="2964180"/>
            <a:ext cx="635000" cy="457200"/>
          </a:xfrm>
          <a:prstGeom prst="roundRect">
            <a:avLst>
              <a:gd name="adj" fmla="val 11111"/>
            </a:avLst>
          </a:prstGeom>
          <a:solidFill>
            <a:srgbClr val="C2410C"/>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2</a:t>
            </a:r>
            <a:endParaRPr lang="en-US" sz="1400" dirty="0"/>
          </a:p>
        </p:txBody>
      </p:sp>
      <p:sp>
        <p:nvSpPr>
          <p:cNvPr id="19" name="Text 17"/>
          <p:cNvSpPr/>
          <p:nvPr/>
        </p:nvSpPr>
        <p:spPr>
          <a:xfrm>
            <a:off x="4140200" y="2964180"/>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3</a:t>
            </a:r>
            <a:endParaRPr lang="en-US" sz="1400" dirty="0"/>
          </a:p>
        </p:txBody>
      </p:sp>
      <p:sp>
        <p:nvSpPr>
          <p:cNvPr id="20" name="Text 18"/>
          <p:cNvSpPr/>
          <p:nvPr/>
        </p:nvSpPr>
        <p:spPr>
          <a:xfrm>
            <a:off x="4826000" y="2964180"/>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4</a:t>
            </a:r>
            <a:endParaRPr lang="en-US" sz="1400" dirty="0"/>
          </a:p>
        </p:txBody>
      </p:sp>
      <p:sp>
        <p:nvSpPr>
          <p:cNvPr id="21" name="Text 19"/>
          <p:cNvSpPr/>
          <p:nvPr/>
        </p:nvSpPr>
        <p:spPr>
          <a:xfrm>
            <a:off x="5511800" y="2964180"/>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5</a:t>
            </a:r>
            <a:endParaRPr lang="en-US" sz="1400" dirty="0"/>
          </a:p>
        </p:txBody>
      </p:sp>
      <p:sp>
        <p:nvSpPr>
          <p:cNvPr id="22" name="Text 20"/>
          <p:cNvSpPr/>
          <p:nvPr/>
        </p:nvSpPr>
        <p:spPr>
          <a:xfrm>
            <a:off x="6197600" y="2964180"/>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6</a:t>
            </a:r>
            <a:endParaRPr lang="en-US" sz="1400" dirty="0"/>
          </a:p>
        </p:txBody>
      </p:sp>
      <p:sp>
        <p:nvSpPr>
          <p:cNvPr id="23" name="Text 21"/>
          <p:cNvSpPr/>
          <p:nvPr/>
        </p:nvSpPr>
        <p:spPr>
          <a:xfrm>
            <a:off x="6883400" y="2964180"/>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7</a:t>
            </a:r>
            <a:endParaRPr lang="en-US" sz="1400" dirty="0"/>
          </a:p>
        </p:txBody>
      </p:sp>
      <p:sp>
        <p:nvSpPr>
          <p:cNvPr id="24" name="Text 22"/>
          <p:cNvSpPr/>
          <p:nvPr/>
        </p:nvSpPr>
        <p:spPr>
          <a:xfrm>
            <a:off x="7569200" y="2964180"/>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8</a:t>
            </a:r>
            <a:endParaRPr lang="en-US" sz="1400" dirty="0"/>
          </a:p>
        </p:txBody>
      </p:sp>
      <p:sp>
        <p:nvSpPr>
          <p:cNvPr id="25" name="Text 23"/>
          <p:cNvSpPr/>
          <p:nvPr/>
        </p:nvSpPr>
        <p:spPr>
          <a:xfrm>
            <a:off x="8255000" y="2964180"/>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9</a:t>
            </a:r>
            <a:endParaRPr lang="en-US" sz="1400" dirty="0"/>
          </a:p>
        </p:txBody>
      </p:sp>
      <p:sp>
        <p:nvSpPr>
          <p:cNvPr id="26" name="Text 24"/>
          <p:cNvSpPr/>
          <p:nvPr/>
        </p:nvSpPr>
        <p:spPr>
          <a:xfrm>
            <a:off x="8940800" y="2964180"/>
            <a:ext cx="635000" cy="457200"/>
          </a:xfrm>
          <a:prstGeom prst="roundRect">
            <a:avLst>
              <a:gd name="adj" fmla="val 11111"/>
            </a:avLst>
          </a:prstGeom>
          <a:solidFill>
            <a:srgbClr val="1F62B5"/>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10</a:t>
            </a:r>
            <a:endParaRPr lang="en-US" sz="1400" dirty="0"/>
          </a:p>
        </p:txBody>
      </p:sp>
      <p:sp>
        <p:nvSpPr>
          <p:cNvPr id="27" name="Text 25"/>
          <p:cNvSpPr/>
          <p:nvPr/>
        </p:nvSpPr>
        <p:spPr>
          <a:xfrm>
            <a:off x="812800" y="3618230"/>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7A52"/>
                </a:solidFill>
                <a:latin typeface="IBM Plex Sans" pitchFamily="34" charset="0"/>
                <a:ea typeface="IBM Plex Sans" pitchFamily="34" charset="-122"/>
                <a:cs typeface="IBM Plex Sans" pitchFamily="34" charset="-120"/>
              </a:rPr>
              <a:t>Общее в обучении</a:t>
            </a:r>
            <a:endParaRPr lang="en-US" sz="1500" dirty="0"/>
          </a:p>
        </p:txBody>
      </p:sp>
      <p:sp>
        <p:nvSpPr>
          <p:cNvPr id="28" name="Text 26"/>
          <p:cNvSpPr/>
          <p:nvPr/>
        </p:nvSpPr>
        <p:spPr>
          <a:xfrm>
            <a:off x="2768600" y="3522980"/>
            <a:ext cx="635000" cy="457200"/>
          </a:xfrm>
          <a:prstGeom prst="roundRect">
            <a:avLst>
              <a:gd name="adj" fmla="val 11111"/>
            </a:avLst>
          </a:prstGeom>
          <a:solidFill>
            <a:srgbClr val="E3E2DE"/>
          </a:solidFill>
          <a:ln/>
        </p:spPr>
        <p:txBody>
          <a:bodyPr wrap="square" lIns="0" tIns="0" rIns="0" bIns="0" rtlCol="0" anchor="ctr">
            <a:normAutofit/>
          </a:bodyPr>
          <a:lstStyle/>
          <a:p>
            <a:pPr algn="ctr" indent="0" marL="0">
              <a:lnSpc>
                <a:spcPts val="1960"/>
              </a:lnSpc>
              <a:buNone/>
            </a:pPr>
            <a:r>
              <a:rPr lang="en-US" sz="1400" b="1" dirty="0">
                <a:solidFill>
                  <a:srgbClr val="5F6670"/>
                </a:solidFill>
                <a:latin typeface="IBM Plex Sans" pitchFamily="34" charset="0"/>
                <a:ea typeface="IBM Plex Sans" pitchFamily="34" charset="-122"/>
                <a:cs typeface="IBM Plex Sans" pitchFamily="34" charset="-120"/>
              </a:rPr>
              <a:t>1</a:t>
            </a:r>
            <a:endParaRPr lang="en-US" sz="1400" dirty="0"/>
          </a:p>
        </p:txBody>
      </p:sp>
      <p:sp>
        <p:nvSpPr>
          <p:cNvPr id="29" name="Text 27"/>
          <p:cNvSpPr/>
          <p:nvPr/>
        </p:nvSpPr>
        <p:spPr>
          <a:xfrm>
            <a:off x="3454400" y="3522980"/>
            <a:ext cx="635000" cy="457200"/>
          </a:xfrm>
          <a:prstGeom prst="roundRect">
            <a:avLst>
              <a:gd name="adj" fmla="val 11111"/>
            </a:avLst>
          </a:prstGeom>
          <a:solidFill>
            <a:srgbClr val="E3E2DE"/>
          </a:solidFill>
          <a:ln/>
        </p:spPr>
        <p:txBody>
          <a:bodyPr wrap="square" lIns="0" tIns="0" rIns="0" bIns="0" rtlCol="0" anchor="ctr">
            <a:normAutofit/>
          </a:bodyPr>
          <a:lstStyle/>
          <a:p>
            <a:pPr algn="ctr" indent="0" marL="0">
              <a:lnSpc>
                <a:spcPts val="1960"/>
              </a:lnSpc>
              <a:buNone/>
            </a:pPr>
            <a:r>
              <a:rPr lang="en-US" sz="1400" b="1" dirty="0">
                <a:solidFill>
                  <a:srgbClr val="5F6670"/>
                </a:solidFill>
                <a:latin typeface="IBM Plex Sans" pitchFamily="34" charset="0"/>
                <a:ea typeface="IBM Plex Sans" pitchFamily="34" charset="-122"/>
                <a:cs typeface="IBM Plex Sans" pitchFamily="34" charset="-120"/>
              </a:rPr>
              <a:t>2</a:t>
            </a:r>
            <a:endParaRPr lang="en-US" sz="1400" dirty="0"/>
          </a:p>
        </p:txBody>
      </p:sp>
      <p:sp>
        <p:nvSpPr>
          <p:cNvPr id="30" name="Text 28"/>
          <p:cNvSpPr/>
          <p:nvPr/>
        </p:nvSpPr>
        <p:spPr>
          <a:xfrm>
            <a:off x="4140200" y="3522980"/>
            <a:ext cx="635000" cy="457200"/>
          </a:xfrm>
          <a:prstGeom prst="roundRect">
            <a:avLst>
              <a:gd name="adj" fmla="val 11111"/>
            </a:avLst>
          </a:prstGeom>
          <a:solidFill>
            <a:srgbClr val="0F7A52"/>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3</a:t>
            </a:r>
            <a:endParaRPr lang="en-US" sz="1400" dirty="0"/>
          </a:p>
        </p:txBody>
      </p:sp>
      <p:sp>
        <p:nvSpPr>
          <p:cNvPr id="31" name="Text 29"/>
          <p:cNvSpPr/>
          <p:nvPr/>
        </p:nvSpPr>
        <p:spPr>
          <a:xfrm>
            <a:off x="4826000" y="3522980"/>
            <a:ext cx="635000" cy="457200"/>
          </a:xfrm>
          <a:prstGeom prst="roundRect">
            <a:avLst>
              <a:gd name="adj" fmla="val 11111"/>
            </a:avLst>
          </a:prstGeom>
          <a:solidFill>
            <a:srgbClr val="0F7A52"/>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4</a:t>
            </a:r>
            <a:endParaRPr lang="en-US" sz="1400" dirty="0"/>
          </a:p>
        </p:txBody>
      </p:sp>
      <p:sp>
        <p:nvSpPr>
          <p:cNvPr id="32" name="Text 30"/>
          <p:cNvSpPr/>
          <p:nvPr/>
        </p:nvSpPr>
        <p:spPr>
          <a:xfrm>
            <a:off x="5511800" y="3522980"/>
            <a:ext cx="635000" cy="457200"/>
          </a:xfrm>
          <a:prstGeom prst="roundRect">
            <a:avLst>
              <a:gd name="adj" fmla="val 11111"/>
            </a:avLst>
          </a:prstGeom>
          <a:solidFill>
            <a:srgbClr val="0F7A52"/>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5</a:t>
            </a:r>
            <a:endParaRPr lang="en-US" sz="1400" dirty="0"/>
          </a:p>
        </p:txBody>
      </p:sp>
      <p:sp>
        <p:nvSpPr>
          <p:cNvPr id="33" name="Text 31"/>
          <p:cNvSpPr/>
          <p:nvPr/>
        </p:nvSpPr>
        <p:spPr>
          <a:xfrm>
            <a:off x="6197600" y="3522980"/>
            <a:ext cx="635000" cy="457200"/>
          </a:xfrm>
          <a:prstGeom prst="roundRect">
            <a:avLst>
              <a:gd name="adj" fmla="val 11111"/>
            </a:avLst>
          </a:prstGeom>
          <a:solidFill>
            <a:srgbClr val="0F7A52"/>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6</a:t>
            </a:r>
            <a:endParaRPr lang="en-US" sz="1400" dirty="0"/>
          </a:p>
        </p:txBody>
      </p:sp>
      <p:sp>
        <p:nvSpPr>
          <p:cNvPr id="34" name="Text 32"/>
          <p:cNvSpPr/>
          <p:nvPr/>
        </p:nvSpPr>
        <p:spPr>
          <a:xfrm>
            <a:off x="6883400" y="3522980"/>
            <a:ext cx="635000" cy="457200"/>
          </a:xfrm>
          <a:prstGeom prst="roundRect">
            <a:avLst>
              <a:gd name="adj" fmla="val 11111"/>
            </a:avLst>
          </a:prstGeom>
          <a:solidFill>
            <a:srgbClr val="0F7A52"/>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7</a:t>
            </a:r>
            <a:endParaRPr lang="en-US" sz="1400" dirty="0"/>
          </a:p>
        </p:txBody>
      </p:sp>
      <p:sp>
        <p:nvSpPr>
          <p:cNvPr id="35" name="Text 33"/>
          <p:cNvSpPr/>
          <p:nvPr/>
        </p:nvSpPr>
        <p:spPr>
          <a:xfrm>
            <a:off x="7569200" y="3522980"/>
            <a:ext cx="635000" cy="457200"/>
          </a:xfrm>
          <a:prstGeom prst="roundRect">
            <a:avLst>
              <a:gd name="adj" fmla="val 11111"/>
            </a:avLst>
          </a:prstGeom>
          <a:solidFill>
            <a:srgbClr val="0F7A52"/>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8</a:t>
            </a:r>
            <a:endParaRPr lang="en-US" sz="1400" dirty="0"/>
          </a:p>
        </p:txBody>
      </p:sp>
      <p:sp>
        <p:nvSpPr>
          <p:cNvPr id="36" name="Text 34"/>
          <p:cNvSpPr/>
          <p:nvPr/>
        </p:nvSpPr>
        <p:spPr>
          <a:xfrm>
            <a:off x="8255000" y="3522980"/>
            <a:ext cx="635000" cy="457200"/>
          </a:xfrm>
          <a:prstGeom prst="roundRect">
            <a:avLst>
              <a:gd name="adj" fmla="val 11111"/>
            </a:avLst>
          </a:prstGeom>
          <a:solidFill>
            <a:srgbClr val="0F7A52"/>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9</a:t>
            </a:r>
            <a:endParaRPr lang="en-US" sz="1400" dirty="0"/>
          </a:p>
        </p:txBody>
      </p:sp>
      <p:sp>
        <p:nvSpPr>
          <p:cNvPr id="37" name="Text 35"/>
          <p:cNvSpPr/>
          <p:nvPr/>
        </p:nvSpPr>
        <p:spPr>
          <a:xfrm>
            <a:off x="8940800" y="3522980"/>
            <a:ext cx="635000" cy="457200"/>
          </a:xfrm>
          <a:prstGeom prst="roundRect">
            <a:avLst>
              <a:gd name="adj" fmla="val 11111"/>
            </a:avLst>
          </a:prstGeom>
          <a:solidFill>
            <a:srgbClr val="0F7A52"/>
          </a:solidFill>
          <a:ln/>
        </p:spPr>
        <p:txBody>
          <a:bodyPr wrap="square" lIns="0" tIns="0" rIns="0" bIns="0" rtlCol="0" anchor="ctr">
            <a:normAutofit/>
          </a:bodyPr>
          <a:lstStyle/>
          <a:p>
            <a:pPr algn="ctr"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10</a:t>
            </a:r>
            <a:endParaRPr lang="en-US" sz="1400" dirty="0"/>
          </a:p>
        </p:txBody>
      </p:sp>
      <p:sp>
        <p:nvSpPr>
          <p:cNvPr id="38" name="Text 36"/>
          <p:cNvSpPr/>
          <p:nvPr/>
        </p:nvSpPr>
        <p:spPr>
          <a:xfrm>
            <a:off x="812800" y="4183380"/>
            <a:ext cx="10883392"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A1A1A"/>
                </a:solidFill>
                <a:latin typeface="IBM Plex Sans" pitchFamily="34" charset="0"/>
                <a:ea typeface="IBM Plex Sans" pitchFamily="34" charset="-122"/>
                <a:cs typeface="IBM Plex Sans" pitchFamily="34" charset="-120"/>
              </a:rPr>
              <a:t>Обучение Фолда 1 и Фолда 2 совпадает на </a:t>
            </a:r>
            <a:r>
              <a:rPr lang="en-US" sz="1700" b="1" dirty="0">
                <a:solidFill>
                  <a:srgbClr val="0F7A52"/>
                </a:solidFill>
                <a:latin typeface="IBM Plex Sans" pitchFamily="34" charset="0"/>
                <a:ea typeface="IBM Plex Sans" pitchFamily="34" charset="-122"/>
                <a:cs typeface="IBM Plex Sans" pitchFamily="34" charset="-120"/>
              </a:rPr>
              <a:t>8 частях из 9</a:t>
            </a:r>
            <a:r>
              <a:rPr lang="en-US" sz="1700" dirty="0">
                <a:solidFill>
                  <a:srgbClr val="1A1A1A"/>
                </a:solidFill>
                <a:latin typeface="IBM Plex Sans" pitchFamily="34" charset="0"/>
                <a:ea typeface="IBM Plex Sans" pitchFamily="34" charset="-122"/>
                <a:cs typeface="IBM Plex Sans" pitchFamily="34" charset="-120"/>
              </a:rPr>
              <a:t>. Результаты фолдов связаны, а t-test считает их независимыми.</a:t>
            </a:r>
            <a:endParaRPr lang="en-US" sz="1700" dirty="0"/>
          </a:p>
        </p:txBody>
      </p:sp>
      <p:sp>
        <p:nvSpPr>
          <p:cNvPr id="39" name="Text 37"/>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40" name="Text 38"/>
          <p:cNvSpPr/>
          <p:nvPr/>
        </p:nvSpPr>
        <p:spPr>
          <a:xfrm>
            <a:off x="10566400" y="62382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01 · ПОСТАНОВКА</a:t>
            </a:r>
            <a:endParaRPr lang="en-US" sz="1200" dirty="0"/>
          </a:p>
        </p:txBody>
      </p:sp>
      <p:sp>
        <p:nvSpPr>
          <p:cNvPr id="3" name="Text 1"/>
          <p:cNvSpPr/>
          <p:nvPr>
            <p:ph type="title"/>
          </p:nvPr>
        </p:nvSpPr>
        <p:spPr>
          <a:xfrm>
            <a:off x="812800" y="1229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Цель и план работы</a:t>
            </a:r>
            <a:endParaRPr lang="en-US" sz="3200" dirty="0"/>
          </a:p>
        </p:txBody>
      </p:sp>
      <p:sp>
        <p:nvSpPr>
          <p:cNvPr id="4" name="Shape 2"/>
          <p:cNvSpPr/>
          <p:nvPr/>
        </p:nvSpPr>
        <p:spPr>
          <a:xfrm>
            <a:off x="812800" y="1899920"/>
            <a:ext cx="609600" cy="50800"/>
          </a:xfrm>
          <a:prstGeom prst="rect">
            <a:avLst/>
          </a:prstGeom>
          <a:solidFill>
            <a:srgbClr val="2A78D6"/>
          </a:solidFill>
          <a:ln/>
        </p:spPr>
      </p:sp>
      <p:sp>
        <p:nvSpPr>
          <p:cNvPr id="5" name="Text 3"/>
          <p:cNvSpPr/>
          <p:nvPr/>
        </p:nvSpPr>
        <p:spPr>
          <a:xfrm>
            <a:off x="812800" y="2103120"/>
            <a:ext cx="4578350" cy="10731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1A1A1A"/>
                </a:solidFill>
                <a:latin typeface="IBM Plex Sans" pitchFamily="34" charset="0"/>
                <a:ea typeface="IBM Plex Sans" pitchFamily="34" charset="-122"/>
                <a:cs typeface="IBM Plex Sans" pitchFamily="34" charset="-120"/>
              </a:rPr>
              <a:t>Показать на расчётах, когда наивный и корректные тесты расходятся и насколько.</a:t>
            </a:r>
            <a:endParaRPr lang="en-US" sz="2200" dirty="0"/>
          </a:p>
        </p:txBody>
      </p:sp>
      <p:sp>
        <p:nvSpPr>
          <p:cNvPr id="6" name="Text 4"/>
          <p:cNvSpPr/>
          <p:nvPr/>
        </p:nvSpPr>
        <p:spPr>
          <a:xfrm>
            <a:off x="812800" y="3303270"/>
            <a:ext cx="4578350" cy="98552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F6670"/>
                </a:solidFill>
                <a:latin typeface="IBM Plex Sans" pitchFamily="34" charset="0"/>
                <a:ea typeface="IBM Plex Sans" pitchFamily="34" charset="-122"/>
                <a:cs typeface="IBM Plex Sans" pitchFamily="34" charset="-120"/>
              </a:rPr>
              <a:t>H₀: у двух моделей одинаковое качество. Маленькое p (меньше 0.05) говорит, что случайность это плохо объясняет.</a:t>
            </a:r>
            <a:endParaRPr lang="en-US" sz="1800" dirty="0"/>
          </a:p>
        </p:txBody>
      </p:sp>
      <p:sp>
        <p:nvSpPr>
          <p:cNvPr id="7" name="Shape 5"/>
          <p:cNvSpPr/>
          <p:nvPr/>
        </p:nvSpPr>
        <p:spPr>
          <a:xfrm>
            <a:off x="5664200" y="1899920"/>
            <a:ext cx="5715000" cy="3388360"/>
          </a:xfrm>
          <a:prstGeom prst="roundRect">
            <a:avLst>
              <a:gd name="adj" fmla="val 2999"/>
            </a:avLst>
          </a:prstGeom>
          <a:solidFill>
            <a:srgbClr val="F1F1EC"/>
          </a:solidFill>
          <a:ln/>
        </p:spPr>
      </p:sp>
      <p:sp>
        <p:nvSpPr>
          <p:cNvPr id="8" name="Text 6"/>
          <p:cNvSpPr/>
          <p:nvPr/>
        </p:nvSpPr>
        <p:spPr>
          <a:xfrm>
            <a:off x="5918835" y="2153920"/>
            <a:ext cx="5354955" cy="2905760"/>
          </a:xfrm>
          <a:prstGeom prst="rect">
            <a:avLst/>
          </a:prstGeom>
          <a:noFill/>
          <a:ln/>
        </p:spPr>
        <p:txBody>
          <a:bodyPr wrap="square" lIns="0" tIns="0" rIns="0" bIns="0" rtlCol="0" anchor="t">
            <a:normAutofit/>
          </a:bodyPr>
          <a:lstStyle/>
          <a:p>
            <a:pPr algn="l" marL="253365" indent="-253365">
              <a:lnSpc>
                <a:spcPts val="2520"/>
              </a:lnSpc>
              <a:buSzPct val="100000"/>
              <a:buFontTx/>
              <a:buAutoNum type="arabicPeriod" startAt="1"/>
            </a:pPr>
            <a:r>
              <a:rPr lang="en-US" sz="1800" dirty="0">
                <a:solidFill>
                  <a:srgbClr val="1A1A1A"/>
                </a:solidFill>
                <a:latin typeface="IBM Plex Sans" pitchFamily="34" charset="0"/>
                <a:ea typeface="IBM Plex Sans" pitchFamily="34" charset="-122"/>
                <a:cs typeface="IBM Plex Sans" pitchFamily="34" charset="-120"/>
              </a:rPr>
              <a:t>Четыре теста на одной паре, затем на 45 сравнениях</a:t>
            </a:r>
            <a:endParaRPr lang="en-US" sz="1800" dirty="0"/>
          </a:p>
          <a:p>
            <a:pPr algn="l" marL="253365" indent="-253365">
              <a:lnSpc>
                <a:spcPts val="2520"/>
              </a:lnSpc>
              <a:buSzPct val="100000"/>
              <a:buFontTx/>
              <a:buAutoNum type="arabicPeriod" startAt="1"/>
            </a:pPr>
            <a:r>
              <a:rPr lang="en-US" sz="1800" dirty="0">
                <a:solidFill>
                  <a:srgbClr val="1A1A1A"/>
                </a:solidFill>
                <a:latin typeface="IBM Plex Sans" pitchFamily="34" charset="0"/>
                <a:ea typeface="IBM Plex Sans" pitchFamily="34" charset="-122"/>
                <a:cs typeface="IBM Plex Sans" pitchFamily="34" charset="-120"/>
              </a:rPr>
              <a:t>Групповое сравнение: критерий Фридмана и пост-тест Неменьи</a:t>
            </a:r>
            <a:endParaRPr lang="en-US" sz="1800" dirty="0"/>
          </a:p>
          <a:p>
            <a:pPr algn="l" marL="253365" indent="-253365">
              <a:lnSpc>
                <a:spcPts val="2520"/>
              </a:lnSpc>
              <a:buSzPct val="100000"/>
              <a:buFontTx/>
              <a:buAutoNum type="arabicPeriod" startAt="1"/>
            </a:pPr>
            <a:r>
              <a:rPr lang="en-US" sz="1800" dirty="0">
                <a:solidFill>
                  <a:srgbClr val="1A1A1A"/>
                </a:solidFill>
                <a:latin typeface="IBM Plex Sans" pitchFamily="34" charset="0"/>
                <a:ea typeface="IBM Plex Sans" pitchFamily="34" charset="-122"/>
                <a:cs typeface="IBM Plex Sans" pitchFamily="34" charset="-120"/>
              </a:rPr>
              <a:t>Поправка Холма на множественные сравнения</a:t>
            </a:r>
            <a:endParaRPr lang="en-US" sz="1800" dirty="0"/>
          </a:p>
          <a:p>
            <a:pPr algn="l" marL="253365" indent="-253365">
              <a:lnSpc>
                <a:spcPts val="2520"/>
              </a:lnSpc>
              <a:buSzPct val="100000"/>
              <a:buFontTx/>
              <a:buAutoNum type="arabicPeriod" startAt="1"/>
            </a:pPr>
            <a:r>
              <a:rPr lang="en-US" sz="1800" dirty="0">
                <a:solidFill>
                  <a:srgbClr val="1A1A1A"/>
                </a:solidFill>
                <a:latin typeface="IBM Plex Sans" pitchFamily="34" charset="0"/>
                <a:ea typeface="IBM Plex Sans" pitchFamily="34" charset="-122"/>
                <a:cs typeface="IBM Plex Sans" pitchFamily="34" charset="-120"/>
              </a:rPr>
              <a:t>Доверительные интервалы для размера эффекта</a:t>
            </a:r>
            <a:endParaRPr lang="en-US" sz="1800" dirty="0"/>
          </a:p>
          <a:p>
            <a:pPr algn="l" marL="253365" indent="-253365">
              <a:lnSpc>
                <a:spcPts val="2520"/>
              </a:lnSpc>
              <a:buSzPct val="100000"/>
              <a:buFontTx/>
              <a:buAutoNum type="arabicPeriod" startAt="1"/>
            </a:pPr>
            <a:r>
              <a:rPr lang="en-US" sz="1800" dirty="0">
                <a:solidFill>
                  <a:srgbClr val="1A1A1A"/>
                </a:solidFill>
                <a:latin typeface="IBM Plex Sans" pitchFamily="34" charset="0"/>
                <a:ea typeface="IBM Plex Sans" pitchFamily="34" charset="-122"/>
                <a:cs typeface="IBM Plex Sans" pitchFamily="34" charset="-120"/>
              </a:rPr>
              <a:t>Симуляция: ошибка первого рода и мощность</a:t>
            </a:r>
            <a:endParaRPr lang="en-US" sz="1800" dirty="0"/>
          </a:p>
        </p:txBody>
      </p:sp>
      <p:sp>
        <p:nvSpPr>
          <p:cNvPr id="9" name="Text 7"/>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10" name="Text 8"/>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28997"/>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1F62B5"/>
                </a:solidFill>
                <a:latin typeface="IBM Plex Sans" pitchFamily="34" charset="0"/>
                <a:ea typeface="IBM Plex Sans" pitchFamily="34" charset="-122"/>
                <a:cs typeface="IBM Plex Sans" pitchFamily="34" charset="-120"/>
              </a:rPr>
              <a:t>02 · ДАННЫЕ И МЕТОД</a:t>
            </a:r>
            <a:endParaRPr lang="en-US" sz="1159" dirty="0"/>
          </a:p>
        </p:txBody>
      </p:sp>
      <p:sp>
        <p:nvSpPr>
          <p:cNvPr id="3" name="Text 1"/>
          <p:cNvSpPr/>
          <p:nvPr>
            <p:ph type="title"/>
          </p:nvPr>
        </p:nvSpPr>
        <p:spPr>
          <a:xfrm>
            <a:off x="812800" y="1219597"/>
            <a:ext cx="10883392" cy="471329"/>
          </a:xfrm>
          <a:prstGeom prst="rect">
            <a:avLst/>
          </a:prstGeom>
          <a:noFill/>
          <a:ln/>
        </p:spPr>
        <p:txBody>
          <a:bodyPr wrap="square" lIns="0" tIns="0" rIns="0" bIns="0" rtlCol="0" anchor="t">
            <a:normAutofit/>
          </a:bodyPr>
          <a:lstStyle/>
          <a:p>
            <a:pPr algn="l" indent="0" marL="0">
              <a:lnSpc>
                <a:spcPts val="3519"/>
              </a:lnSpc>
              <a:buNone/>
            </a:pPr>
            <a:r>
              <a:rPr lang="en-US" sz="3060" b="1" i="0" dirty="0">
                <a:solidFill>
                  <a:srgbClr val="1A1A1A"/>
                </a:solidFill>
                <a:latin typeface="IBM Plex Sans" pitchFamily="34" charset="0"/>
                <a:ea typeface="IBM Plex Sans" pitchFamily="34" charset="-122"/>
                <a:cs typeface="IBM Plex Sans" pitchFamily="34" charset="-120"/>
              </a:rPr>
              <a:t>Пятнадцать открытых датасетов</a:t>
            </a:r>
            <a:endParaRPr lang="en-US" sz="306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78886"/>
          <a:ext cx="5120640" cy="3442970"/>
        </p:xfrm>
        <a:graphic>
          <a:graphicData uri="http://schemas.openxmlformats.org/drawingml/2006/table">
            <a:tbl>
              <a:tblPr/>
              <a:tblGrid>
                <a:gridCol w="2048256"/>
                <a:gridCol w="1024128"/>
                <a:gridCol w="1024128"/>
                <a:gridCol w="1024128"/>
              </a:tblGrid>
              <a:tr h="588010">
                <a:tc>
                  <a:txBody>
                    <a:bodyPr/>
                    <a:lstStyle/>
                    <a:p>
                      <a:pPr indent="0" marL="0">
                        <a:lnSpc>
                          <a:spcPts val="1820"/>
                        </a:lnSpc>
                        <a:buNone/>
                      </a:pPr>
                      <a:r>
                        <a:rPr lang="en-US" sz="1300" b="1" dirty="0">
                          <a:solidFill>
                            <a:srgbClr val="1A1A1A"/>
                          </a:solidFill>
                          <a:latin typeface="IBM Plex Sans" pitchFamily="34" charset="0"/>
                          <a:ea typeface="IBM Plex Sans" pitchFamily="34" charset="-122"/>
                          <a:cs typeface="IBM Plex Sans" pitchFamily="34" charset="-120"/>
                        </a:rPr>
                        <a:t>Датасет</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algn="r" indent="0" marL="0">
                        <a:lnSpc>
                          <a:spcPts val="1820"/>
                        </a:lnSpc>
                        <a:buNone/>
                      </a:pPr>
                      <a:r>
                        <a:rPr lang="en-US" sz="1300" b="1" dirty="0">
                          <a:solidFill>
                            <a:srgbClr val="1A1A1A"/>
                          </a:solidFill>
                          <a:latin typeface="IBM Plex Sans" pitchFamily="34" charset="0"/>
                          <a:ea typeface="IBM Plex Sans" pitchFamily="34" charset="-122"/>
                          <a:cs typeface="IBM Plex Sans" pitchFamily="34" charset="-120"/>
                        </a:rPr>
                        <a:t>Объектов</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algn="r" indent="0" marL="0">
                        <a:lnSpc>
                          <a:spcPts val="1820"/>
                        </a:lnSpc>
                        <a:buNone/>
                      </a:pPr>
                      <a:r>
                        <a:rPr lang="en-US" sz="1300" b="1" dirty="0">
                          <a:solidFill>
                            <a:srgbClr val="1A1A1A"/>
                          </a:solidFill>
                          <a:latin typeface="IBM Plex Sans" pitchFamily="34" charset="0"/>
                          <a:ea typeface="IBM Plex Sans" pitchFamily="34" charset="-122"/>
                          <a:cs typeface="IBM Plex Sans" pitchFamily="34" charset="-120"/>
                        </a:rPr>
                        <a:t>Признаков</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algn="r" indent="0" marL="0">
                        <a:lnSpc>
                          <a:spcPts val="1820"/>
                        </a:lnSpc>
                        <a:buNone/>
                      </a:pPr>
                      <a:r>
                        <a:rPr lang="en-US" sz="1300" b="1" dirty="0">
                          <a:solidFill>
                            <a:srgbClr val="1A1A1A"/>
                          </a:solidFill>
                          <a:latin typeface="IBM Plex Sans" pitchFamily="34" charset="0"/>
                          <a:ea typeface="IBM Plex Sans" pitchFamily="34" charset="-122"/>
                          <a:cs typeface="IBM Plex Sans" pitchFamily="34" charset="-120"/>
                        </a:rPr>
                        <a:t>Классов</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356870">
                <a:tc>
                  <a:txBody>
                    <a:bodyPr/>
                    <a:lstStyle/>
                    <a:p>
                      <a:pP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digits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1797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64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10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breast_cancer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569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30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wine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178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13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banknote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1372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credit_g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1000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20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diabetes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768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vehicle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846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18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segment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2310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19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58560" y="1878886"/>
          <a:ext cx="5120640" cy="3086100"/>
        </p:xfrm>
        <a:graphic>
          <a:graphicData uri="http://schemas.openxmlformats.org/drawingml/2006/table">
            <a:tbl>
              <a:tblPr/>
              <a:tblGrid>
                <a:gridCol w="2048256"/>
                <a:gridCol w="1024128"/>
                <a:gridCol w="1024128"/>
                <a:gridCol w="1024128"/>
              </a:tblGrid>
              <a:tr h="588010">
                <a:tc>
                  <a:txBody>
                    <a:bodyPr/>
                    <a:lstStyle/>
                    <a:p>
                      <a:pPr indent="0" marL="0">
                        <a:lnSpc>
                          <a:spcPts val="1820"/>
                        </a:lnSpc>
                        <a:buNone/>
                      </a:pPr>
                      <a:r>
                        <a:rPr lang="en-US" sz="1300" b="1" dirty="0">
                          <a:solidFill>
                            <a:srgbClr val="1A1A1A"/>
                          </a:solidFill>
                          <a:latin typeface="IBM Plex Sans" pitchFamily="34" charset="0"/>
                          <a:ea typeface="IBM Plex Sans" pitchFamily="34" charset="-122"/>
                          <a:cs typeface="IBM Plex Sans" pitchFamily="34" charset="-120"/>
                        </a:rPr>
                        <a:t>Датасет</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algn="r" indent="0" marL="0">
                        <a:lnSpc>
                          <a:spcPts val="1820"/>
                        </a:lnSpc>
                        <a:buNone/>
                      </a:pPr>
                      <a:r>
                        <a:rPr lang="en-US" sz="1300" b="1" dirty="0">
                          <a:solidFill>
                            <a:srgbClr val="1A1A1A"/>
                          </a:solidFill>
                          <a:latin typeface="IBM Plex Sans" pitchFamily="34" charset="0"/>
                          <a:ea typeface="IBM Plex Sans" pitchFamily="34" charset="-122"/>
                          <a:cs typeface="IBM Plex Sans" pitchFamily="34" charset="-120"/>
                        </a:rPr>
                        <a:t>Объектов</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algn="r" indent="0" marL="0">
                        <a:lnSpc>
                          <a:spcPts val="1820"/>
                        </a:lnSpc>
                        <a:buNone/>
                      </a:pPr>
                      <a:r>
                        <a:rPr lang="en-US" sz="1300" b="1" dirty="0">
                          <a:solidFill>
                            <a:srgbClr val="1A1A1A"/>
                          </a:solidFill>
                          <a:latin typeface="IBM Plex Sans" pitchFamily="34" charset="0"/>
                          <a:ea typeface="IBM Plex Sans" pitchFamily="34" charset="-122"/>
                          <a:cs typeface="IBM Plex Sans" pitchFamily="34" charset="-120"/>
                        </a:rPr>
                        <a:t>Признаков</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algn="r" indent="0" marL="0">
                        <a:lnSpc>
                          <a:spcPts val="1820"/>
                        </a:lnSpc>
                        <a:buNone/>
                      </a:pPr>
                      <a:r>
                        <a:rPr lang="en-US" sz="1300" b="1" dirty="0">
                          <a:solidFill>
                            <a:srgbClr val="1A1A1A"/>
                          </a:solidFill>
                          <a:latin typeface="IBM Plex Sans" pitchFamily="34" charset="0"/>
                          <a:ea typeface="IBM Plex Sans" pitchFamily="34" charset="-122"/>
                          <a:cs typeface="IBM Plex Sans" pitchFamily="34" charset="-120"/>
                        </a:rPr>
                        <a:t>Классов</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356870">
                <a:tc>
                  <a:txBody>
                    <a:bodyPr/>
                    <a:lstStyle/>
                    <a:p>
                      <a:pP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ionosphere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351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34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glass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214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heart_statlog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270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13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spambase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4601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57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phoneme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5404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blood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748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6870">
                <a:tc>
                  <a:txBody>
                    <a:bodyPr/>
                    <a:lstStyle/>
                    <a:p>
                      <a:pP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sonar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208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60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1820"/>
                        </a:lnSpc>
                        <a:buNone/>
                      </a:pPr>
                      <a:r>
                        <a:rPr lang="en-US" sz="1300" dirty="0">
                          <a:solidFill>
                            <a:srgbClr val="1A1A1A"/>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6" name="Text 2"/>
          <p:cNvSpPr/>
          <p:nvPr/>
        </p:nvSpPr>
        <p:spPr>
          <a:xfrm>
            <a:off x="812800" y="5366941"/>
            <a:ext cx="10883392" cy="500459"/>
          </a:xfrm>
          <a:prstGeom prst="rect">
            <a:avLst/>
          </a:prstGeom>
          <a:noFill/>
          <a:ln/>
        </p:spPr>
        <p:txBody>
          <a:bodyPr wrap="square" lIns="0" tIns="0" rIns="0" bIns="0" rtlCol="0" anchor="t">
            <a:normAutofit/>
          </a:bodyPr>
          <a:lstStyle/>
          <a:p>
            <a:pPr algn="l" indent="0" marL="0">
              <a:lnSpc>
                <a:spcPts val="1886"/>
              </a:lnSpc>
              <a:buNone/>
            </a:pPr>
            <a:r>
              <a:rPr lang="en-US" sz="1347" dirty="0">
                <a:solidFill>
                  <a:srgbClr val="5F6670"/>
                </a:solidFill>
                <a:latin typeface="IBM Plex Sans" pitchFamily="34" charset="0"/>
                <a:ea typeface="IBM Plex Sans" pitchFamily="34" charset="-122"/>
                <a:cs typeface="IBM Plex Sans" pitchFamily="34" charset="-120"/>
              </a:rPr>
              <a:t>Источники: sklearn и OpenML. В credit_g 13 категориальных признаков: они кодируются в 0/1-столбцы (one-hot) внутри модели, в каждом фолде отдельно.</a:t>
            </a:r>
            <a:endParaRPr lang="en-US" sz="1347" dirty="0"/>
          </a:p>
        </p:txBody>
      </p:sp>
      <p:sp>
        <p:nvSpPr>
          <p:cNvPr id="7" name="Text 3"/>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8" name="Text 4"/>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02 · ДАННЫЕ И МЕТОД</a:t>
            </a:r>
            <a:endParaRPr lang="en-US" sz="1200" dirty="0"/>
          </a:p>
        </p:txBody>
      </p:sp>
      <p:sp>
        <p:nvSpPr>
          <p:cNvPr id="3" name="Text 1"/>
          <p:cNvSpPr/>
          <p:nvPr>
            <p:ph type="title"/>
          </p:nvPr>
        </p:nvSpPr>
        <p:spPr>
          <a:xfrm>
            <a:off x="812800" y="1229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Код: загрузка данных</a:t>
            </a:r>
            <a:endParaRPr lang="en-US" sz="3200" dirty="0"/>
          </a:p>
        </p:txBody>
      </p:sp>
      <p:sp>
        <p:nvSpPr>
          <p:cNvPr id="4" name="Shape 2"/>
          <p:cNvSpPr/>
          <p:nvPr/>
        </p:nvSpPr>
        <p:spPr>
          <a:xfrm>
            <a:off x="815975" y="1903096"/>
            <a:ext cx="6343650" cy="2706370"/>
          </a:xfrm>
          <a:prstGeom prst="roundRect">
            <a:avLst>
              <a:gd name="adj" fmla="val 2698"/>
            </a:avLst>
          </a:prstGeom>
          <a:solidFill>
            <a:srgbClr val="F1F1EC"/>
          </a:solidFill>
          <a:ln w="6350">
            <a:solidFill>
              <a:srgbClr val="DEDED6"/>
            </a:solidFill>
            <a:prstDash val="solid"/>
          </a:ln>
        </p:spPr>
      </p:sp>
      <p:sp>
        <p:nvSpPr>
          <p:cNvPr id="5" name="Text 3"/>
          <p:cNvSpPr/>
          <p:nvPr/>
        </p:nvSpPr>
        <p:spPr>
          <a:xfrm>
            <a:off x="1021080" y="20828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datasets = {}</a:t>
            </a:r>
            <a:endParaRPr lang="en-US" sz="1200" dirty="0"/>
          </a:p>
        </p:txBody>
      </p:sp>
      <p:sp>
        <p:nvSpPr>
          <p:cNvPr id="6" name="Text 4"/>
          <p:cNvSpPr/>
          <p:nvPr/>
        </p:nvSpPr>
        <p:spPr>
          <a:xfrm>
            <a:off x="1021080" y="2296161"/>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IBM Plex Mono" pitchFamily="49" charset="0"/>
                <a:ea typeface="IBM Plex Mono" pitchFamily="49" charset="-122"/>
                <a:cs typeface="IBM Plex Mono" pitchFamily="49" charset="-120"/>
              </a:rPr>
              <a:t>for</a:t>
            </a:r>
            <a:r>
              <a:rPr lang="en-US" sz="1200" dirty="0">
                <a:solidFill>
                  <a:srgbClr val="1A1A1A"/>
                </a:solidFill>
                <a:latin typeface="IBM Plex Mono" pitchFamily="49" charset="0"/>
                <a:ea typeface="IBM Plex Mono" pitchFamily="49" charset="-122"/>
                <a:cs typeface="IBM Plex Mono" pitchFamily="49" charset="-120"/>
              </a:rPr>
              <a:t> name, loader </a:t>
            </a:r>
            <a:r>
              <a:rPr lang="en-US" sz="1200" dirty="0">
                <a:solidFill>
                  <a:srgbClr val="6639B7"/>
                </a:solidFill>
                <a:latin typeface="IBM Plex Mono" pitchFamily="49" charset="0"/>
                <a:ea typeface="IBM Plex Mono" pitchFamily="49" charset="-122"/>
                <a:cs typeface="IBM Plex Mono" pitchFamily="49" charset="-120"/>
              </a:rPr>
              <a:t>in</a:t>
            </a:r>
            <a:r>
              <a:rPr lang="en-US" sz="1200" dirty="0">
                <a:solidFill>
                  <a:srgbClr val="1A1A1A"/>
                </a:solidFill>
                <a:latin typeface="IBM Plex Mono" pitchFamily="49" charset="0"/>
                <a:ea typeface="IBM Plex Mono" pitchFamily="49" charset="-122"/>
                <a:cs typeface="IBM Plex Mono" pitchFamily="49" charset="-120"/>
              </a:rPr>
              <a:t> [(</a:t>
            </a:r>
            <a:r>
              <a:rPr lang="en-US" sz="1200" dirty="0">
                <a:solidFill>
                  <a:srgbClr val="116329"/>
                </a:solidFill>
                <a:latin typeface="IBM Plex Mono" pitchFamily="49" charset="0"/>
                <a:ea typeface="IBM Plex Mono" pitchFamily="49" charset="-122"/>
                <a:cs typeface="IBM Plex Mono" pitchFamily="49" charset="-120"/>
              </a:rPr>
              <a:t>"digits"</a:t>
            </a:r>
            <a:r>
              <a:rPr lang="en-US" sz="1200" dirty="0">
                <a:solidFill>
                  <a:srgbClr val="1A1A1A"/>
                </a:solidFill>
                <a:latin typeface="IBM Plex Mono" pitchFamily="49" charset="0"/>
                <a:ea typeface="IBM Plex Mono" pitchFamily="49" charset="-122"/>
                <a:cs typeface="IBM Plex Mono" pitchFamily="49" charset="-120"/>
              </a:rPr>
              <a:t>, load_digits),</a:t>
            </a:r>
            <a:endParaRPr lang="en-US" sz="1200" dirty="0"/>
          </a:p>
        </p:txBody>
      </p:sp>
      <p:sp>
        <p:nvSpPr>
          <p:cNvPr id="7" name="Text 5"/>
          <p:cNvSpPr/>
          <p:nvPr/>
        </p:nvSpPr>
        <p:spPr>
          <a:xfrm>
            <a:off x="1021080" y="2509521"/>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a:t>
            </a:r>
            <a:r>
              <a:rPr lang="en-US" sz="1200" dirty="0">
                <a:solidFill>
                  <a:srgbClr val="116329"/>
                </a:solidFill>
                <a:latin typeface="IBM Plex Mono" pitchFamily="49" charset="0"/>
                <a:ea typeface="IBM Plex Mono" pitchFamily="49" charset="-122"/>
                <a:cs typeface="IBM Plex Mono" pitchFamily="49" charset="-120"/>
              </a:rPr>
              <a:t>"breast_cancer"</a:t>
            </a:r>
            <a:r>
              <a:rPr lang="en-US" sz="1200" dirty="0">
                <a:solidFill>
                  <a:srgbClr val="1A1A1A"/>
                </a:solidFill>
                <a:latin typeface="IBM Plex Mono" pitchFamily="49" charset="0"/>
                <a:ea typeface="IBM Plex Mono" pitchFamily="49" charset="-122"/>
                <a:cs typeface="IBM Plex Mono" pitchFamily="49" charset="-120"/>
              </a:rPr>
              <a:t>, load_breast_cancer),</a:t>
            </a:r>
            <a:endParaRPr lang="en-US" sz="1200" dirty="0"/>
          </a:p>
        </p:txBody>
      </p:sp>
      <p:sp>
        <p:nvSpPr>
          <p:cNvPr id="8" name="Text 6"/>
          <p:cNvSpPr/>
          <p:nvPr/>
        </p:nvSpPr>
        <p:spPr>
          <a:xfrm>
            <a:off x="1021080" y="2722882"/>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a:t>
            </a:r>
            <a:r>
              <a:rPr lang="en-US" sz="1200" dirty="0">
                <a:solidFill>
                  <a:srgbClr val="116329"/>
                </a:solidFill>
                <a:latin typeface="IBM Plex Mono" pitchFamily="49" charset="0"/>
                <a:ea typeface="IBM Plex Mono" pitchFamily="49" charset="-122"/>
                <a:cs typeface="IBM Plex Mono" pitchFamily="49" charset="-120"/>
              </a:rPr>
              <a:t>"wine"</a:t>
            </a:r>
            <a:r>
              <a:rPr lang="en-US" sz="1200" dirty="0">
                <a:solidFill>
                  <a:srgbClr val="1A1A1A"/>
                </a:solidFill>
                <a:latin typeface="IBM Plex Mono" pitchFamily="49" charset="0"/>
                <a:ea typeface="IBM Plex Mono" pitchFamily="49" charset="-122"/>
                <a:cs typeface="IBM Plex Mono" pitchFamily="49" charset="-120"/>
              </a:rPr>
              <a:t>, load_wine)]:</a:t>
            </a:r>
            <a:endParaRPr lang="en-US" sz="1200" dirty="0"/>
          </a:p>
        </p:txBody>
      </p:sp>
      <p:sp>
        <p:nvSpPr>
          <p:cNvPr id="9" name="Text 7"/>
          <p:cNvSpPr/>
          <p:nvPr/>
        </p:nvSpPr>
        <p:spPr>
          <a:xfrm>
            <a:off x="1389380" y="2936239"/>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X, y = loader(return_X_y=True, as_frame=True)</a:t>
            </a:r>
            <a:endParaRPr lang="en-US" sz="1200" dirty="0"/>
          </a:p>
        </p:txBody>
      </p:sp>
      <p:sp>
        <p:nvSpPr>
          <p:cNvPr id="10" name="Text 8"/>
          <p:cNvSpPr/>
          <p:nvPr/>
        </p:nvSpPr>
        <p:spPr>
          <a:xfrm>
            <a:off x="1389380" y="3149600"/>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datasets[name] = (X, y.to_numpy())</a:t>
            </a:r>
            <a:endParaRPr lang="en-US" sz="1200" dirty="0"/>
          </a:p>
        </p:txBody>
      </p:sp>
      <p:sp>
        <p:nvSpPr>
          <p:cNvPr id="11" name="Text 9"/>
          <p:cNvSpPr/>
          <p:nvPr/>
        </p:nvSpPr>
        <p:spPr>
          <a:xfrm>
            <a:off x="1021080" y="3576321"/>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IBM Plex Mono" pitchFamily="49" charset="0"/>
                <a:ea typeface="IBM Plex Mono" pitchFamily="49" charset="-122"/>
                <a:cs typeface="IBM Plex Mono" pitchFamily="49" charset="-120"/>
              </a:rPr>
              <a:t>for</a:t>
            </a:r>
            <a:r>
              <a:rPr lang="en-US" sz="1200" dirty="0">
                <a:solidFill>
                  <a:srgbClr val="1A1A1A"/>
                </a:solidFill>
                <a:latin typeface="IBM Plex Mono" pitchFamily="49" charset="0"/>
                <a:ea typeface="IBM Plex Mono" pitchFamily="49" charset="-122"/>
                <a:cs typeface="IBM Plex Mono" pitchFamily="49" charset="-120"/>
              </a:rPr>
              <a:t> short_name, openml_name </a:t>
            </a:r>
            <a:r>
              <a:rPr lang="en-US" sz="1200" dirty="0">
                <a:solidFill>
                  <a:srgbClr val="6639B7"/>
                </a:solidFill>
                <a:latin typeface="IBM Plex Mono" pitchFamily="49" charset="0"/>
                <a:ea typeface="IBM Plex Mono" pitchFamily="49" charset="-122"/>
                <a:cs typeface="IBM Plex Mono" pitchFamily="49" charset="-120"/>
              </a:rPr>
              <a:t>in</a:t>
            </a:r>
            <a:r>
              <a:rPr lang="en-US" sz="1200" dirty="0">
                <a:solidFill>
                  <a:srgbClr val="1A1A1A"/>
                </a:solidFill>
                <a:latin typeface="IBM Plex Mono" pitchFamily="49" charset="0"/>
                <a:ea typeface="IBM Plex Mono" pitchFamily="49" charset="-122"/>
                <a:cs typeface="IBM Plex Mono" pitchFamily="49" charset="-120"/>
              </a:rPr>
              <a:t> openml_names.items():</a:t>
            </a:r>
            <a:endParaRPr lang="en-US" sz="1200" dirty="0"/>
          </a:p>
        </p:txBody>
      </p:sp>
      <p:sp>
        <p:nvSpPr>
          <p:cNvPr id="12" name="Text 10"/>
          <p:cNvSpPr/>
          <p:nvPr/>
        </p:nvSpPr>
        <p:spPr>
          <a:xfrm>
            <a:off x="1389380" y="3789682"/>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X, y = fetch_openml(openml_name, version=1,</a:t>
            </a:r>
            <a:endParaRPr lang="en-US" sz="1200" dirty="0"/>
          </a:p>
        </p:txBody>
      </p:sp>
      <p:sp>
        <p:nvSpPr>
          <p:cNvPr id="13" name="Text 11"/>
          <p:cNvSpPr/>
          <p:nvPr/>
        </p:nvSpPr>
        <p:spPr>
          <a:xfrm>
            <a:off x="1021080" y="4003039"/>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return_X_y=True, as_frame=True)</a:t>
            </a:r>
            <a:endParaRPr lang="en-US" sz="1200" dirty="0"/>
          </a:p>
        </p:txBody>
      </p:sp>
      <p:sp>
        <p:nvSpPr>
          <p:cNvPr id="14" name="Text 12"/>
          <p:cNvSpPr/>
          <p:nvPr/>
        </p:nvSpPr>
        <p:spPr>
          <a:xfrm>
            <a:off x="1389380" y="4216400"/>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datasets[short_name] = (X, y.to_numpy())</a:t>
            </a:r>
            <a:endParaRPr lang="en-US" sz="1200" dirty="0"/>
          </a:p>
        </p:txBody>
      </p:sp>
      <p:sp>
        <p:nvSpPr>
          <p:cNvPr id="15" name="Text 13"/>
          <p:cNvSpPr/>
          <p:nvPr/>
        </p:nvSpPr>
        <p:spPr>
          <a:xfrm>
            <a:off x="7366000" y="1899921"/>
            <a:ext cx="41335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BM Plex Sans" pitchFamily="34" charset="0"/>
                <a:ea typeface="IBM Plex Sans" pitchFamily="34" charset="-122"/>
                <a:cs typeface="IBM Plex Sans" pitchFamily="34" charset="-120"/>
              </a:rPr>
              <a:t>Каждый датасет это пара (X, y): таблица признаков и метки классов.</a:t>
            </a:r>
            <a:endParaRPr lang="en-US" sz="1400" dirty="0"/>
          </a:p>
        </p:txBody>
      </p:sp>
      <p:sp>
        <p:nvSpPr>
          <p:cNvPr id="16" name="Text 14"/>
          <p:cNvSpPr/>
          <p:nvPr/>
        </p:nvSpPr>
        <p:spPr>
          <a:xfrm>
            <a:off x="7366000" y="2524761"/>
            <a:ext cx="41335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6670"/>
                </a:solidFill>
                <a:latin typeface="IBM Plex Sans" pitchFamily="34" charset="0"/>
                <a:ea typeface="IBM Plex Sans" pitchFamily="34" charset="-122"/>
                <a:cs typeface="IBM Plex Sans" pitchFamily="34" charset="-120"/>
              </a:rPr>
              <a:t>openml_names: словарь вида {"credit_g": "credit-g", ...} с названиями на сайте OpenML.</a:t>
            </a:r>
            <a:endParaRPr lang="en-US" sz="1400" dirty="0"/>
          </a:p>
        </p:txBody>
      </p:sp>
      <p:sp>
        <p:nvSpPr>
          <p:cNvPr id="17" name="Text 15"/>
          <p:cNvSpPr/>
          <p:nvPr/>
        </p:nvSpPr>
        <p:spPr>
          <a:xfrm>
            <a:off x="7366000" y="3149600"/>
            <a:ext cx="41335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Размеры первых датасетов:</a:t>
            </a:r>
            <a:endParaRPr lang="en-US" sz="1200" dirty="0"/>
          </a:p>
        </p:txBody>
      </p:sp>
      <p:sp>
        <p:nvSpPr>
          <p:cNvPr id="18" name="Shape 16"/>
          <p:cNvSpPr/>
          <p:nvPr/>
        </p:nvSpPr>
        <p:spPr>
          <a:xfrm>
            <a:off x="7366000" y="3489961"/>
            <a:ext cx="4013200" cy="1584960"/>
          </a:xfrm>
          <a:prstGeom prst="roundRect">
            <a:avLst>
              <a:gd name="adj" fmla="val 4808"/>
            </a:avLst>
          </a:prstGeom>
          <a:solidFill>
            <a:srgbClr val="15202B"/>
          </a:solidFill>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528560" y="3627121"/>
          <a:ext cx="3698240" cy="1320800"/>
        </p:xfrm>
        <a:graphic>
          <a:graphicData uri="http://schemas.openxmlformats.org/drawingml/2006/table">
            <a:tbl>
              <a:tblPr/>
              <a:tblGrid>
                <a:gridCol w="1232747"/>
                <a:gridCol w="1232747"/>
                <a:gridCol w="1232747"/>
              </a:tblGrid>
              <a:tr h="330200">
                <a:tc>
                  <a:txBody>
                    <a:bodyPr/>
                    <a:lstStyle/>
                    <a:p>
                      <a:pPr indent="0" marL="0">
                        <a:lnSpc>
                          <a:spcPts val="1680"/>
                        </a:lnSpc>
                        <a:buNone/>
                      </a:pPr>
                      <a:r>
                        <a:rPr lang="en-US" sz="1200" b="1" dirty="0">
                          <a:solidFill>
                            <a:srgbClr val="E6EDF3"/>
                          </a:solidFill>
                          <a:latin typeface="IBM Plex Mono" pitchFamily="49" charset="0"/>
                          <a:ea typeface="IBM Plex Mono" pitchFamily="49" charset="-122"/>
                          <a:cs typeface="IBM Plex Mono" pitchFamily="49" charset="-120"/>
                        </a:rPr>
                        <a:t> </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c>
                  <a:txBody>
                    <a:bodyPr/>
                    <a:lstStyle/>
                    <a:p>
                      <a:pPr algn="r" indent="0" marL="0">
                        <a:lnSpc>
                          <a:spcPts val="1680"/>
                        </a:lnSpc>
                        <a:buNone/>
                      </a:pPr>
                      <a:r>
                        <a:rPr lang="en-US" sz="1200" b="1" dirty="0">
                          <a:solidFill>
                            <a:srgbClr val="E6EDF3"/>
                          </a:solidFill>
                          <a:latin typeface="IBM Plex Mono" pitchFamily="49" charset="0"/>
                          <a:ea typeface="IBM Plex Mono" pitchFamily="49" charset="-122"/>
                          <a:cs typeface="IBM Plex Mono" pitchFamily="49" charset="-120"/>
                        </a:rPr>
                        <a:t>объектов</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4"/>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c>
                  <a:txBody>
                    <a:bodyPr/>
                    <a:lstStyle/>
                    <a:p>
                      <a:pPr algn="r" indent="0" marL="0">
                        <a:lnSpc>
                          <a:spcPts val="1680"/>
                        </a:lnSpc>
                        <a:buNone/>
                      </a:pPr>
                      <a:r>
                        <a:rPr lang="en-US" sz="1200" b="1" dirty="0">
                          <a:solidFill>
                            <a:srgbClr val="E6EDF3"/>
                          </a:solidFill>
                          <a:latin typeface="IBM Plex Mono" pitchFamily="49" charset="0"/>
                          <a:ea typeface="IBM Plex Mono" pitchFamily="49" charset="-122"/>
                          <a:cs typeface="IBM Plex Mono" pitchFamily="49" charset="-120"/>
                        </a:rPr>
                        <a:t>признаков</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4"/>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r>
              <a:tr h="330200">
                <a:tc>
                  <a:txBody>
                    <a:bodyPr/>
                    <a:lstStyle/>
                    <a:p>
                      <a:pP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digits</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1797</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64</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wine</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178</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13</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credit_g</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1000</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20</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bl>
          </a:graphicData>
        </a:graphic>
      </p:graphicFrame>
      <p:sp>
        <p:nvSpPr>
          <p:cNvPr id="20" name="Text 17"/>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21" name="Text 18"/>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02 · ДАННЫЕ И МЕТОД</a:t>
            </a:r>
            <a:endParaRPr lang="en-US" sz="1200" dirty="0"/>
          </a:p>
        </p:txBody>
      </p:sp>
      <p:sp>
        <p:nvSpPr>
          <p:cNvPr id="3" name="Text 1"/>
          <p:cNvSpPr/>
          <p:nvPr>
            <p:ph type="title"/>
          </p:nvPr>
        </p:nvSpPr>
        <p:spPr>
          <a:xfrm>
            <a:off x="812800" y="1229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Три модели и схема эксперимента</a:t>
            </a:r>
            <a:endParaRPr lang="en-US" sz="3200" dirty="0"/>
          </a:p>
        </p:txBody>
      </p:sp>
      <p:sp>
        <p:nvSpPr>
          <p:cNvPr id="4" name="Shape 2"/>
          <p:cNvSpPr/>
          <p:nvPr/>
        </p:nvSpPr>
        <p:spPr>
          <a:xfrm>
            <a:off x="812800" y="1899921"/>
            <a:ext cx="3386614" cy="1203960"/>
          </a:xfrm>
          <a:prstGeom prst="roundRect">
            <a:avLst>
              <a:gd name="adj" fmla="val 8439"/>
            </a:avLst>
          </a:prstGeom>
          <a:solidFill>
            <a:srgbClr val="F1F1EC"/>
          </a:solidFill>
          <a:ln/>
        </p:spPr>
      </p:sp>
      <p:sp>
        <p:nvSpPr>
          <p:cNvPr id="5" name="Text 3"/>
          <p:cNvSpPr/>
          <p:nvPr/>
        </p:nvSpPr>
        <p:spPr>
          <a:xfrm>
            <a:off x="1066800" y="2153921"/>
            <a:ext cx="296497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IBM Plex Sans" pitchFamily="34" charset="0"/>
                <a:ea typeface="IBM Plex Sans" pitchFamily="34" charset="-122"/>
                <a:cs typeface="IBM Plex Sans" pitchFamily="34" charset="-120"/>
              </a:rPr>
              <a:t>LogisticRegression</a:t>
            </a:r>
            <a:endParaRPr lang="en-US" sz="1800" dirty="0"/>
          </a:p>
        </p:txBody>
      </p:sp>
      <p:sp>
        <p:nvSpPr>
          <p:cNvPr id="6" name="Text 4"/>
          <p:cNvSpPr/>
          <p:nvPr/>
        </p:nvSpPr>
        <p:spPr>
          <a:xfrm>
            <a:off x="1066800" y="2529839"/>
            <a:ext cx="296497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F6670"/>
                </a:solidFill>
                <a:latin typeface="IBM Plex Sans" pitchFamily="34" charset="0"/>
                <a:ea typeface="IBM Plex Sans" pitchFamily="34" charset="-122"/>
                <a:cs typeface="IBM Plex Sans" pitchFamily="34" charset="-120"/>
              </a:rPr>
              <a:t>Линейная модель</a:t>
            </a:r>
            <a:endParaRPr lang="en-US" sz="1800" dirty="0"/>
          </a:p>
        </p:txBody>
      </p:sp>
      <p:sp>
        <p:nvSpPr>
          <p:cNvPr id="7" name="Shape 5"/>
          <p:cNvSpPr/>
          <p:nvPr/>
        </p:nvSpPr>
        <p:spPr>
          <a:xfrm>
            <a:off x="4402614" y="1899921"/>
            <a:ext cx="3386693" cy="1203960"/>
          </a:xfrm>
          <a:prstGeom prst="roundRect">
            <a:avLst>
              <a:gd name="adj" fmla="val 8439"/>
            </a:avLst>
          </a:prstGeom>
          <a:solidFill>
            <a:srgbClr val="F1F1EC"/>
          </a:solidFill>
          <a:ln/>
        </p:spPr>
      </p:sp>
      <p:sp>
        <p:nvSpPr>
          <p:cNvPr id="8" name="Text 6"/>
          <p:cNvSpPr/>
          <p:nvPr/>
        </p:nvSpPr>
        <p:spPr>
          <a:xfrm>
            <a:off x="4656614" y="2153921"/>
            <a:ext cx="296505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IBM Plex Sans" pitchFamily="34" charset="0"/>
                <a:ea typeface="IBM Plex Sans" pitchFamily="34" charset="-122"/>
                <a:cs typeface="IBM Plex Sans" pitchFamily="34" charset="-120"/>
              </a:rPr>
              <a:t>RandomForest</a:t>
            </a:r>
            <a:endParaRPr lang="en-US" sz="1800" dirty="0"/>
          </a:p>
        </p:txBody>
      </p:sp>
      <p:sp>
        <p:nvSpPr>
          <p:cNvPr id="9" name="Text 7"/>
          <p:cNvSpPr/>
          <p:nvPr/>
        </p:nvSpPr>
        <p:spPr>
          <a:xfrm>
            <a:off x="4656614" y="2529839"/>
            <a:ext cx="2965054"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F6670"/>
                </a:solidFill>
                <a:latin typeface="IBM Plex Sans" pitchFamily="34" charset="0"/>
                <a:ea typeface="IBM Plex Sans" pitchFamily="34" charset="-122"/>
                <a:cs typeface="IBM Plex Sans" pitchFamily="34" charset="-120"/>
              </a:rPr>
              <a:t>Бэггинг деревьев</a:t>
            </a:r>
            <a:endParaRPr lang="en-US" sz="1800" dirty="0"/>
          </a:p>
        </p:txBody>
      </p:sp>
      <p:sp>
        <p:nvSpPr>
          <p:cNvPr id="10" name="Shape 8"/>
          <p:cNvSpPr/>
          <p:nvPr/>
        </p:nvSpPr>
        <p:spPr>
          <a:xfrm>
            <a:off x="7992507" y="1899921"/>
            <a:ext cx="3386693" cy="1203960"/>
          </a:xfrm>
          <a:prstGeom prst="roundRect">
            <a:avLst>
              <a:gd name="adj" fmla="val 8439"/>
            </a:avLst>
          </a:prstGeom>
          <a:solidFill>
            <a:srgbClr val="F1F1EC"/>
          </a:solidFill>
          <a:ln/>
        </p:spPr>
      </p:sp>
      <p:sp>
        <p:nvSpPr>
          <p:cNvPr id="11" name="Text 9"/>
          <p:cNvSpPr/>
          <p:nvPr/>
        </p:nvSpPr>
        <p:spPr>
          <a:xfrm>
            <a:off x="8246507" y="2153921"/>
            <a:ext cx="296505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IBM Plex Sans" pitchFamily="34" charset="0"/>
                <a:ea typeface="IBM Plex Sans" pitchFamily="34" charset="-122"/>
                <a:cs typeface="IBM Plex Sans" pitchFamily="34" charset="-120"/>
              </a:rPr>
              <a:t>HistGradientBoosting</a:t>
            </a:r>
            <a:endParaRPr lang="en-US" sz="1800" dirty="0"/>
          </a:p>
        </p:txBody>
      </p:sp>
      <p:sp>
        <p:nvSpPr>
          <p:cNvPr id="12" name="Text 10"/>
          <p:cNvSpPr/>
          <p:nvPr/>
        </p:nvSpPr>
        <p:spPr>
          <a:xfrm>
            <a:off x="8246507" y="2529839"/>
            <a:ext cx="2965054"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F6670"/>
                </a:solidFill>
                <a:latin typeface="IBM Plex Sans" pitchFamily="34" charset="0"/>
                <a:ea typeface="IBM Plex Sans" pitchFamily="34" charset="-122"/>
                <a:cs typeface="IBM Plex Sans" pitchFamily="34" charset="-120"/>
              </a:rPr>
              <a:t>Градиентный бустинг</a:t>
            </a:r>
            <a:endParaRPr lang="en-US" sz="1800" dirty="0"/>
          </a:p>
        </p:txBody>
      </p:sp>
      <p:sp>
        <p:nvSpPr>
          <p:cNvPr id="13" name="Text 11"/>
          <p:cNvSpPr/>
          <p:nvPr/>
        </p:nvSpPr>
        <p:spPr>
          <a:xfrm>
            <a:off x="835660" y="3307082"/>
            <a:ext cx="10852912" cy="1549400"/>
          </a:xfrm>
          <a:prstGeom prst="rect">
            <a:avLst/>
          </a:prstGeom>
          <a:noFill/>
          <a:ln/>
        </p:spPr>
        <p:txBody>
          <a:bodyPr wrap="square" lIns="0" tIns="0" rIns="0" bIns="0" rtlCol="0" anchor="t">
            <a:normAutofit/>
          </a:bodyPr>
          <a:lstStyle/>
          <a:p>
            <a:pPr algn="l" marL="231140" indent="-231140">
              <a:lnSpc>
                <a:spcPts val="3000"/>
              </a:lnSpc>
              <a:buSzPct val="100000"/>
              <a:buChar char="•"/>
            </a:pPr>
            <a:r>
              <a:rPr lang="en-US" sz="2000" dirty="0">
                <a:solidFill>
                  <a:srgbClr val="1A1A1A"/>
                </a:solidFill>
                <a:latin typeface="IBM Plex Sans" pitchFamily="34" charset="0"/>
                <a:ea typeface="IBM Plex Sans" pitchFamily="34" charset="-122"/>
                <a:cs typeface="IBM Plex Sans" pitchFamily="34" charset="-120"/>
              </a:rPr>
              <a:t>Метрика: accuracy, 10-fold кросс-валидация</a:t>
            </a:r>
            <a:endParaRPr lang="en-US" sz="2000" dirty="0"/>
          </a:p>
          <a:p>
            <a:pPr algn="l" marL="231140" indent="-231140">
              <a:lnSpc>
                <a:spcPts val="3000"/>
              </a:lnSpc>
              <a:buSzPct val="100000"/>
              <a:buChar char="•"/>
            </a:pPr>
            <a:r>
              <a:rPr lang="en-US" sz="2000" dirty="0">
                <a:solidFill>
                  <a:srgbClr val="1A1A1A"/>
                </a:solidFill>
                <a:latin typeface="IBM Plex Sans" pitchFamily="34" charset="0"/>
                <a:ea typeface="IBM Plex Sans" pitchFamily="34" charset="-122"/>
                <a:cs typeface="IBM Plex Sans" pitchFamily="34" charset="-120"/>
              </a:rPr>
              <a:t>Гиперпараметры по умолчанию, без тюнинга</a:t>
            </a:r>
            <a:endParaRPr lang="en-US" sz="2000" dirty="0"/>
          </a:p>
          <a:p>
            <a:pPr algn="l" marL="231140" indent="-231140">
              <a:lnSpc>
                <a:spcPts val="3000"/>
              </a:lnSpc>
              <a:buSzPct val="100000"/>
              <a:buChar char="•"/>
            </a:pPr>
            <a:r>
              <a:rPr lang="en-US" sz="2000" dirty="0">
                <a:solidFill>
                  <a:srgbClr val="1A1A1A"/>
                </a:solidFill>
                <a:latin typeface="IBM Plex Sans" pitchFamily="34" charset="0"/>
                <a:ea typeface="IBM Plex Sans" pitchFamily="34" charset="-122"/>
                <a:cs typeface="IBM Plex Sans" pitchFamily="34" charset="-120"/>
              </a:rPr>
              <a:t>random_state = 42 для воспроизводимости</a:t>
            </a:r>
            <a:endParaRPr lang="en-US" sz="2000" dirty="0"/>
          </a:p>
          <a:p>
            <a:pPr algn="l" marL="231140" indent="-231140">
              <a:lnSpc>
                <a:spcPts val="3000"/>
              </a:lnSpc>
              <a:buSzPct val="100000"/>
              <a:buChar char="•"/>
            </a:pPr>
            <a:r>
              <a:rPr lang="en-US" sz="2000" dirty="0">
                <a:solidFill>
                  <a:srgbClr val="1A1A1A"/>
                </a:solidFill>
                <a:latin typeface="IBM Plex Sans" pitchFamily="34" charset="0"/>
                <a:ea typeface="IBM Plex Sans" pitchFamily="34" charset="-122"/>
                <a:cs typeface="IBM Plex Sans" pitchFamily="34" charset="-120"/>
              </a:rPr>
              <a:t>Масштабирование и кодирование внутри фолдов</a:t>
            </a:r>
            <a:endParaRPr lang="en-US" sz="2000" dirty="0"/>
          </a:p>
        </p:txBody>
      </p:sp>
      <p:sp>
        <p:nvSpPr>
          <p:cNvPr id="14" name="Text 12"/>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15" name="Text 13"/>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02 · ДАННЫЕ И МЕТОД</a:t>
            </a:r>
            <a:endParaRPr lang="en-US" sz="1200" dirty="0"/>
          </a:p>
        </p:txBody>
      </p:sp>
      <p:sp>
        <p:nvSpPr>
          <p:cNvPr id="3" name="Text 1"/>
          <p:cNvSpPr/>
          <p:nvPr>
            <p:ph type="title"/>
          </p:nvPr>
        </p:nvSpPr>
        <p:spPr>
          <a:xfrm>
            <a:off x="812800" y="1229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Код: модели и кросс-валидация</a:t>
            </a:r>
            <a:endParaRPr lang="en-US" sz="3200" dirty="0"/>
          </a:p>
        </p:txBody>
      </p:sp>
      <p:sp>
        <p:nvSpPr>
          <p:cNvPr id="4" name="Shape 2"/>
          <p:cNvSpPr/>
          <p:nvPr/>
        </p:nvSpPr>
        <p:spPr>
          <a:xfrm>
            <a:off x="815975" y="1903096"/>
            <a:ext cx="6343650" cy="3773170"/>
          </a:xfrm>
          <a:prstGeom prst="roundRect">
            <a:avLst>
              <a:gd name="adj" fmla="val 1935"/>
            </a:avLst>
          </a:prstGeom>
          <a:solidFill>
            <a:srgbClr val="F1F1EC"/>
          </a:solidFill>
          <a:ln w="6350">
            <a:solidFill>
              <a:srgbClr val="DEDED6"/>
            </a:solidFill>
            <a:prstDash val="solid"/>
          </a:ln>
        </p:spPr>
      </p:sp>
      <p:sp>
        <p:nvSpPr>
          <p:cNvPr id="5" name="Text 3"/>
          <p:cNvSpPr/>
          <p:nvPr/>
        </p:nvSpPr>
        <p:spPr>
          <a:xfrm>
            <a:off x="1021080" y="20828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IBM Plex Mono" pitchFamily="49" charset="0"/>
                <a:ea typeface="IBM Plex Mono" pitchFamily="49" charset="-122"/>
                <a:cs typeface="IBM Plex Mono" pitchFamily="49" charset="-120"/>
              </a:rPr>
              <a:t>def</a:t>
            </a:r>
            <a:r>
              <a:rPr lang="en-US" sz="1200" dirty="0">
                <a:solidFill>
                  <a:srgbClr val="1A1A1A"/>
                </a:solidFill>
                <a:latin typeface="IBM Plex Mono" pitchFamily="49" charset="0"/>
                <a:ea typeface="IBM Plex Mono" pitchFamily="49" charset="-122"/>
                <a:cs typeface="IBM Plex Mono" pitchFamily="49" charset="-120"/>
              </a:rPr>
              <a:t> make_models(X):</a:t>
            </a:r>
            <a:endParaRPr lang="en-US" sz="1200" dirty="0"/>
          </a:p>
        </p:txBody>
      </p:sp>
      <p:sp>
        <p:nvSpPr>
          <p:cNvPr id="6" name="Text 4"/>
          <p:cNvSpPr/>
          <p:nvPr/>
        </p:nvSpPr>
        <p:spPr>
          <a:xfrm>
            <a:off x="1389380" y="2296161"/>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IBM Plex Mono" pitchFamily="49" charset="0"/>
                <a:ea typeface="IBM Plex Mono" pitchFamily="49" charset="-122"/>
                <a:cs typeface="IBM Plex Mono" pitchFamily="49" charset="-120"/>
              </a:rPr>
              <a:t>return</a:t>
            </a:r>
            <a:r>
              <a:rPr lang="en-US" sz="1200" dirty="0">
                <a:solidFill>
                  <a:srgbClr val="1A1A1A"/>
                </a:solidFill>
                <a:latin typeface="IBM Plex Mono" pitchFamily="49" charset="0"/>
                <a:ea typeface="IBM Plex Mono" pitchFamily="49" charset="-122"/>
                <a:cs typeface="IBM Plex Mono" pitchFamily="49" charset="-120"/>
              </a:rPr>
              <a:t> {</a:t>
            </a:r>
            <a:endParaRPr lang="en-US" sz="1200" dirty="0"/>
          </a:p>
        </p:txBody>
      </p:sp>
      <p:sp>
        <p:nvSpPr>
          <p:cNvPr id="7" name="Text 5"/>
          <p:cNvSpPr/>
          <p:nvPr/>
        </p:nvSpPr>
        <p:spPr>
          <a:xfrm>
            <a:off x="1751330" y="2509521"/>
            <a:ext cx="5359286"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IBM Plex Mono" pitchFamily="49" charset="0"/>
                <a:ea typeface="IBM Plex Mono" pitchFamily="49" charset="-122"/>
                <a:cs typeface="IBM Plex Mono" pitchFamily="49" charset="-120"/>
              </a:rPr>
              <a:t>"logreg"</a:t>
            </a:r>
            <a:r>
              <a:rPr lang="en-US" sz="1200" dirty="0">
                <a:solidFill>
                  <a:srgbClr val="1A1A1A"/>
                </a:solidFill>
                <a:latin typeface="IBM Plex Mono" pitchFamily="49" charset="0"/>
                <a:ea typeface="IBM Plex Mono" pitchFamily="49" charset="-122"/>
                <a:cs typeface="IBM Plex Mono" pitchFamily="49" charset="-120"/>
              </a:rPr>
              <a:t>: make_pipeline(</a:t>
            </a:r>
            <a:endParaRPr lang="en-US" sz="1200" dirty="0"/>
          </a:p>
        </p:txBody>
      </p:sp>
      <p:sp>
        <p:nvSpPr>
          <p:cNvPr id="8" name="Text 6"/>
          <p:cNvSpPr/>
          <p:nvPr/>
        </p:nvSpPr>
        <p:spPr>
          <a:xfrm>
            <a:off x="2119630" y="2722882"/>
            <a:ext cx="4979937"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make_preprocessor(X),</a:t>
            </a:r>
            <a:endParaRPr lang="en-US" sz="1200" dirty="0"/>
          </a:p>
        </p:txBody>
      </p:sp>
      <p:sp>
        <p:nvSpPr>
          <p:cNvPr id="9" name="Text 7"/>
          <p:cNvSpPr/>
          <p:nvPr/>
        </p:nvSpPr>
        <p:spPr>
          <a:xfrm>
            <a:off x="2119630" y="2936239"/>
            <a:ext cx="4979937"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LogisticRegression(max_iter=1000, random_state=42)),</a:t>
            </a:r>
            <a:endParaRPr lang="en-US" sz="1200" dirty="0"/>
          </a:p>
        </p:txBody>
      </p:sp>
      <p:sp>
        <p:nvSpPr>
          <p:cNvPr id="10" name="Text 8"/>
          <p:cNvSpPr/>
          <p:nvPr/>
        </p:nvSpPr>
        <p:spPr>
          <a:xfrm>
            <a:off x="1751330" y="3149600"/>
            <a:ext cx="5359286"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IBM Plex Mono" pitchFamily="49" charset="0"/>
                <a:ea typeface="IBM Plex Mono" pitchFamily="49" charset="-122"/>
                <a:cs typeface="IBM Plex Mono" pitchFamily="49" charset="-120"/>
              </a:rPr>
              <a:t>"rf"</a:t>
            </a:r>
            <a:r>
              <a:rPr lang="en-US" sz="1200" dirty="0">
                <a:solidFill>
                  <a:srgbClr val="1A1A1A"/>
                </a:solidFill>
                <a:latin typeface="IBM Plex Mono" pitchFamily="49" charset="0"/>
                <a:ea typeface="IBM Plex Mono" pitchFamily="49" charset="-122"/>
                <a:cs typeface="IBM Plex Mono" pitchFamily="49" charset="-120"/>
              </a:rPr>
              <a:t>: make_pipeline(</a:t>
            </a:r>
            <a:endParaRPr lang="en-US" sz="1200" dirty="0"/>
          </a:p>
        </p:txBody>
      </p:sp>
      <p:sp>
        <p:nvSpPr>
          <p:cNvPr id="11" name="Text 9"/>
          <p:cNvSpPr/>
          <p:nvPr/>
        </p:nvSpPr>
        <p:spPr>
          <a:xfrm>
            <a:off x="2119630" y="3362961"/>
            <a:ext cx="4979937"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make_preprocessor(X),</a:t>
            </a:r>
            <a:endParaRPr lang="en-US" sz="1200" dirty="0"/>
          </a:p>
        </p:txBody>
      </p:sp>
      <p:sp>
        <p:nvSpPr>
          <p:cNvPr id="12" name="Text 10"/>
          <p:cNvSpPr/>
          <p:nvPr/>
        </p:nvSpPr>
        <p:spPr>
          <a:xfrm>
            <a:off x="2119630" y="3576321"/>
            <a:ext cx="4979937"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RandomForestClassifier(random_state=42)),</a:t>
            </a:r>
            <a:endParaRPr lang="en-US" sz="1200" dirty="0"/>
          </a:p>
        </p:txBody>
      </p:sp>
      <p:sp>
        <p:nvSpPr>
          <p:cNvPr id="13" name="Text 11"/>
          <p:cNvSpPr/>
          <p:nvPr/>
        </p:nvSpPr>
        <p:spPr>
          <a:xfrm>
            <a:off x="1751330" y="3789682"/>
            <a:ext cx="5359286"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IBM Plex Mono" pitchFamily="49" charset="0"/>
                <a:ea typeface="IBM Plex Mono" pitchFamily="49" charset="-122"/>
                <a:cs typeface="IBM Plex Mono" pitchFamily="49" charset="-120"/>
              </a:rPr>
              <a:t>"hgb"</a:t>
            </a:r>
            <a:r>
              <a:rPr lang="en-US" sz="1200" dirty="0">
                <a:solidFill>
                  <a:srgbClr val="1A1A1A"/>
                </a:solidFill>
                <a:latin typeface="IBM Plex Mono" pitchFamily="49" charset="0"/>
                <a:ea typeface="IBM Plex Mono" pitchFamily="49" charset="-122"/>
                <a:cs typeface="IBM Plex Mono" pitchFamily="49" charset="-120"/>
              </a:rPr>
              <a:t>: make_pipeline(</a:t>
            </a:r>
            <a:endParaRPr lang="en-US" sz="1200" dirty="0"/>
          </a:p>
        </p:txBody>
      </p:sp>
      <p:sp>
        <p:nvSpPr>
          <p:cNvPr id="14" name="Text 12"/>
          <p:cNvSpPr/>
          <p:nvPr/>
        </p:nvSpPr>
        <p:spPr>
          <a:xfrm>
            <a:off x="2119630" y="4003039"/>
            <a:ext cx="4979937"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make_preprocessor(X),</a:t>
            </a:r>
            <a:endParaRPr lang="en-US" sz="1200" dirty="0"/>
          </a:p>
        </p:txBody>
      </p:sp>
      <p:sp>
        <p:nvSpPr>
          <p:cNvPr id="15" name="Text 13"/>
          <p:cNvSpPr/>
          <p:nvPr/>
        </p:nvSpPr>
        <p:spPr>
          <a:xfrm>
            <a:off x="2119630" y="4216400"/>
            <a:ext cx="4979937"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HistGradientBoostingClassifier(random_state=42)),</a:t>
            </a:r>
            <a:endParaRPr lang="en-US" sz="1200" dirty="0"/>
          </a:p>
        </p:txBody>
      </p:sp>
      <p:sp>
        <p:nvSpPr>
          <p:cNvPr id="16" name="Text 14"/>
          <p:cNvSpPr/>
          <p:nvPr/>
        </p:nvSpPr>
        <p:spPr>
          <a:xfrm>
            <a:off x="1389380" y="4429764"/>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a:t>
            </a:r>
            <a:endParaRPr lang="en-US" sz="1200" dirty="0"/>
          </a:p>
        </p:txBody>
      </p:sp>
      <p:sp>
        <p:nvSpPr>
          <p:cNvPr id="17" name="Text 15"/>
          <p:cNvSpPr/>
          <p:nvPr/>
        </p:nvSpPr>
        <p:spPr>
          <a:xfrm>
            <a:off x="1021080" y="4643121"/>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IBM Plex Mono" pitchFamily="49" charset="0"/>
                <a:ea typeface="IBM Plex Mono" pitchFamily="49" charset="-122"/>
                <a:cs typeface="IBM Plex Mono" pitchFamily="49" charset="-120"/>
              </a:rPr>
              <a:t>def</a:t>
            </a:r>
            <a:r>
              <a:rPr lang="en-US" sz="1200" dirty="0">
                <a:solidFill>
                  <a:srgbClr val="1A1A1A"/>
                </a:solidFill>
                <a:latin typeface="IBM Plex Mono" pitchFamily="49" charset="0"/>
                <a:ea typeface="IBM Plex Mono" pitchFamily="49" charset="-122"/>
                <a:cs typeface="IBM Plex Mono" pitchFamily="49" charset="-120"/>
              </a:rPr>
              <a:t> cv_scores(ds_name, model_name):</a:t>
            </a:r>
            <a:endParaRPr lang="en-US" sz="1200" dirty="0"/>
          </a:p>
        </p:txBody>
      </p:sp>
      <p:sp>
        <p:nvSpPr>
          <p:cNvPr id="18" name="Text 16"/>
          <p:cNvSpPr/>
          <p:nvPr/>
        </p:nvSpPr>
        <p:spPr>
          <a:xfrm>
            <a:off x="1389380" y="4856479"/>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X, y = datasets[ds_name]</a:t>
            </a:r>
            <a:endParaRPr lang="en-US" sz="1200" dirty="0"/>
          </a:p>
        </p:txBody>
      </p:sp>
      <p:sp>
        <p:nvSpPr>
          <p:cNvPr id="19" name="Text 17"/>
          <p:cNvSpPr/>
          <p:nvPr/>
        </p:nvSpPr>
        <p:spPr>
          <a:xfrm>
            <a:off x="1389380" y="5069842"/>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model = make_models(X)[model_name]</a:t>
            </a:r>
            <a:endParaRPr lang="en-US" sz="1200" dirty="0"/>
          </a:p>
        </p:txBody>
      </p:sp>
      <p:sp>
        <p:nvSpPr>
          <p:cNvPr id="20" name="Text 18"/>
          <p:cNvSpPr/>
          <p:nvPr/>
        </p:nvSpPr>
        <p:spPr>
          <a:xfrm>
            <a:off x="1389380" y="5283200"/>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IBM Plex Mono" pitchFamily="49" charset="0"/>
                <a:ea typeface="IBM Plex Mono" pitchFamily="49" charset="-122"/>
                <a:cs typeface="IBM Plex Mono" pitchFamily="49" charset="-120"/>
              </a:rPr>
              <a:t>return</a:t>
            </a:r>
            <a:r>
              <a:rPr lang="en-US" sz="1200" dirty="0">
                <a:solidFill>
                  <a:srgbClr val="1A1A1A"/>
                </a:solidFill>
                <a:latin typeface="IBM Plex Mono" pitchFamily="49" charset="0"/>
                <a:ea typeface="IBM Plex Mono" pitchFamily="49" charset="-122"/>
                <a:cs typeface="IBM Plex Mono" pitchFamily="49" charset="-120"/>
              </a:rPr>
              <a:t> cross_val_score(model, X, y, cv=10)</a:t>
            </a:r>
            <a:endParaRPr lang="en-US" sz="1200" dirty="0"/>
          </a:p>
        </p:txBody>
      </p:sp>
      <p:sp>
        <p:nvSpPr>
          <p:cNvPr id="21" name="Text 19"/>
          <p:cNvSpPr/>
          <p:nvPr/>
        </p:nvSpPr>
        <p:spPr>
          <a:xfrm>
            <a:off x="7366000" y="1899921"/>
            <a:ext cx="4133596"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BM Plex Sans" pitchFamily="34" charset="0"/>
                <a:ea typeface="IBM Plex Sans" pitchFamily="34" charset="-122"/>
                <a:cs typeface="IBM Plex Sans" pitchFamily="34" charset="-120"/>
              </a:rPr>
              <a:t>make_preprocessor: пропуски заполняются медианой, числа стандартизуются, категории кодируются в 0/1. Всё это внутри конвейера, поэтому учится заново в каждом фолде.</a:t>
            </a:r>
            <a:endParaRPr lang="en-US" sz="1400" dirty="0"/>
          </a:p>
        </p:txBody>
      </p:sp>
      <p:sp>
        <p:nvSpPr>
          <p:cNvPr id="22" name="Text 20"/>
          <p:cNvSpPr/>
          <p:nvPr/>
        </p:nvSpPr>
        <p:spPr>
          <a:xfrm>
            <a:off x="7366000" y="3022600"/>
            <a:ext cx="41335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cv_scores для RF на digits: 10 значений accuracy</a:t>
            </a:r>
            <a:endParaRPr lang="en-US" sz="1200" dirty="0"/>
          </a:p>
        </p:txBody>
      </p:sp>
      <p:sp>
        <p:nvSpPr>
          <p:cNvPr id="23" name="Shape 21"/>
          <p:cNvSpPr/>
          <p:nvPr/>
        </p:nvSpPr>
        <p:spPr>
          <a:xfrm>
            <a:off x="7366000" y="3362961"/>
            <a:ext cx="4013200" cy="680720"/>
          </a:xfrm>
          <a:prstGeom prst="roundRect">
            <a:avLst>
              <a:gd name="adj" fmla="val 11194"/>
            </a:avLst>
          </a:prstGeom>
          <a:solidFill>
            <a:srgbClr val="15202B"/>
          </a:solidFill>
          <a:ln/>
        </p:spPr>
      </p:sp>
      <p:sp>
        <p:nvSpPr>
          <p:cNvPr id="24" name="Text 22"/>
          <p:cNvSpPr/>
          <p:nvPr/>
        </p:nvSpPr>
        <p:spPr>
          <a:xfrm>
            <a:off x="7518400" y="3489961"/>
            <a:ext cx="381965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[0.900 0.972 0.950 0.939 0.956</a:t>
            </a:r>
            <a:endParaRPr lang="en-US" sz="1200" dirty="0"/>
          </a:p>
        </p:txBody>
      </p:sp>
      <p:sp>
        <p:nvSpPr>
          <p:cNvPr id="25" name="Text 23"/>
          <p:cNvSpPr/>
          <p:nvPr/>
        </p:nvSpPr>
        <p:spPr>
          <a:xfrm>
            <a:off x="7518400" y="3703321"/>
            <a:ext cx="381965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0.978 0.972 0.972 0.933 0.927]</a:t>
            </a:r>
            <a:endParaRPr lang="en-US" sz="1200" dirty="0"/>
          </a:p>
        </p:txBody>
      </p:sp>
      <p:sp>
        <p:nvSpPr>
          <p:cNvPr id="26" name="Text 24"/>
          <p:cNvSpPr/>
          <p:nvPr/>
        </p:nvSpPr>
        <p:spPr>
          <a:xfrm>
            <a:off x="7366000" y="4170679"/>
            <a:ext cx="413359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6670"/>
                </a:solidFill>
                <a:latin typeface="IBM Plex Sans" pitchFamily="34" charset="0"/>
                <a:ea typeface="IBM Plex Sans" pitchFamily="34" charset="-122"/>
                <a:cs typeface="IBM Plex Sans" pitchFamily="34" charset="-120"/>
              </a:rPr>
              <a:t>Цикл по всем парам «датасет × модель» выполняется параллельно по ядрам процессора.</a:t>
            </a:r>
            <a:endParaRPr lang="en-US" sz="1400" dirty="0"/>
          </a:p>
        </p:txBody>
      </p:sp>
      <p:sp>
        <p:nvSpPr>
          <p:cNvPr id="27" name="Text 2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28" name="Text 26"/>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02 · ДАННЫЕ И МЕТОД</a:t>
            </a:r>
            <a:endParaRPr lang="en-US" sz="1200" dirty="0"/>
          </a:p>
        </p:txBody>
      </p:sp>
      <p:sp>
        <p:nvSpPr>
          <p:cNvPr id="3" name="Text 1"/>
          <p:cNvSpPr/>
          <p:nvPr>
            <p:ph type="title"/>
          </p:nvPr>
        </p:nvSpPr>
        <p:spPr>
          <a:xfrm>
            <a:off x="812800" y="1229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Базовая точность моделей</a:t>
            </a:r>
            <a:endParaRPr lang="en-US" sz="3200" dirty="0"/>
          </a:p>
        </p:txBody>
      </p:sp>
      <p:pic>
        <p:nvPicPr>
          <p:cNvPr id="4" name="Image 0" descr="Тепловая карта средней accuracy: 15 датасетов по строкам, модели logreg, rf, hgb по столбцам">    </p:cNvPr>
          <p:cNvPicPr>
            <a:picLocks noChangeAspect="1"/>
          </p:cNvPicPr>
          <p:nvPr/>
        </p:nvPicPr>
        <p:blipFill>
          <a:blip r:embed="rId1"/>
          <a:srcRect l="0" r="0" t="-52" b="-52"/>
          <a:stretch/>
        </p:blipFill>
        <p:spPr>
          <a:xfrm>
            <a:off x="812800" y="1899921"/>
            <a:ext cx="3810000" cy="3937000"/>
          </a:xfrm>
          <a:prstGeom prst="rect">
            <a:avLst/>
          </a:prstGeom>
        </p:spPr>
      </p:pic>
      <p:sp>
        <p:nvSpPr>
          <p:cNvPr id="5" name="Text 2"/>
          <p:cNvSpPr/>
          <p:nvPr/>
        </p:nvSpPr>
        <p:spPr>
          <a:xfrm>
            <a:off x="4978400" y="2915921"/>
            <a:ext cx="6592824"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A1A1A"/>
                </a:solidFill>
                <a:latin typeface="IBM Plex Sans" pitchFamily="34" charset="0"/>
                <a:ea typeface="IBM Plex Sans" pitchFamily="34" charset="-122"/>
                <a:cs typeface="IBM Plex Sans" pitchFamily="34" charset="-120"/>
              </a:rPr>
              <a:t>Лидер меняется от датасета к датасету: LogReg лучшая на 5, RF на 5, HGB на 4 (на wine ничья).</a:t>
            </a:r>
            <a:endParaRPr lang="en-US" sz="1800" dirty="0"/>
          </a:p>
        </p:txBody>
      </p:sp>
      <p:sp>
        <p:nvSpPr>
          <p:cNvPr id="6" name="Text 3"/>
          <p:cNvSpPr/>
          <p:nvPr/>
        </p:nvSpPr>
        <p:spPr>
          <a:xfrm>
            <a:off x="4978400" y="3708400"/>
            <a:ext cx="7213600"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A1A1A"/>
                </a:solidFill>
                <a:latin typeface="IBM Plex Sans" pitchFamily="34" charset="0"/>
                <a:ea typeface="IBM Plex Sans" pitchFamily="34" charset="-122"/>
                <a:cs typeface="IBM Plex Sans" pitchFamily="34" charset="-120"/>
              </a:rPr>
              <a:t>Разрывы разные: от долей процента до 16 п. п. (phoneme).</a:t>
            </a:r>
            <a:endParaRPr lang="en-US" sz="1800" dirty="0"/>
          </a:p>
        </p:txBody>
      </p:sp>
      <p:sp>
        <p:nvSpPr>
          <p:cNvPr id="7" name="Text 4"/>
          <p:cNvSpPr/>
          <p:nvPr/>
        </p:nvSpPr>
        <p:spPr>
          <a:xfrm>
            <a:off x="4978400" y="4180842"/>
            <a:ext cx="6592824"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F6670"/>
                </a:solidFill>
                <a:latin typeface="IBM Plex Sans" pitchFamily="34" charset="0"/>
                <a:ea typeface="IBM Plex Sans" pitchFamily="34" charset="-122"/>
                <a:cs typeface="IBM Plex Sans" pitchFamily="34" charset="-120"/>
              </a:rPr>
              <a:t>Различить случайный разрыв и настоящий как раз и помогают тесты.</a:t>
            </a:r>
            <a:endParaRPr lang="en-US" sz="1800" dirty="0"/>
          </a:p>
        </p:txBody>
      </p:sp>
      <p:sp>
        <p:nvSpPr>
          <p:cNvPr id="8" name="Text 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9" name="Text 6"/>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03 · ГЛАВНЫЙ РЕЗУЛЬТАТ</a:t>
            </a:r>
            <a:endParaRPr lang="en-US" sz="1200" dirty="0"/>
          </a:p>
        </p:txBody>
      </p:sp>
      <p:sp>
        <p:nvSpPr>
          <p:cNvPr id="3" name="Text 1"/>
          <p:cNvSpPr/>
          <p:nvPr>
            <p:ph type="title"/>
          </p:nvPr>
        </p:nvSpPr>
        <p:spPr>
          <a:xfrm>
            <a:off x="812800" y="1229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Четыре способа проверить одну гипотезу</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10081"/>
          <a:ext cx="10556240" cy="2913380"/>
        </p:xfrm>
        <a:graphic>
          <a:graphicData uri="http://schemas.openxmlformats.org/drawingml/2006/table">
            <a:tbl>
              <a:tblPr/>
              <a:tblGrid>
                <a:gridCol w="2955747"/>
                <a:gridCol w="3800246"/>
                <a:gridCol w="3800246"/>
              </a:tblGrid>
              <a:tr h="383540">
                <a:tc>
                  <a:txBody>
                    <a:bodyPr/>
                    <a:lstStyle/>
                    <a:p>
                      <a:pPr indent="0" marL="0">
                        <a:lnSpc>
                          <a:spcPts val="1960"/>
                        </a:lnSpc>
                        <a:buNone/>
                      </a:pPr>
                      <a:r>
                        <a:rPr lang="en-US" sz="1400" b="1" dirty="0">
                          <a:solidFill>
                            <a:srgbClr val="1A1A1A"/>
                          </a:solidFill>
                          <a:latin typeface="IBM Plex Sans" pitchFamily="34" charset="0"/>
                          <a:ea typeface="IBM Plex Sans" pitchFamily="34" charset="-122"/>
                          <a:cs typeface="IBM Plex Sans" pitchFamily="34" charset="-120"/>
                        </a:rPr>
                        <a:t>Тест</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960"/>
                        </a:lnSpc>
                        <a:buNone/>
                      </a:pPr>
                      <a:r>
                        <a:rPr lang="en-US" sz="1400" b="1" dirty="0">
                          <a:solidFill>
                            <a:srgbClr val="1A1A1A"/>
                          </a:solidFill>
                          <a:latin typeface="IBM Plex Sans" pitchFamily="34" charset="0"/>
                          <a:ea typeface="IBM Plex Sans" pitchFamily="34" charset="-122"/>
                          <a:cs typeface="IBM Plex Sans" pitchFamily="34" charset="-120"/>
                        </a:rPr>
                        <a:t>Как устроен</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960"/>
                        </a:lnSpc>
                        <a:buNone/>
                      </a:pPr>
                      <a:r>
                        <a:rPr lang="en-US" sz="1400" b="1" dirty="0">
                          <a:solidFill>
                            <a:srgbClr val="1A1A1A"/>
                          </a:solidFill>
                          <a:latin typeface="IBM Plex Sans" pitchFamily="34" charset="0"/>
                          <a:ea typeface="IBM Plex Sans" pitchFamily="34" charset="-122"/>
                          <a:cs typeface="IBM Plex Sans" pitchFamily="34" charset="-120"/>
                        </a:rPr>
                        <a:t>Особенность</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383540">
                <a:tc>
                  <a:txBody>
                    <a:bodyPr/>
                    <a:lstStyle/>
                    <a:p>
                      <a:pPr indent="0" marL="0">
                        <a:lnSpc>
                          <a:spcPts val="1960"/>
                        </a:lnSpc>
                        <a:buNone/>
                      </a:pPr>
                      <a:r>
                        <a:rPr lang="en-US" sz="1400" dirty="0">
                          <a:solidFill>
                            <a:srgbClr val="1A1A1A"/>
                          </a:solidFill>
                          <a:latin typeface="IBM Plex Sans" pitchFamily="34" charset="0"/>
                          <a:ea typeface="IBM Plex Sans" pitchFamily="34" charset="-122"/>
                          <a:cs typeface="IBM Plex Sans" pitchFamily="34" charset="-120"/>
                        </a:rPr>
                        <a:t>Наивный t-test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A1A1A"/>
                          </a:solidFill>
                          <a:latin typeface="IBM Plex Sans" pitchFamily="34" charset="0"/>
                          <a:ea typeface="IBM Plex Sans" pitchFamily="34" charset="-122"/>
                          <a:cs typeface="IBM Plex Sans" pitchFamily="34" charset="-120"/>
                        </a:rPr>
                        <a:t>t на 10 разностях точности по фолдам</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A1A1A"/>
                          </a:solidFill>
                          <a:latin typeface="IBM Plex Sans" pitchFamily="34" charset="0"/>
                          <a:ea typeface="IBM Plex Sans" pitchFamily="34" charset="-122"/>
                          <a:cs typeface="IBM Plex Sans" pitchFamily="34" charset="-120"/>
                        </a:rPr>
                        <a:t>Считает фолды независимыми</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632460">
                <a:tc>
                  <a:txBody>
                    <a:bodyPr/>
                    <a:lstStyle/>
                    <a:p>
                      <a:pPr indent="0" marL="0">
                        <a:lnSpc>
                          <a:spcPts val="1960"/>
                        </a:lnSpc>
                        <a:buNone/>
                      </a:pPr>
                      <a:r>
                        <a:rPr lang="en-US" sz="1400" dirty="0">
                          <a:solidFill>
                            <a:srgbClr val="1A1A1A"/>
                          </a:solidFill>
                          <a:latin typeface="IBM Plex Sans" pitchFamily="34" charset="0"/>
                          <a:ea typeface="IBM Plex Sans" pitchFamily="34" charset="-122"/>
                          <a:cs typeface="IBM Plex Sans" pitchFamily="34" charset="-120"/>
                        </a:rPr>
                        <a:t>Corrected t-test (Nadeau и Bengio)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A1A1A"/>
                          </a:solidFill>
                          <a:latin typeface="IBM Plex Sans" pitchFamily="34" charset="0"/>
                          <a:ea typeface="IBM Plex Sans" pitchFamily="34" charset="-122"/>
                          <a:cs typeface="IBM Plex Sans" pitchFamily="34" charset="-120"/>
                        </a:rPr>
                        <a:t>Дисперсия умножается на 1/k + n_test/n_train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A1A1A"/>
                          </a:solidFill>
                          <a:latin typeface="IBM Plex Sans" pitchFamily="34" charset="0"/>
                          <a:ea typeface="IBM Plex Sans" pitchFamily="34" charset="-122"/>
                          <a:cs typeface="IBM Plex Sans" pitchFamily="34" charset="-120"/>
                        </a:rPr>
                        <a:t>Учитывает пересечение обучающих выборок</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632460">
                <a:tc>
                  <a:txBody>
                    <a:bodyPr/>
                    <a:lstStyle/>
                    <a:p>
                      <a:pPr indent="0" marL="0">
                        <a:lnSpc>
                          <a:spcPts val="1960"/>
                        </a:lnSpc>
                        <a:buNone/>
                      </a:pPr>
                      <a:r>
                        <a:rPr lang="en-US" sz="1400" dirty="0">
                          <a:solidFill>
                            <a:srgbClr val="1A1A1A"/>
                          </a:solidFill>
                          <a:latin typeface="IBM Plex Sans" pitchFamily="34" charset="0"/>
                          <a:ea typeface="IBM Plex Sans" pitchFamily="34" charset="-122"/>
                          <a:cs typeface="IBM Plex Sans" pitchFamily="34" charset="-120"/>
                        </a:rPr>
                        <a:t>5×2cv (Dietterich)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A1A1A"/>
                          </a:solidFill>
                          <a:latin typeface="IBM Plex Sans" pitchFamily="34" charset="0"/>
                          <a:ea typeface="IBM Plex Sans" pitchFamily="34" charset="-122"/>
                          <a:cs typeface="IBM Plex Sans" pitchFamily="34" charset="-120"/>
                        </a:rPr>
                        <a:t>5 раз делим пополам: одна половина обучение, другая проверка</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A1A1A"/>
                          </a:solidFill>
                          <a:latin typeface="IBM Plex Sans" pitchFamily="34" charset="0"/>
                          <a:ea typeface="IBM Plex Sans" pitchFamily="34" charset="-122"/>
                          <a:cs typeface="IBM Plex Sans" pitchFamily="34" charset="-120"/>
                        </a:rPr>
                        <a:t>Обучающая и тестовая части не пересекаются</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881380">
                <a:tc>
                  <a:txBody>
                    <a:bodyPr/>
                    <a:lstStyle/>
                    <a:p>
                      <a:pPr indent="0" marL="0">
                        <a:lnSpc>
                          <a:spcPts val="1960"/>
                        </a:lnSpc>
                        <a:buNone/>
                      </a:pPr>
                      <a:r>
                        <a:rPr lang="en-US" sz="1400" dirty="0">
                          <a:solidFill>
                            <a:srgbClr val="1A1A1A"/>
                          </a:solidFill>
                          <a:latin typeface="IBM Plex Sans" pitchFamily="34" charset="0"/>
                          <a:ea typeface="IBM Plex Sans" pitchFamily="34" charset="-122"/>
                          <a:cs typeface="IBM Plex Sans" pitchFamily="34" charset="-120"/>
                        </a:rPr>
                        <a:t>McNemar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A1A1A"/>
                          </a:solidFill>
                          <a:latin typeface="IBM Plex Sans" pitchFamily="34" charset="0"/>
                          <a:ea typeface="IBM Plex Sans" pitchFamily="34" charset="-122"/>
                          <a:cs typeface="IBM Plex Sans" pitchFamily="34" charset="-120"/>
                        </a:rPr>
                        <a:t>Одно разбиение, берём только объекты, где модели расходятся (точный тест, если их меньше 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960"/>
                        </a:lnSpc>
                        <a:buNone/>
                      </a:pPr>
                      <a:r>
                        <a:rPr lang="en-US" sz="1400" dirty="0">
                          <a:solidFill>
                            <a:srgbClr val="1A1A1A"/>
                          </a:solidFill>
                          <a:latin typeface="IBM Plex Sans" pitchFamily="34" charset="0"/>
                          <a:ea typeface="IBM Plex Sans" pitchFamily="34" charset="-122"/>
                          <a:cs typeface="IBM Plex Sans" pitchFamily="34" charset="-120"/>
                        </a:rPr>
                        <a:t>Проверяет симметрию ошибок, а не среднюю точность</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5" name="Text 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6" name="Text 3"/>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03 · ГЛАВНЫЙ РЕЗУЛЬТАТ</a:t>
            </a:r>
            <a:endParaRPr lang="en-US" sz="1200" dirty="0"/>
          </a:p>
        </p:txBody>
      </p:sp>
      <p:sp>
        <p:nvSpPr>
          <p:cNvPr id="3" name="Text 1"/>
          <p:cNvSpPr/>
          <p:nvPr>
            <p:ph type="title"/>
          </p:nvPr>
        </p:nvSpPr>
        <p:spPr>
          <a:xfrm>
            <a:off x="812800" y="1229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RF против LogReg на digits: четыре p-value</a:t>
            </a:r>
            <a:endParaRPr lang="en-US" sz="3200" dirty="0"/>
          </a:p>
        </p:txBody>
      </p:sp>
      <p:sp>
        <p:nvSpPr>
          <p:cNvPr id="4" name="Shape 2"/>
          <p:cNvSpPr/>
          <p:nvPr/>
        </p:nvSpPr>
        <p:spPr>
          <a:xfrm>
            <a:off x="812800" y="1899921"/>
            <a:ext cx="2527300" cy="1374140"/>
          </a:xfrm>
          <a:prstGeom prst="roundRect">
            <a:avLst>
              <a:gd name="adj" fmla="val 7394"/>
            </a:avLst>
          </a:prstGeom>
          <a:solidFill>
            <a:srgbClr val="F1F1EC"/>
          </a:solidFill>
          <a:ln/>
        </p:spPr>
      </p:sp>
      <p:sp>
        <p:nvSpPr>
          <p:cNvPr id="5" name="Shape 3"/>
          <p:cNvSpPr/>
          <p:nvPr/>
        </p:nvSpPr>
        <p:spPr>
          <a:xfrm>
            <a:off x="812800" y="1899921"/>
            <a:ext cx="2527300" cy="1374140"/>
          </a:xfrm>
          <a:custGeom>
            <a:avLst/>
            <a:gdLst/>
            <a:ahLst/>
            <a:cxnLst/>
            <a:rect l="l" t="t" r="r" b="b"/>
            <a:pathLst>
              <a:path w="2527300" h="1374140">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2A78D6"/>
          </a:solidFill>
          <a:ln/>
        </p:spPr>
      </p:sp>
      <p:sp>
        <p:nvSpPr>
          <p:cNvPr id="6" name="Text 4"/>
          <p:cNvSpPr/>
          <p:nvPr/>
        </p:nvSpPr>
        <p:spPr>
          <a:xfrm>
            <a:off x="1016000" y="2179321"/>
            <a:ext cx="218452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A1A1A"/>
                </a:solidFill>
                <a:latin typeface="IBM Plex Sans" pitchFamily="34" charset="0"/>
                <a:ea typeface="IBM Plex Sans" pitchFamily="34" charset="-122"/>
                <a:cs typeface="IBM Plex Sans" pitchFamily="34" charset="-120"/>
              </a:rPr>
              <a:t>0.026</a:t>
            </a:r>
            <a:endParaRPr lang="en-US" sz="4400" dirty="0"/>
          </a:p>
        </p:txBody>
      </p:sp>
      <p:sp>
        <p:nvSpPr>
          <p:cNvPr id="7" name="Text 5"/>
          <p:cNvSpPr/>
          <p:nvPr/>
        </p:nvSpPr>
        <p:spPr>
          <a:xfrm>
            <a:off x="1016000" y="2814321"/>
            <a:ext cx="218452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F6670"/>
                </a:solidFill>
                <a:latin typeface="IBM Plex Sans" pitchFamily="34" charset="0"/>
                <a:ea typeface="IBM Plex Sans" pitchFamily="34" charset="-122"/>
                <a:cs typeface="IBM Plex Sans" pitchFamily="34" charset="-120"/>
              </a:rPr>
              <a:t>наивный t-test</a:t>
            </a:r>
            <a:endParaRPr lang="en-US" sz="1400" dirty="0"/>
          </a:p>
        </p:txBody>
      </p:sp>
      <p:sp>
        <p:nvSpPr>
          <p:cNvPr id="8" name="Shape 6"/>
          <p:cNvSpPr/>
          <p:nvPr/>
        </p:nvSpPr>
        <p:spPr>
          <a:xfrm>
            <a:off x="3492500" y="1899921"/>
            <a:ext cx="2527300" cy="1374140"/>
          </a:xfrm>
          <a:prstGeom prst="roundRect">
            <a:avLst>
              <a:gd name="adj" fmla="val 7394"/>
            </a:avLst>
          </a:prstGeom>
          <a:solidFill>
            <a:srgbClr val="F1F1EC"/>
          </a:solidFill>
          <a:ln/>
        </p:spPr>
      </p:sp>
      <p:sp>
        <p:nvSpPr>
          <p:cNvPr id="9" name="Shape 7"/>
          <p:cNvSpPr/>
          <p:nvPr/>
        </p:nvSpPr>
        <p:spPr>
          <a:xfrm>
            <a:off x="3492500" y="1899921"/>
            <a:ext cx="2527300" cy="1374140"/>
          </a:xfrm>
          <a:custGeom>
            <a:avLst/>
            <a:gdLst/>
            <a:ahLst/>
            <a:cxnLst/>
            <a:rect l="l" t="t" r="r" b="b"/>
            <a:pathLst>
              <a:path w="2527300" h="1374140">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EB6834"/>
          </a:solidFill>
          <a:ln/>
        </p:spPr>
      </p:sp>
      <p:sp>
        <p:nvSpPr>
          <p:cNvPr id="10" name="Text 8"/>
          <p:cNvSpPr/>
          <p:nvPr/>
        </p:nvSpPr>
        <p:spPr>
          <a:xfrm>
            <a:off x="3695700" y="2179321"/>
            <a:ext cx="218452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A1A1A"/>
                </a:solidFill>
                <a:latin typeface="IBM Plex Sans" pitchFamily="34" charset="0"/>
                <a:ea typeface="IBM Plex Sans" pitchFamily="34" charset="-122"/>
                <a:cs typeface="IBM Plex Sans" pitchFamily="34" charset="-120"/>
              </a:rPr>
              <a:t>0.100</a:t>
            </a:r>
            <a:endParaRPr lang="en-US" sz="4400" dirty="0"/>
          </a:p>
        </p:txBody>
      </p:sp>
      <p:sp>
        <p:nvSpPr>
          <p:cNvPr id="11" name="Text 9"/>
          <p:cNvSpPr/>
          <p:nvPr/>
        </p:nvSpPr>
        <p:spPr>
          <a:xfrm>
            <a:off x="3695700" y="2814321"/>
            <a:ext cx="218452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F6670"/>
                </a:solidFill>
                <a:latin typeface="IBM Plex Sans" pitchFamily="34" charset="0"/>
                <a:ea typeface="IBM Plex Sans" pitchFamily="34" charset="-122"/>
                <a:cs typeface="IBM Plex Sans" pitchFamily="34" charset="-120"/>
              </a:rPr>
              <a:t>corrected t-test</a:t>
            </a:r>
            <a:endParaRPr lang="en-US" sz="1400" dirty="0"/>
          </a:p>
        </p:txBody>
      </p:sp>
      <p:sp>
        <p:nvSpPr>
          <p:cNvPr id="12" name="Shape 10"/>
          <p:cNvSpPr/>
          <p:nvPr/>
        </p:nvSpPr>
        <p:spPr>
          <a:xfrm>
            <a:off x="6172200" y="1899921"/>
            <a:ext cx="2527300" cy="1374140"/>
          </a:xfrm>
          <a:prstGeom prst="roundRect">
            <a:avLst>
              <a:gd name="adj" fmla="val 7394"/>
            </a:avLst>
          </a:prstGeom>
          <a:solidFill>
            <a:srgbClr val="F1F1EC"/>
          </a:solidFill>
          <a:ln/>
        </p:spPr>
      </p:sp>
      <p:sp>
        <p:nvSpPr>
          <p:cNvPr id="13" name="Shape 11"/>
          <p:cNvSpPr/>
          <p:nvPr/>
        </p:nvSpPr>
        <p:spPr>
          <a:xfrm>
            <a:off x="6172200" y="1899921"/>
            <a:ext cx="2527300" cy="1374140"/>
          </a:xfrm>
          <a:custGeom>
            <a:avLst/>
            <a:gdLst/>
            <a:ahLst/>
            <a:cxnLst/>
            <a:rect l="l" t="t" r="r" b="b"/>
            <a:pathLst>
              <a:path w="2527300" h="1374140">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1BAF7A"/>
          </a:solidFill>
          <a:ln/>
        </p:spPr>
      </p:sp>
      <p:sp>
        <p:nvSpPr>
          <p:cNvPr id="14" name="Text 12"/>
          <p:cNvSpPr/>
          <p:nvPr/>
        </p:nvSpPr>
        <p:spPr>
          <a:xfrm>
            <a:off x="6375400" y="2179321"/>
            <a:ext cx="218452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A1A1A"/>
                </a:solidFill>
                <a:latin typeface="IBM Plex Sans" pitchFamily="34" charset="0"/>
                <a:ea typeface="IBM Plex Sans" pitchFamily="34" charset="-122"/>
                <a:cs typeface="IBM Plex Sans" pitchFamily="34" charset="-120"/>
              </a:rPr>
              <a:t>0.140</a:t>
            </a:r>
            <a:endParaRPr lang="en-US" sz="4400" dirty="0"/>
          </a:p>
        </p:txBody>
      </p:sp>
      <p:sp>
        <p:nvSpPr>
          <p:cNvPr id="15" name="Text 13"/>
          <p:cNvSpPr/>
          <p:nvPr/>
        </p:nvSpPr>
        <p:spPr>
          <a:xfrm>
            <a:off x="6375400" y="2814321"/>
            <a:ext cx="218452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F6670"/>
                </a:solidFill>
                <a:latin typeface="IBM Plex Sans" pitchFamily="34" charset="0"/>
                <a:ea typeface="IBM Plex Sans" pitchFamily="34" charset="-122"/>
                <a:cs typeface="IBM Plex Sans" pitchFamily="34" charset="-120"/>
              </a:rPr>
              <a:t>5×2cv t-test</a:t>
            </a:r>
            <a:endParaRPr lang="en-US" sz="1400" dirty="0"/>
          </a:p>
        </p:txBody>
      </p:sp>
      <p:sp>
        <p:nvSpPr>
          <p:cNvPr id="16" name="Shape 14"/>
          <p:cNvSpPr/>
          <p:nvPr/>
        </p:nvSpPr>
        <p:spPr>
          <a:xfrm>
            <a:off x="8851900" y="1899921"/>
            <a:ext cx="2527300" cy="1374140"/>
          </a:xfrm>
          <a:prstGeom prst="roundRect">
            <a:avLst>
              <a:gd name="adj" fmla="val 7394"/>
            </a:avLst>
          </a:prstGeom>
          <a:solidFill>
            <a:srgbClr val="F1F1EC"/>
          </a:solidFill>
          <a:ln/>
        </p:spPr>
      </p:sp>
      <p:sp>
        <p:nvSpPr>
          <p:cNvPr id="17" name="Shape 15"/>
          <p:cNvSpPr/>
          <p:nvPr/>
        </p:nvSpPr>
        <p:spPr>
          <a:xfrm>
            <a:off x="8851900" y="1899921"/>
            <a:ext cx="2527300" cy="1374140"/>
          </a:xfrm>
          <a:custGeom>
            <a:avLst/>
            <a:gdLst/>
            <a:ahLst/>
            <a:cxnLst/>
            <a:rect l="l" t="t" r="r" b="b"/>
            <a:pathLst>
              <a:path w="2527300" h="1374140">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EDA100"/>
          </a:solidFill>
          <a:ln/>
        </p:spPr>
      </p:sp>
      <p:sp>
        <p:nvSpPr>
          <p:cNvPr id="18" name="Text 16"/>
          <p:cNvSpPr/>
          <p:nvPr/>
        </p:nvSpPr>
        <p:spPr>
          <a:xfrm>
            <a:off x="9055100" y="2179321"/>
            <a:ext cx="218452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A1A1A"/>
                </a:solidFill>
                <a:latin typeface="IBM Plex Sans" pitchFamily="34" charset="0"/>
                <a:ea typeface="IBM Plex Sans" pitchFamily="34" charset="-122"/>
                <a:cs typeface="IBM Plex Sans" pitchFamily="34" charset="-120"/>
              </a:rPr>
              <a:t>0.118</a:t>
            </a:r>
            <a:endParaRPr lang="en-US" sz="4400" dirty="0"/>
          </a:p>
        </p:txBody>
      </p:sp>
      <p:sp>
        <p:nvSpPr>
          <p:cNvPr id="19" name="Text 17"/>
          <p:cNvSpPr/>
          <p:nvPr/>
        </p:nvSpPr>
        <p:spPr>
          <a:xfrm>
            <a:off x="9055100" y="2814321"/>
            <a:ext cx="218452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F6670"/>
                </a:solidFill>
                <a:latin typeface="IBM Plex Sans" pitchFamily="34" charset="0"/>
                <a:ea typeface="IBM Plex Sans" pitchFamily="34" charset="-122"/>
                <a:cs typeface="IBM Plex Sans" pitchFamily="34" charset="-120"/>
              </a:rPr>
              <a:t>McNemar</a:t>
            </a:r>
            <a:endParaRPr lang="en-US" sz="1400" dirty="0"/>
          </a:p>
        </p:txBody>
      </p:sp>
      <p:sp>
        <p:nvSpPr>
          <p:cNvPr id="20" name="Text 18"/>
          <p:cNvSpPr/>
          <p:nvPr/>
        </p:nvSpPr>
        <p:spPr>
          <a:xfrm>
            <a:off x="812800" y="3477264"/>
            <a:ext cx="10883392"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A1A1A"/>
                </a:solidFill>
                <a:latin typeface="IBM Plex Sans" pitchFamily="34" charset="0"/>
                <a:ea typeface="IBM Plex Sans" pitchFamily="34" charset="-122"/>
                <a:cs typeface="IBM Plex Sans" pitchFamily="34" charset="-120"/>
              </a:rPr>
              <a:t>Только наивный тест отвергает H₀ (p меньше 0.05). Три остальных значимой разницы не находят. McNemar: модели расходятся лишь на 15 объектах из 450, 4 против 11.</a:t>
            </a:r>
            <a:endParaRPr lang="en-US" sz="1800" dirty="0"/>
          </a:p>
        </p:txBody>
      </p:sp>
      <p:sp>
        <p:nvSpPr>
          <p:cNvPr id="21" name="Text 19"/>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22" name="Text 20"/>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03 · ГЛАВНЫЙ РЕЗУЛЬТАТ</a:t>
            </a:r>
            <a:endParaRPr lang="en-US" sz="1200" dirty="0"/>
          </a:p>
        </p:txBody>
      </p:sp>
      <p:sp>
        <p:nvSpPr>
          <p:cNvPr id="3" name="Text 1"/>
          <p:cNvSpPr/>
          <p:nvPr>
            <p:ph type="title"/>
          </p:nvPr>
        </p:nvSpPr>
        <p:spPr>
          <a:xfrm>
            <a:off x="812800" y="1229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Код: наивный, corrected и 5×2cv</a:t>
            </a:r>
            <a:endParaRPr lang="en-US" sz="3200" dirty="0"/>
          </a:p>
        </p:txBody>
      </p:sp>
      <p:sp>
        <p:nvSpPr>
          <p:cNvPr id="4" name="Shape 2"/>
          <p:cNvSpPr/>
          <p:nvPr/>
        </p:nvSpPr>
        <p:spPr>
          <a:xfrm>
            <a:off x="815975" y="1903096"/>
            <a:ext cx="6343650" cy="2493010"/>
          </a:xfrm>
          <a:prstGeom prst="roundRect">
            <a:avLst>
              <a:gd name="adj" fmla="val 2929"/>
            </a:avLst>
          </a:prstGeom>
          <a:solidFill>
            <a:srgbClr val="F1F1EC"/>
          </a:solidFill>
          <a:ln w="6350">
            <a:solidFill>
              <a:srgbClr val="DEDED6"/>
            </a:solidFill>
            <a:prstDash val="solid"/>
          </a:ln>
        </p:spPr>
      </p:sp>
      <p:sp>
        <p:nvSpPr>
          <p:cNvPr id="5" name="Text 3"/>
          <p:cNvSpPr/>
          <p:nvPr/>
        </p:nvSpPr>
        <p:spPr>
          <a:xfrm>
            <a:off x="1021080" y="20828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a = results[</a:t>
            </a:r>
            <a:r>
              <a:rPr lang="en-US" sz="1200" dirty="0">
                <a:solidFill>
                  <a:srgbClr val="116329"/>
                </a:solidFill>
                <a:latin typeface="IBM Plex Mono" pitchFamily="49" charset="0"/>
                <a:ea typeface="IBM Plex Mono" pitchFamily="49" charset="-122"/>
                <a:cs typeface="IBM Plex Mono" pitchFamily="49" charset="-120"/>
              </a:rPr>
              <a:t>"digits"</a:t>
            </a:r>
            <a:r>
              <a:rPr lang="en-US" sz="1200" dirty="0">
                <a:solidFill>
                  <a:srgbClr val="1A1A1A"/>
                </a:solidFill>
                <a:latin typeface="IBM Plex Mono" pitchFamily="49" charset="0"/>
                <a:ea typeface="IBM Plex Mono" pitchFamily="49" charset="-122"/>
                <a:cs typeface="IBM Plex Mono" pitchFamily="49" charset="-120"/>
              </a:rPr>
              <a:t>][</a:t>
            </a:r>
            <a:r>
              <a:rPr lang="en-US" sz="1200" dirty="0">
                <a:solidFill>
                  <a:srgbClr val="116329"/>
                </a:solidFill>
                <a:latin typeface="IBM Plex Mono" pitchFamily="49" charset="0"/>
                <a:ea typeface="IBM Plex Mono" pitchFamily="49" charset="-122"/>
                <a:cs typeface="IBM Plex Mono" pitchFamily="49" charset="-120"/>
              </a:rPr>
              <a:t>"rf"</a:t>
            </a:r>
            <a:r>
              <a:rPr lang="en-US" sz="1200" dirty="0">
                <a:solidFill>
                  <a:srgbClr val="1A1A1A"/>
                </a:solidFill>
                <a:latin typeface="IBM Plex Mono" pitchFamily="49" charset="0"/>
                <a:ea typeface="IBM Plex Mono" pitchFamily="49" charset="-122"/>
                <a:cs typeface="IBM Plex Mono" pitchFamily="49" charset="-120"/>
              </a:rPr>
              <a:t>]</a:t>
            </a:r>
            <a:endParaRPr lang="en-US" sz="1200" dirty="0"/>
          </a:p>
        </p:txBody>
      </p:sp>
      <p:sp>
        <p:nvSpPr>
          <p:cNvPr id="6" name="Text 4"/>
          <p:cNvSpPr/>
          <p:nvPr/>
        </p:nvSpPr>
        <p:spPr>
          <a:xfrm>
            <a:off x="1021080" y="2296164"/>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b = results[</a:t>
            </a:r>
            <a:r>
              <a:rPr lang="en-US" sz="1200" dirty="0">
                <a:solidFill>
                  <a:srgbClr val="116329"/>
                </a:solidFill>
                <a:latin typeface="IBM Plex Mono" pitchFamily="49" charset="0"/>
                <a:ea typeface="IBM Plex Mono" pitchFamily="49" charset="-122"/>
                <a:cs typeface="IBM Plex Mono" pitchFamily="49" charset="-120"/>
              </a:rPr>
              <a:t>"digits"</a:t>
            </a:r>
            <a:r>
              <a:rPr lang="en-US" sz="1200" dirty="0">
                <a:solidFill>
                  <a:srgbClr val="1A1A1A"/>
                </a:solidFill>
                <a:latin typeface="IBM Plex Mono" pitchFamily="49" charset="0"/>
                <a:ea typeface="IBM Plex Mono" pitchFamily="49" charset="-122"/>
                <a:cs typeface="IBM Plex Mono" pitchFamily="49" charset="-120"/>
              </a:rPr>
              <a:t>][</a:t>
            </a:r>
            <a:r>
              <a:rPr lang="en-US" sz="1200" dirty="0">
                <a:solidFill>
                  <a:srgbClr val="116329"/>
                </a:solidFill>
                <a:latin typeface="IBM Plex Mono" pitchFamily="49" charset="0"/>
                <a:ea typeface="IBM Plex Mono" pitchFamily="49" charset="-122"/>
                <a:cs typeface="IBM Plex Mono" pitchFamily="49" charset="-120"/>
              </a:rPr>
              <a:t>"logreg"</a:t>
            </a:r>
            <a:r>
              <a:rPr lang="en-US" sz="1200" dirty="0">
                <a:solidFill>
                  <a:srgbClr val="1A1A1A"/>
                </a:solidFill>
                <a:latin typeface="IBM Plex Mono" pitchFamily="49" charset="0"/>
                <a:ea typeface="IBM Plex Mono" pitchFamily="49" charset="-122"/>
                <a:cs typeface="IBM Plex Mono" pitchFamily="49" charset="-120"/>
              </a:rPr>
              <a:t>]</a:t>
            </a:r>
            <a:endParaRPr lang="en-US" sz="1200" dirty="0"/>
          </a:p>
        </p:txBody>
      </p:sp>
      <p:sp>
        <p:nvSpPr>
          <p:cNvPr id="7" name="Text 5"/>
          <p:cNvSpPr/>
          <p:nvPr/>
        </p:nvSpPr>
        <p:spPr>
          <a:xfrm>
            <a:off x="1021080" y="2722879"/>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t_naive, p_naive = stats.ttest_rel(a, b)</a:t>
            </a:r>
            <a:endParaRPr lang="en-US" sz="1200" dirty="0"/>
          </a:p>
        </p:txBody>
      </p:sp>
      <p:sp>
        <p:nvSpPr>
          <p:cNvPr id="8" name="Text 6"/>
          <p:cNvSpPr/>
          <p:nvPr/>
        </p:nvSpPr>
        <p:spPr>
          <a:xfrm>
            <a:off x="1021080" y="31496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p_left, p_right = CorrelatedTTest.probs(a, b)</a:t>
            </a:r>
            <a:endParaRPr lang="en-US" sz="1200" dirty="0"/>
          </a:p>
        </p:txBody>
      </p:sp>
      <p:sp>
        <p:nvSpPr>
          <p:cNvPr id="9" name="Text 7"/>
          <p:cNvSpPr/>
          <p:nvPr/>
        </p:nvSpPr>
        <p:spPr>
          <a:xfrm>
            <a:off x="1021080" y="3362964"/>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p_corr = 2 * min(p_left, p_right)</a:t>
            </a:r>
            <a:endParaRPr lang="en-US" sz="1200" dirty="0"/>
          </a:p>
        </p:txBody>
      </p:sp>
      <p:sp>
        <p:nvSpPr>
          <p:cNvPr id="10" name="Text 8"/>
          <p:cNvSpPr/>
          <p:nvPr/>
        </p:nvSpPr>
        <p:spPr>
          <a:xfrm>
            <a:off x="1021080" y="3789679"/>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_, p_5x2 = paired_ttest_5x2cv(</a:t>
            </a:r>
            <a:endParaRPr lang="en-US" sz="1200" dirty="0"/>
          </a:p>
        </p:txBody>
      </p:sp>
      <p:sp>
        <p:nvSpPr>
          <p:cNvPr id="11" name="Text 9"/>
          <p:cNvSpPr/>
          <p:nvPr/>
        </p:nvSpPr>
        <p:spPr>
          <a:xfrm>
            <a:off x="1389380" y="4003042"/>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rf, logreg, X, y, random_seed=42)</a:t>
            </a:r>
            <a:endParaRPr lang="en-US" sz="1200" dirty="0"/>
          </a:p>
        </p:txBody>
      </p:sp>
      <p:sp>
        <p:nvSpPr>
          <p:cNvPr id="12" name="Text 10"/>
          <p:cNvSpPr/>
          <p:nvPr/>
        </p:nvSpPr>
        <p:spPr>
          <a:xfrm>
            <a:off x="7366000" y="1899921"/>
            <a:ext cx="4133596"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BM Plex Sans" pitchFamily="34" charset="0"/>
                <a:ea typeface="IBM Plex Sans" pitchFamily="34" charset="-122"/>
                <a:cs typeface="IBM Plex Sans" pitchFamily="34" charset="-120"/>
              </a:rPr>
              <a:t>a и b: 10 значений accuracy по фолдам для RF и LogReg на digits. CorrelatedTTest из библиотеки baycomp сам применяет поправку Nadeau и Bengio.</a:t>
            </a:r>
            <a:endParaRPr lang="en-US" sz="1400" dirty="0"/>
          </a:p>
        </p:txBody>
      </p:sp>
      <p:sp>
        <p:nvSpPr>
          <p:cNvPr id="13" name="Text 11"/>
          <p:cNvSpPr/>
          <p:nvPr/>
        </p:nvSpPr>
        <p:spPr>
          <a:xfrm>
            <a:off x="7366000" y="3022600"/>
            <a:ext cx="41335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Результат:</a:t>
            </a:r>
            <a:endParaRPr lang="en-US" sz="1200" dirty="0"/>
          </a:p>
        </p:txBody>
      </p:sp>
      <p:sp>
        <p:nvSpPr>
          <p:cNvPr id="14" name="Shape 12"/>
          <p:cNvSpPr/>
          <p:nvPr/>
        </p:nvSpPr>
        <p:spPr>
          <a:xfrm>
            <a:off x="7366000" y="3362964"/>
            <a:ext cx="4013200" cy="944880"/>
          </a:xfrm>
          <a:prstGeom prst="roundRect">
            <a:avLst>
              <a:gd name="adj" fmla="val 8065"/>
            </a:avLst>
          </a:prstGeom>
          <a:solidFill>
            <a:srgbClr val="15202B"/>
          </a:solidFill>
          <a:ln/>
        </p:spPr>
      </p:sp>
      <p:sp>
        <p:nvSpPr>
          <p:cNvPr id="15" name="Text 13"/>
          <p:cNvSpPr/>
          <p:nvPr/>
        </p:nvSpPr>
        <p:spPr>
          <a:xfrm>
            <a:off x="7543800" y="3515364"/>
            <a:ext cx="3767328"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p_naive = 0.0259</a:t>
            </a:r>
            <a:endParaRPr lang="en-US" sz="1200" dirty="0"/>
          </a:p>
        </p:txBody>
      </p:sp>
      <p:sp>
        <p:nvSpPr>
          <p:cNvPr id="16" name="Text 14"/>
          <p:cNvSpPr/>
          <p:nvPr/>
        </p:nvSpPr>
        <p:spPr>
          <a:xfrm>
            <a:off x="7543800" y="3728721"/>
            <a:ext cx="3767328"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p_corr = 0.0999</a:t>
            </a:r>
            <a:endParaRPr lang="en-US" sz="1200" dirty="0"/>
          </a:p>
        </p:txBody>
      </p:sp>
      <p:sp>
        <p:nvSpPr>
          <p:cNvPr id="17" name="Text 15"/>
          <p:cNvSpPr/>
          <p:nvPr/>
        </p:nvSpPr>
        <p:spPr>
          <a:xfrm>
            <a:off x="7543800" y="3942079"/>
            <a:ext cx="3767328"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p_5x2 = 0.1400</a:t>
            </a:r>
            <a:endParaRPr lang="en-US" sz="1200" dirty="0"/>
          </a:p>
        </p:txBody>
      </p:sp>
      <p:sp>
        <p:nvSpPr>
          <p:cNvPr id="18" name="Text 16"/>
          <p:cNvSpPr/>
          <p:nvPr/>
        </p:nvSpPr>
        <p:spPr>
          <a:xfrm>
            <a:off x="7366000" y="4434842"/>
            <a:ext cx="41335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6670"/>
                </a:solidFill>
                <a:latin typeface="IBM Plex Sans" pitchFamily="34" charset="0"/>
                <a:ea typeface="IBM Plex Sans" pitchFamily="34" charset="-122"/>
                <a:cs typeface="IBM Plex Sans" pitchFamily="34" charset="-120"/>
              </a:rPr>
              <a:t>Поправка увеличила p почти в 4 раза, и вывод поменялся.</a:t>
            </a:r>
            <a:endParaRPr lang="en-US" sz="1400" dirty="0"/>
          </a:p>
        </p:txBody>
      </p:sp>
      <p:sp>
        <p:nvSpPr>
          <p:cNvPr id="19" name="Text 17"/>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20" name="Text 18"/>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03 · ГЛАВНЫЙ РЕЗУЛЬТАТ</a:t>
            </a:r>
            <a:endParaRPr lang="en-US" sz="1200" dirty="0"/>
          </a:p>
        </p:txBody>
      </p:sp>
      <p:sp>
        <p:nvSpPr>
          <p:cNvPr id="3" name="Text 1"/>
          <p:cNvSpPr/>
          <p:nvPr>
            <p:ph type="title"/>
          </p:nvPr>
        </p:nvSpPr>
        <p:spPr>
          <a:xfrm>
            <a:off x="812800" y="1229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Код: тест Макнемара</a:t>
            </a:r>
            <a:endParaRPr lang="en-US" sz="3200" dirty="0"/>
          </a:p>
        </p:txBody>
      </p:sp>
      <p:sp>
        <p:nvSpPr>
          <p:cNvPr id="4" name="Shape 2"/>
          <p:cNvSpPr/>
          <p:nvPr/>
        </p:nvSpPr>
        <p:spPr>
          <a:xfrm>
            <a:off x="815975" y="1903096"/>
            <a:ext cx="6343650" cy="2919730"/>
          </a:xfrm>
          <a:prstGeom prst="roundRect">
            <a:avLst>
              <a:gd name="adj" fmla="val 2501"/>
            </a:avLst>
          </a:prstGeom>
          <a:solidFill>
            <a:srgbClr val="F1F1EC"/>
          </a:solidFill>
          <a:ln w="6350">
            <a:solidFill>
              <a:srgbClr val="DEDED6"/>
            </a:solidFill>
            <a:prstDash val="solid"/>
          </a:ln>
        </p:spPr>
      </p:sp>
      <p:sp>
        <p:nvSpPr>
          <p:cNvPr id="5" name="Text 3"/>
          <p:cNvSpPr/>
          <p:nvPr/>
        </p:nvSpPr>
        <p:spPr>
          <a:xfrm>
            <a:off x="1021080" y="20828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X_tr, X_te, y_tr, y_te = train_test_split(</a:t>
            </a:r>
            <a:endParaRPr lang="en-US" sz="1200" dirty="0"/>
          </a:p>
        </p:txBody>
      </p:sp>
      <p:sp>
        <p:nvSpPr>
          <p:cNvPr id="6" name="Text 4"/>
          <p:cNvSpPr/>
          <p:nvPr/>
        </p:nvSpPr>
        <p:spPr>
          <a:xfrm>
            <a:off x="1389380" y="2296164"/>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X, y, test_size=0.25, random_state=42, stratify=y)</a:t>
            </a:r>
            <a:endParaRPr lang="en-US" sz="1200" dirty="0"/>
          </a:p>
        </p:txBody>
      </p:sp>
      <p:sp>
        <p:nvSpPr>
          <p:cNvPr id="7" name="Text 5"/>
          <p:cNvSpPr/>
          <p:nvPr/>
        </p:nvSpPr>
        <p:spPr>
          <a:xfrm>
            <a:off x="1021080" y="2509521"/>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fit_a = clone(model_a).fit(X_tr, y_tr)</a:t>
            </a:r>
            <a:endParaRPr lang="en-US" sz="1200" dirty="0"/>
          </a:p>
        </p:txBody>
      </p:sp>
      <p:sp>
        <p:nvSpPr>
          <p:cNvPr id="8" name="Text 6"/>
          <p:cNvSpPr/>
          <p:nvPr/>
        </p:nvSpPr>
        <p:spPr>
          <a:xfrm>
            <a:off x="1021080" y="2722879"/>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fit_b = clone(model_b).fit(X_tr, y_tr)</a:t>
            </a:r>
            <a:endParaRPr lang="en-US" sz="1200" dirty="0"/>
          </a:p>
        </p:txBody>
      </p:sp>
      <p:sp>
        <p:nvSpPr>
          <p:cNvPr id="9" name="Text 7"/>
          <p:cNvSpPr/>
          <p:nvPr/>
        </p:nvSpPr>
        <p:spPr>
          <a:xfrm>
            <a:off x="1021080" y="31496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tb = mcnemar_table(</a:t>
            </a:r>
            <a:endParaRPr lang="en-US" sz="1200" dirty="0"/>
          </a:p>
        </p:txBody>
      </p:sp>
      <p:sp>
        <p:nvSpPr>
          <p:cNvPr id="10" name="Text 8"/>
          <p:cNvSpPr/>
          <p:nvPr/>
        </p:nvSpPr>
        <p:spPr>
          <a:xfrm>
            <a:off x="1389380" y="3362964"/>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y_target=y_te,</a:t>
            </a:r>
            <a:endParaRPr lang="en-US" sz="1200" dirty="0"/>
          </a:p>
        </p:txBody>
      </p:sp>
      <p:sp>
        <p:nvSpPr>
          <p:cNvPr id="11" name="Text 9"/>
          <p:cNvSpPr/>
          <p:nvPr/>
        </p:nvSpPr>
        <p:spPr>
          <a:xfrm>
            <a:off x="1389380" y="3576321"/>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y_model1=fit_a.predict(X_te),</a:t>
            </a:r>
            <a:endParaRPr lang="en-US" sz="1200" dirty="0"/>
          </a:p>
        </p:txBody>
      </p:sp>
      <p:sp>
        <p:nvSpPr>
          <p:cNvPr id="12" name="Text 10"/>
          <p:cNvSpPr/>
          <p:nvPr/>
        </p:nvSpPr>
        <p:spPr>
          <a:xfrm>
            <a:off x="1389380" y="3789679"/>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y_model2=fit_b.predict(X_te))</a:t>
            </a:r>
            <a:endParaRPr lang="en-US" sz="1200" dirty="0"/>
          </a:p>
        </p:txBody>
      </p:sp>
      <p:sp>
        <p:nvSpPr>
          <p:cNvPr id="13" name="Text 11"/>
          <p:cNvSpPr/>
          <p:nvPr/>
        </p:nvSpPr>
        <p:spPr>
          <a:xfrm>
            <a:off x="1021080" y="4003042"/>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n_disagree = tb[0, 1] + tb[1, 0]</a:t>
            </a:r>
            <a:endParaRPr lang="en-US" sz="1200" dirty="0"/>
          </a:p>
        </p:txBody>
      </p:sp>
      <p:sp>
        <p:nvSpPr>
          <p:cNvPr id="14" name="Text 12"/>
          <p:cNvSpPr/>
          <p:nvPr/>
        </p:nvSpPr>
        <p:spPr>
          <a:xfrm>
            <a:off x="1021080" y="42164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_, p = mcnemar(ary=tb, corrected=True,</a:t>
            </a:r>
            <a:endParaRPr lang="en-US" sz="1200" dirty="0"/>
          </a:p>
        </p:txBody>
      </p:sp>
      <p:sp>
        <p:nvSpPr>
          <p:cNvPr id="15" name="Text 13"/>
          <p:cNvSpPr/>
          <p:nvPr/>
        </p:nvSpPr>
        <p:spPr>
          <a:xfrm>
            <a:off x="1389380" y="4429764"/>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exact=bool(n_disagree &lt; 25))</a:t>
            </a:r>
            <a:endParaRPr lang="en-US" sz="1200" dirty="0"/>
          </a:p>
        </p:txBody>
      </p:sp>
      <p:sp>
        <p:nvSpPr>
          <p:cNvPr id="16" name="Text 14"/>
          <p:cNvSpPr/>
          <p:nvPr/>
        </p:nvSpPr>
        <p:spPr>
          <a:xfrm>
            <a:off x="7366000" y="1899921"/>
            <a:ext cx="41335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BM Plex Sans" pitchFamily="34" charset="0"/>
                <a:ea typeface="IBM Plex Sans" pitchFamily="34" charset="-122"/>
                <a:cs typeface="IBM Plex Sans" pitchFamily="34" charset="-120"/>
              </a:rPr>
              <a:t>Диагональ таблицы: модели согласны (429 и 6). Вне диагонали: расходятся (4 и 11).</a:t>
            </a:r>
            <a:endParaRPr lang="en-US" sz="1400" dirty="0"/>
          </a:p>
        </p:txBody>
      </p:sp>
      <p:sp>
        <p:nvSpPr>
          <p:cNvPr id="17" name="Text 15"/>
          <p:cNvSpPr/>
          <p:nvPr/>
        </p:nvSpPr>
        <p:spPr>
          <a:xfrm>
            <a:off x="7366000" y="2524764"/>
            <a:ext cx="41335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Результат:</a:t>
            </a:r>
            <a:endParaRPr lang="en-US" sz="1200" dirty="0"/>
          </a:p>
        </p:txBody>
      </p:sp>
      <p:sp>
        <p:nvSpPr>
          <p:cNvPr id="18" name="Shape 16"/>
          <p:cNvSpPr/>
          <p:nvPr/>
        </p:nvSpPr>
        <p:spPr>
          <a:xfrm>
            <a:off x="7366000" y="2865121"/>
            <a:ext cx="4013200" cy="944880"/>
          </a:xfrm>
          <a:prstGeom prst="roundRect">
            <a:avLst>
              <a:gd name="adj" fmla="val 8065"/>
            </a:avLst>
          </a:prstGeom>
          <a:solidFill>
            <a:srgbClr val="15202B"/>
          </a:solidFill>
          <a:ln/>
        </p:spPr>
      </p:sp>
      <p:sp>
        <p:nvSpPr>
          <p:cNvPr id="19" name="Text 17"/>
          <p:cNvSpPr/>
          <p:nvPr/>
        </p:nvSpPr>
        <p:spPr>
          <a:xfrm>
            <a:off x="7543800" y="3017521"/>
            <a:ext cx="3767328"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[[429   4]</a:t>
            </a:r>
            <a:endParaRPr lang="en-US" sz="1200" dirty="0"/>
          </a:p>
        </p:txBody>
      </p:sp>
      <p:sp>
        <p:nvSpPr>
          <p:cNvPr id="20" name="Text 18"/>
          <p:cNvSpPr/>
          <p:nvPr/>
        </p:nvSpPr>
        <p:spPr>
          <a:xfrm>
            <a:off x="7543800" y="3230879"/>
            <a:ext cx="3767328"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 [ 11   6]]</a:t>
            </a:r>
            <a:endParaRPr lang="en-US" sz="1200" dirty="0"/>
          </a:p>
        </p:txBody>
      </p:sp>
      <p:sp>
        <p:nvSpPr>
          <p:cNvPr id="21" name="Text 19"/>
          <p:cNvSpPr/>
          <p:nvPr/>
        </p:nvSpPr>
        <p:spPr>
          <a:xfrm>
            <a:off x="7543800" y="3444242"/>
            <a:ext cx="3767328"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p = 0.118</a:t>
            </a:r>
            <a:endParaRPr lang="en-US" sz="1200" dirty="0"/>
          </a:p>
        </p:txBody>
      </p:sp>
      <p:sp>
        <p:nvSpPr>
          <p:cNvPr id="22" name="Text 20"/>
          <p:cNvSpPr/>
          <p:nvPr/>
        </p:nvSpPr>
        <p:spPr>
          <a:xfrm>
            <a:off x="7366000" y="3937000"/>
            <a:ext cx="41335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6670"/>
                </a:solidFill>
                <a:latin typeface="IBM Plex Sans" pitchFamily="34" charset="0"/>
                <a:ea typeface="IBM Plex Sans" pitchFamily="34" charset="-122"/>
                <a:cs typeface="IBM Plex Sans" pitchFamily="34" charset="-120"/>
              </a:rPr>
              <a:t>Расхождений меньше 25, поэтому использован точный тест.</a:t>
            </a:r>
            <a:endParaRPr lang="en-US" sz="1400" dirty="0"/>
          </a:p>
        </p:txBody>
      </p:sp>
      <p:sp>
        <p:nvSpPr>
          <p:cNvPr id="23" name="Text 21"/>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24" name="Text 22"/>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03 · ГЛАВНЫЙ РЕЗУЛЬТАТ</a:t>
            </a:r>
            <a:endParaRPr lang="en-US" sz="1200" dirty="0"/>
          </a:p>
        </p:txBody>
      </p:sp>
      <p:sp>
        <p:nvSpPr>
          <p:cNvPr id="3" name="Text 1"/>
          <p:cNvSpPr/>
          <p:nvPr>
            <p:ph type="title"/>
          </p:nvPr>
        </p:nvSpPr>
        <p:spPr>
          <a:xfrm>
            <a:off x="812800" y="1229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45 сравнений: наивный против corrected</a:t>
            </a:r>
            <a:endParaRPr lang="en-US" sz="3200" dirty="0"/>
          </a:p>
        </p:txBody>
      </p:sp>
      <p:pic>
        <p:nvPicPr>
          <p:cNvPr id="4" name="Image 0" descr="Диаграмма рассеяния: p-value наивного теста по горизонтали, p-value corrected теста по вертикали, 45 точек, все выше диагонали, 6 оранжевых квадратов между порогами 0.05">    </p:cNvPr>
          <p:cNvPicPr>
            <a:picLocks noChangeAspect="1"/>
          </p:cNvPicPr>
          <p:nvPr/>
        </p:nvPicPr>
        <p:blipFill>
          <a:blip r:embed="rId1"/>
          <a:srcRect l="0" r="0" t="-20" b="-20"/>
          <a:stretch/>
        </p:blipFill>
        <p:spPr>
          <a:xfrm>
            <a:off x="812800" y="1899921"/>
            <a:ext cx="4013200" cy="355600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140960" y="2296799"/>
          <a:ext cx="5704840" cy="2051050"/>
        </p:xfrm>
        <a:graphic>
          <a:graphicData uri="http://schemas.openxmlformats.org/drawingml/2006/table">
            <a:tbl>
              <a:tblPr/>
              <a:tblGrid>
                <a:gridCol w="3137662"/>
                <a:gridCol w="2567178"/>
              </a:tblGrid>
              <a:tr h="410210">
                <a:tc>
                  <a:txBody>
                    <a:bodyPr/>
                    <a:lstStyle/>
                    <a:p>
                      <a:pPr indent="0" marL="0">
                        <a:lnSpc>
                          <a:spcPts val="2100"/>
                        </a:lnSpc>
                        <a:buNone/>
                      </a:pPr>
                      <a:r>
                        <a:rPr lang="en-US" sz="1500" b="1" dirty="0">
                          <a:solidFill>
                            <a:srgbClr val="1A1A1A"/>
                          </a:solidFill>
                          <a:latin typeface="IBM Plex Sans" pitchFamily="34" charset="0"/>
                          <a:ea typeface="IBM Plex Sans" pitchFamily="34" charset="-122"/>
                          <a:cs typeface="IBM Plex Sans" pitchFamily="34" charset="-120"/>
                        </a:rPr>
                        <a:t>Тест</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algn="r" indent="0" marL="0">
                        <a:lnSpc>
                          <a:spcPts val="2100"/>
                        </a:lnSpc>
                        <a:buNone/>
                      </a:pPr>
                      <a:r>
                        <a:rPr lang="en-US" sz="1500" b="1" dirty="0">
                          <a:solidFill>
                            <a:srgbClr val="1A1A1A"/>
                          </a:solidFill>
                          <a:latin typeface="IBM Plex Sans" pitchFamily="34" charset="0"/>
                          <a:ea typeface="IBM Plex Sans" pitchFamily="34" charset="-122"/>
                          <a:cs typeface="IBM Plex Sans" pitchFamily="34" charset="-120"/>
                        </a:rPr>
                        <a:t>Значимо из 45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410210">
                <a:tc>
                  <a:txBody>
                    <a:bodyPr/>
                    <a:lstStyle/>
                    <a:p>
                      <a:pPr indent="0" marL="0">
                        <a:lnSpc>
                          <a:spcPts val="2100"/>
                        </a:lnSpc>
                        <a:buNone/>
                      </a:pPr>
                      <a:r>
                        <a:rPr lang="en-US" sz="1500" dirty="0">
                          <a:solidFill>
                            <a:srgbClr val="1A1A1A"/>
                          </a:solidFill>
                          <a:latin typeface="IBM Plex Sans" pitchFamily="34" charset="0"/>
                          <a:ea typeface="IBM Plex Sans" pitchFamily="34" charset="-122"/>
                          <a:cs typeface="IBM Plex Sans" pitchFamily="34" charset="-120"/>
                        </a:rPr>
                        <a:t>Наивный</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2100"/>
                        </a:lnSpc>
                        <a:buNone/>
                      </a:pPr>
                      <a:r>
                        <a:rPr lang="en-US" sz="1500" dirty="0">
                          <a:solidFill>
                            <a:srgbClr val="1A1A1A"/>
                          </a:solidFill>
                          <a:latin typeface="IBM Plex Sans" pitchFamily="34" charset="0"/>
                          <a:ea typeface="IBM Plex Sans" pitchFamily="34" charset="-122"/>
                          <a:cs typeface="IBM Plex Sans" pitchFamily="34" charset="-120"/>
                        </a:rPr>
                        <a:t>20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410210">
                <a:tc>
                  <a:txBody>
                    <a:bodyPr/>
                    <a:lstStyle/>
                    <a:p>
                      <a:pPr indent="0" marL="0">
                        <a:lnSpc>
                          <a:spcPts val="2100"/>
                        </a:lnSpc>
                        <a:buNone/>
                      </a:pPr>
                      <a:r>
                        <a:rPr lang="en-US" sz="1500" dirty="0">
                          <a:solidFill>
                            <a:srgbClr val="1A1A1A"/>
                          </a:solidFill>
                          <a:latin typeface="IBM Plex Sans" pitchFamily="34" charset="0"/>
                          <a:ea typeface="IBM Plex Sans" pitchFamily="34" charset="-122"/>
                          <a:cs typeface="IBM Plex Sans" pitchFamily="34" charset="-120"/>
                        </a:rPr>
                        <a:t>Corrected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2100"/>
                        </a:lnSpc>
                        <a:buNone/>
                      </a:pPr>
                      <a:r>
                        <a:rPr lang="en-US" sz="1500" dirty="0">
                          <a:solidFill>
                            <a:srgbClr val="1A1A1A"/>
                          </a:solidFill>
                          <a:latin typeface="IBM Plex Sans" pitchFamily="34" charset="0"/>
                          <a:ea typeface="IBM Plex Sans" pitchFamily="34" charset="-122"/>
                          <a:cs typeface="IBM Plex Sans" pitchFamily="34" charset="-120"/>
                        </a:rPr>
                        <a:t>14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410210">
                <a:tc>
                  <a:txBody>
                    <a:bodyPr/>
                    <a:lstStyle/>
                    <a:p>
                      <a:pPr indent="0" marL="0">
                        <a:lnSpc>
                          <a:spcPts val="2100"/>
                        </a:lnSpc>
                        <a:buNone/>
                      </a:pPr>
                      <a:r>
                        <a:rPr lang="en-US" sz="1500" dirty="0">
                          <a:solidFill>
                            <a:srgbClr val="1A1A1A"/>
                          </a:solidFill>
                          <a:latin typeface="IBM Plex Sans" pitchFamily="34" charset="0"/>
                          <a:ea typeface="IBM Plex Sans" pitchFamily="34" charset="-122"/>
                          <a:cs typeface="IBM Plex Sans" pitchFamily="34" charset="-120"/>
                        </a:rPr>
                        <a:t>5×2cv</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2100"/>
                        </a:lnSpc>
                        <a:buNone/>
                      </a:pPr>
                      <a:r>
                        <a:rPr lang="en-US" sz="1500" dirty="0">
                          <a:solidFill>
                            <a:srgbClr val="1A1A1A"/>
                          </a:solidFill>
                          <a:latin typeface="IBM Plex Sans" pitchFamily="34" charset="0"/>
                          <a:ea typeface="IBM Plex Sans" pitchFamily="34" charset="-122"/>
                          <a:cs typeface="IBM Plex Sans" pitchFamily="34" charset="-120"/>
                        </a:rPr>
                        <a:t>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410210">
                <a:tc>
                  <a:txBody>
                    <a:bodyPr/>
                    <a:lstStyle/>
                    <a:p>
                      <a:pPr indent="0" marL="0">
                        <a:lnSpc>
                          <a:spcPts val="2100"/>
                        </a:lnSpc>
                        <a:buNone/>
                      </a:pPr>
                      <a:r>
                        <a:rPr lang="en-US" sz="1500" dirty="0">
                          <a:solidFill>
                            <a:srgbClr val="1A1A1A"/>
                          </a:solidFill>
                          <a:latin typeface="IBM Plex Sans" pitchFamily="34" charset="0"/>
                          <a:ea typeface="IBM Plex Sans" pitchFamily="34" charset="-122"/>
                          <a:cs typeface="IBM Plex Sans" pitchFamily="34" charset="-120"/>
                        </a:rPr>
                        <a:t>McNemar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r" indent="0" marL="0">
                        <a:lnSpc>
                          <a:spcPts val="2100"/>
                        </a:lnSpc>
                        <a:buNone/>
                      </a:pPr>
                      <a:r>
                        <a:rPr lang="en-US" sz="1500" dirty="0">
                          <a:solidFill>
                            <a:srgbClr val="1A1A1A"/>
                          </a:solidFill>
                          <a:latin typeface="IBM Plex Sans" pitchFamily="34" charset="0"/>
                          <a:ea typeface="IBM Plex Sans" pitchFamily="34" charset="-122"/>
                          <a:cs typeface="IBM Plex Sans" pitchFamily="34" charset="-120"/>
                        </a:rPr>
                        <a:t>7</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6" name="Text 2"/>
          <p:cNvSpPr/>
          <p:nvPr/>
        </p:nvSpPr>
        <p:spPr>
          <a:xfrm>
            <a:off x="5130800" y="4500246"/>
            <a:ext cx="643585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A1A1A"/>
                </a:solidFill>
                <a:latin typeface="IBM Plex Sans" pitchFamily="34" charset="0"/>
                <a:ea typeface="IBM Plex Sans" pitchFamily="34" charset="-122"/>
                <a:cs typeface="IBM Plex Sans" pitchFamily="34" charset="-120"/>
              </a:rPr>
              <a:t>Corrected p больше наивного во всех 45 случаях. В 6 случаях (оранжевые) вывод меняется со «значимо» на «не значимо».</a:t>
            </a:r>
            <a:endParaRPr lang="en-US" sz="1600" dirty="0"/>
          </a:p>
        </p:txBody>
      </p:sp>
      <p:sp>
        <p:nvSpPr>
          <p:cNvPr id="7" name="Text 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8" name="Text 4"/>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03 · ГЛАВНЫЙ РЕЗУЛЬТАТ</a:t>
            </a:r>
            <a:endParaRPr lang="en-US" sz="1200" dirty="0"/>
          </a:p>
        </p:txBody>
      </p:sp>
      <p:sp>
        <p:nvSpPr>
          <p:cNvPr id="3" name="Text 1"/>
          <p:cNvSpPr/>
          <p:nvPr>
            <p:ph type="title"/>
          </p:nvPr>
        </p:nvSpPr>
        <p:spPr>
          <a:xfrm>
            <a:off x="812800" y="12293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Код: функция сравнения пар</a:t>
            </a:r>
            <a:endParaRPr lang="en-US" sz="3200" dirty="0"/>
          </a:p>
        </p:txBody>
      </p:sp>
      <p:sp>
        <p:nvSpPr>
          <p:cNvPr id="4" name="Shape 2"/>
          <p:cNvSpPr/>
          <p:nvPr/>
        </p:nvSpPr>
        <p:spPr>
          <a:xfrm>
            <a:off x="815975" y="1903096"/>
            <a:ext cx="5175250" cy="3133090"/>
          </a:xfrm>
          <a:prstGeom prst="roundRect">
            <a:avLst>
              <a:gd name="adj" fmla="val 2331"/>
            </a:avLst>
          </a:prstGeom>
          <a:solidFill>
            <a:srgbClr val="F1F1EC"/>
          </a:solidFill>
          <a:ln w="6350">
            <a:solidFill>
              <a:srgbClr val="DEDED6"/>
            </a:solidFill>
            <a:prstDash val="solid"/>
          </a:ln>
        </p:spPr>
      </p:sp>
      <p:sp>
        <p:nvSpPr>
          <p:cNvPr id="5" name="Text 3"/>
          <p:cNvSpPr/>
          <p:nvPr/>
        </p:nvSpPr>
        <p:spPr>
          <a:xfrm>
            <a:off x="1021080" y="2082800"/>
            <a:ext cx="4907991"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IBM Plex Mono" pitchFamily="49" charset="0"/>
                <a:ea typeface="IBM Plex Mono" pitchFamily="49" charset="-122"/>
                <a:cs typeface="IBM Plex Mono" pitchFamily="49" charset="-120"/>
              </a:rPr>
              <a:t>def</a:t>
            </a:r>
            <a:r>
              <a:rPr lang="en-US" sz="1200" dirty="0">
                <a:solidFill>
                  <a:srgbClr val="1A1A1A"/>
                </a:solidFill>
                <a:latin typeface="IBM Plex Mono" pitchFamily="49" charset="0"/>
                <a:ea typeface="IBM Plex Mono" pitchFamily="49" charset="-122"/>
                <a:cs typeface="IBM Plex Mono" pitchFamily="49" charset="-120"/>
              </a:rPr>
              <a:t> compare_pair(ds_name, name_a, name_b):</a:t>
            </a:r>
            <a:endParaRPr lang="en-US" sz="1200" dirty="0"/>
          </a:p>
        </p:txBody>
      </p:sp>
      <p:sp>
        <p:nvSpPr>
          <p:cNvPr id="6" name="Text 4"/>
          <p:cNvSpPr/>
          <p:nvPr/>
        </p:nvSpPr>
        <p:spPr>
          <a:xfrm>
            <a:off x="1389380" y="2296164"/>
            <a:ext cx="452864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X, y = datasets[ds_name]</a:t>
            </a:r>
            <a:endParaRPr lang="en-US" sz="1200" dirty="0"/>
          </a:p>
        </p:txBody>
      </p:sp>
      <p:sp>
        <p:nvSpPr>
          <p:cNvPr id="7" name="Text 5"/>
          <p:cNvSpPr/>
          <p:nvPr/>
        </p:nvSpPr>
        <p:spPr>
          <a:xfrm>
            <a:off x="1389380" y="2509521"/>
            <a:ext cx="452864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models = make_models(X)</a:t>
            </a:r>
            <a:endParaRPr lang="en-US" sz="1200" dirty="0"/>
          </a:p>
        </p:txBody>
      </p:sp>
      <p:sp>
        <p:nvSpPr>
          <p:cNvPr id="8" name="Text 6"/>
          <p:cNvSpPr/>
          <p:nvPr/>
        </p:nvSpPr>
        <p:spPr>
          <a:xfrm>
            <a:off x="1389380" y="2722879"/>
            <a:ext cx="452864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sa = results[ds_name][name_a]</a:t>
            </a:r>
            <a:endParaRPr lang="en-US" sz="1200" dirty="0"/>
          </a:p>
        </p:txBody>
      </p:sp>
      <p:sp>
        <p:nvSpPr>
          <p:cNvPr id="9" name="Text 7"/>
          <p:cNvSpPr/>
          <p:nvPr/>
        </p:nvSpPr>
        <p:spPr>
          <a:xfrm>
            <a:off x="1389380" y="2936242"/>
            <a:ext cx="452864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sb = results[ds_name][name_b]</a:t>
            </a:r>
            <a:endParaRPr lang="en-US" sz="1200" dirty="0"/>
          </a:p>
        </p:txBody>
      </p:sp>
      <p:sp>
        <p:nvSpPr>
          <p:cNvPr id="10" name="Text 8"/>
          <p:cNvSpPr/>
          <p:nvPr/>
        </p:nvSpPr>
        <p:spPr>
          <a:xfrm>
            <a:off x="1389380" y="3362964"/>
            <a:ext cx="452864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p_naive = stats.ttest_rel(sa, sb).pvalue</a:t>
            </a:r>
            <a:endParaRPr lang="en-US" sz="1200" dirty="0"/>
          </a:p>
        </p:txBody>
      </p:sp>
      <p:sp>
        <p:nvSpPr>
          <p:cNvPr id="11" name="Text 9"/>
          <p:cNvSpPr/>
          <p:nvPr/>
        </p:nvSpPr>
        <p:spPr>
          <a:xfrm>
            <a:off x="1389380" y="3576321"/>
            <a:ext cx="452864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p_corr = corrected_ttest_p(sa, sb)</a:t>
            </a:r>
            <a:endParaRPr lang="en-US" sz="1200" dirty="0"/>
          </a:p>
        </p:txBody>
      </p:sp>
      <p:sp>
        <p:nvSpPr>
          <p:cNvPr id="12" name="Text 10"/>
          <p:cNvSpPr/>
          <p:nvPr/>
        </p:nvSpPr>
        <p:spPr>
          <a:xfrm>
            <a:off x="1389380" y="4003042"/>
            <a:ext cx="452864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p_5x2 = np.median([</a:t>
            </a:r>
            <a:endParaRPr lang="en-US" sz="1200" dirty="0"/>
          </a:p>
        </p:txBody>
      </p:sp>
      <p:sp>
        <p:nvSpPr>
          <p:cNvPr id="13" name="Text 11"/>
          <p:cNvSpPr/>
          <p:nvPr/>
        </p:nvSpPr>
        <p:spPr>
          <a:xfrm>
            <a:off x="1751330" y="4216400"/>
            <a:ext cx="415583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five_by_two_p(models[name_a],</a:t>
            </a:r>
            <a:endParaRPr lang="en-US" sz="1200" dirty="0"/>
          </a:p>
        </p:txBody>
      </p:sp>
      <p:sp>
        <p:nvSpPr>
          <p:cNvPr id="14" name="Text 12"/>
          <p:cNvSpPr/>
          <p:nvPr/>
        </p:nvSpPr>
        <p:spPr>
          <a:xfrm>
            <a:off x="1751330" y="4429764"/>
            <a:ext cx="415583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models[name_b], X, y, s)</a:t>
            </a:r>
            <a:endParaRPr lang="en-US" sz="1200" dirty="0"/>
          </a:p>
        </p:txBody>
      </p:sp>
      <p:sp>
        <p:nvSpPr>
          <p:cNvPr id="15" name="Text 13"/>
          <p:cNvSpPr/>
          <p:nvPr/>
        </p:nvSpPr>
        <p:spPr>
          <a:xfrm>
            <a:off x="1751330" y="4643121"/>
            <a:ext cx="415583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IBM Plex Mono" pitchFamily="49" charset="0"/>
                <a:ea typeface="IBM Plex Mono" pitchFamily="49" charset="-122"/>
                <a:cs typeface="IBM Plex Mono" pitchFamily="49" charset="-120"/>
              </a:rPr>
              <a:t>for</a:t>
            </a:r>
            <a:r>
              <a:rPr lang="en-US" sz="1200" dirty="0">
                <a:solidFill>
                  <a:srgbClr val="1A1A1A"/>
                </a:solidFill>
                <a:latin typeface="IBM Plex Mono" pitchFamily="49" charset="0"/>
                <a:ea typeface="IBM Plex Mono" pitchFamily="49" charset="-122"/>
                <a:cs typeface="IBM Plex Mono" pitchFamily="49" charset="-120"/>
              </a:rPr>
              <a:t> s </a:t>
            </a:r>
            <a:r>
              <a:rPr lang="en-US" sz="1200" dirty="0">
                <a:solidFill>
                  <a:srgbClr val="6639B7"/>
                </a:solidFill>
                <a:latin typeface="IBM Plex Mono" pitchFamily="49" charset="0"/>
                <a:ea typeface="IBM Plex Mono" pitchFamily="49" charset="-122"/>
                <a:cs typeface="IBM Plex Mono" pitchFamily="49" charset="-120"/>
              </a:rPr>
              <a:t>in</a:t>
            </a:r>
            <a:r>
              <a:rPr lang="en-US" sz="1200" dirty="0">
                <a:solidFill>
                  <a:srgbClr val="1A1A1A"/>
                </a:solidFill>
                <a:latin typeface="IBM Plex Mono" pitchFamily="49" charset="0"/>
                <a:ea typeface="IBM Plex Mono" pitchFamily="49" charset="-122"/>
                <a:cs typeface="IBM Plex Mono" pitchFamily="49" charset="-120"/>
              </a:rPr>
              <a:t> range(5)])</a:t>
            </a:r>
            <a:endParaRPr lang="en-US" sz="1200" dirty="0"/>
          </a:p>
        </p:txBody>
      </p:sp>
      <p:sp>
        <p:nvSpPr>
          <p:cNvPr id="16" name="Shape 14"/>
          <p:cNvSpPr/>
          <p:nvPr/>
        </p:nvSpPr>
        <p:spPr>
          <a:xfrm>
            <a:off x="6200775" y="1903096"/>
            <a:ext cx="5175250" cy="3133090"/>
          </a:xfrm>
          <a:prstGeom prst="roundRect">
            <a:avLst>
              <a:gd name="adj" fmla="val 2331"/>
            </a:avLst>
          </a:prstGeom>
          <a:solidFill>
            <a:srgbClr val="F1F1EC"/>
          </a:solidFill>
          <a:ln w="6350">
            <a:solidFill>
              <a:srgbClr val="DEDED6"/>
            </a:solidFill>
            <a:prstDash val="solid"/>
          </a:ln>
        </p:spPr>
      </p:sp>
      <p:sp>
        <p:nvSpPr>
          <p:cNvPr id="17" name="Text 15"/>
          <p:cNvSpPr/>
          <p:nvPr/>
        </p:nvSpPr>
        <p:spPr>
          <a:xfrm>
            <a:off x="6774180" y="2082800"/>
            <a:ext cx="452864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p_mc = np.median([</a:t>
            </a:r>
            <a:endParaRPr lang="en-US" sz="1200" dirty="0"/>
          </a:p>
        </p:txBody>
      </p:sp>
      <p:sp>
        <p:nvSpPr>
          <p:cNvPr id="18" name="Text 16"/>
          <p:cNvSpPr/>
          <p:nvPr/>
        </p:nvSpPr>
        <p:spPr>
          <a:xfrm>
            <a:off x="7136130" y="2296164"/>
            <a:ext cx="415583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mcnemar_p(models[name_a],</a:t>
            </a:r>
            <a:endParaRPr lang="en-US" sz="1200" dirty="0"/>
          </a:p>
        </p:txBody>
      </p:sp>
      <p:sp>
        <p:nvSpPr>
          <p:cNvPr id="19" name="Text 17"/>
          <p:cNvSpPr/>
          <p:nvPr/>
        </p:nvSpPr>
        <p:spPr>
          <a:xfrm>
            <a:off x="7136130" y="2509521"/>
            <a:ext cx="415583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models[name_b], X, y, s)[0]</a:t>
            </a:r>
            <a:endParaRPr lang="en-US" sz="1200" dirty="0"/>
          </a:p>
        </p:txBody>
      </p:sp>
      <p:sp>
        <p:nvSpPr>
          <p:cNvPr id="20" name="Text 18"/>
          <p:cNvSpPr/>
          <p:nvPr/>
        </p:nvSpPr>
        <p:spPr>
          <a:xfrm>
            <a:off x="7136130" y="2722879"/>
            <a:ext cx="415583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IBM Plex Mono" pitchFamily="49" charset="0"/>
                <a:ea typeface="IBM Plex Mono" pitchFamily="49" charset="-122"/>
                <a:cs typeface="IBM Plex Mono" pitchFamily="49" charset="-120"/>
              </a:rPr>
              <a:t>for</a:t>
            </a:r>
            <a:r>
              <a:rPr lang="en-US" sz="1200" dirty="0">
                <a:solidFill>
                  <a:srgbClr val="1A1A1A"/>
                </a:solidFill>
                <a:latin typeface="IBM Plex Mono" pitchFamily="49" charset="0"/>
                <a:ea typeface="IBM Plex Mono" pitchFamily="49" charset="-122"/>
                <a:cs typeface="IBM Plex Mono" pitchFamily="49" charset="-120"/>
              </a:rPr>
              <a:t> s </a:t>
            </a:r>
            <a:r>
              <a:rPr lang="en-US" sz="1200" dirty="0">
                <a:solidFill>
                  <a:srgbClr val="6639B7"/>
                </a:solidFill>
                <a:latin typeface="IBM Plex Mono" pitchFamily="49" charset="0"/>
                <a:ea typeface="IBM Plex Mono" pitchFamily="49" charset="-122"/>
                <a:cs typeface="IBM Plex Mono" pitchFamily="49" charset="-120"/>
              </a:rPr>
              <a:t>in</a:t>
            </a:r>
            <a:r>
              <a:rPr lang="en-US" sz="1200" dirty="0">
                <a:solidFill>
                  <a:srgbClr val="1A1A1A"/>
                </a:solidFill>
                <a:latin typeface="IBM Plex Mono" pitchFamily="49" charset="0"/>
                <a:ea typeface="IBM Plex Mono" pitchFamily="49" charset="-122"/>
                <a:cs typeface="IBM Plex Mono" pitchFamily="49" charset="-120"/>
              </a:rPr>
              <a:t> range(10)])</a:t>
            </a:r>
            <a:endParaRPr lang="en-US" sz="1200" dirty="0"/>
          </a:p>
        </p:txBody>
      </p:sp>
      <p:sp>
        <p:nvSpPr>
          <p:cNvPr id="21" name="Text 19"/>
          <p:cNvSpPr/>
          <p:nvPr/>
        </p:nvSpPr>
        <p:spPr>
          <a:xfrm>
            <a:off x="6774180" y="3149600"/>
            <a:ext cx="4528642"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IBM Plex Mono" pitchFamily="49" charset="0"/>
                <a:ea typeface="IBM Plex Mono" pitchFamily="49" charset="-122"/>
                <a:cs typeface="IBM Plex Mono" pitchFamily="49" charset="-120"/>
              </a:rPr>
              <a:t>return</a:t>
            </a:r>
            <a:r>
              <a:rPr lang="en-US" sz="1200" dirty="0">
                <a:solidFill>
                  <a:srgbClr val="1A1A1A"/>
                </a:solidFill>
                <a:latin typeface="IBM Plex Mono" pitchFamily="49" charset="0"/>
                <a:ea typeface="IBM Plex Mono" pitchFamily="49" charset="-122"/>
                <a:cs typeface="IBM Plex Mono" pitchFamily="49" charset="-120"/>
              </a:rPr>
              <a:t> {</a:t>
            </a:r>
            <a:r>
              <a:rPr lang="en-US" sz="1200" dirty="0">
                <a:solidFill>
                  <a:srgbClr val="116329"/>
                </a:solidFill>
                <a:latin typeface="IBM Plex Mono" pitchFamily="49" charset="0"/>
                <a:ea typeface="IBM Plex Mono" pitchFamily="49" charset="-122"/>
                <a:cs typeface="IBM Plex Mono" pitchFamily="49" charset="-120"/>
              </a:rPr>
              <a:t>"dataset"</a:t>
            </a:r>
            <a:r>
              <a:rPr lang="en-US" sz="1200" dirty="0">
                <a:solidFill>
                  <a:srgbClr val="1A1A1A"/>
                </a:solidFill>
                <a:latin typeface="IBM Plex Mono" pitchFamily="49" charset="0"/>
                <a:ea typeface="IBM Plex Mono" pitchFamily="49" charset="-122"/>
                <a:cs typeface="IBM Plex Mono" pitchFamily="49" charset="-120"/>
              </a:rPr>
              <a:t>: ds_name,</a:t>
            </a:r>
            <a:endParaRPr lang="en-US" sz="1200" dirty="0"/>
          </a:p>
        </p:txBody>
      </p:sp>
      <p:sp>
        <p:nvSpPr>
          <p:cNvPr id="22" name="Text 20"/>
          <p:cNvSpPr/>
          <p:nvPr/>
        </p:nvSpPr>
        <p:spPr>
          <a:xfrm>
            <a:off x="7504430" y="3362964"/>
            <a:ext cx="3776485"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IBM Plex Mono" pitchFamily="49" charset="0"/>
                <a:ea typeface="IBM Plex Mono" pitchFamily="49" charset="-122"/>
                <a:cs typeface="IBM Plex Mono" pitchFamily="49" charset="-120"/>
              </a:rPr>
              <a:t>"pair"</a:t>
            </a:r>
            <a:r>
              <a:rPr lang="en-US" sz="1200" dirty="0">
                <a:solidFill>
                  <a:srgbClr val="1A1A1A"/>
                </a:solidFill>
                <a:latin typeface="IBM Plex Mono" pitchFamily="49" charset="0"/>
                <a:ea typeface="IBM Plex Mono" pitchFamily="49" charset="-122"/>
                <a:cs typeface="IBM Plex Mono" pitchFamily="49" charset="-120"/>
              </a:rPr>
              <a:t>: f</a:t>
            </a:r>
            <a:r>
              <a:rPr lang="en-US" sz="1200" dirty="0">
                <a:solidFill>
                  <a:srgbClr val="116329"/>
                </a:solidFill>
                <a:latin typeface="IBM Plex Mono" pitchFamily="49" charset="0"/>
                <a:ea typeface="IBM Plex Mono" pitchFamily="49" charset="-122"/>
                <a:cs typeface="IBM Plex Mono" pitchFamily="49" charset="-120"/>
              </a:rPr>
              <a:t>"{name_a} vs {name_b}"</a:t>
            </a:r>
            <a:r>
              <a:rPr lang="en-US" sz="1200" dirty="0">
                <a:solidFill>
                  <a:srgbClr val="1A1A1A"/>
                </a:solidFill>
                <a:latin typeface="IBM Plex Mono" pitchFamily="49" charset="0"/>
                <a:ea typeface="IBM Plex Mono" pitchFamily="49" charset="-122"/>
                <a:cs typeface="IBM Plex Mono" pitchFamily="49" charset="-120"/>
              </a:rPr>
              <a:t>,</a:t>
            </a:r>
            <a:endParaRPr lang="en-US" sz="1200" dirty="0"/>
          </a:p>
        </p:txBody>
      </p:sp>
      <p:sp>
        <p:nvSpPr>
          <p:cNvPr id="23" name="Text 21"/>
          <p:cNvSpPr/>
          <p:nvPr/>
        </p:nvSpPr>
        <p:spPr>
          <a:xfrm>
            <a:off x="7504430" y="3576321"/>
            <a:ext cx="3776485"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IBM Plex Mono" pitchFamily="49" charset="0"/>
                <a:ea typeface="IBM Plex Mono" pitchFamily="49" charset="-122"/>
                <a:cs typeface="IBM Plex Mono" pitchFamily="49" charset="-120"/>
              </a:rPr>
              <a:t>"p_naive"</a:t>
            </a:r>
            <a:r>
              <a:rPr lang="en-US" sz="1200" dirty="0">
                <a:solidFill>
                  <a:srgbClr val="1A1A1A"/>
                </a:solidFill>
                <a:latin typeface="IBM Plex Mono" pitchFamily="49" charset="0"/>
                <a:ea typeface="IBM Plex Mono" pitchFamily="49" charset="-122"/>
                <a:cs typeface="IBM Plex Mono" pitchFamily="49" charset="-120"/>
              </a:rPr>
              <a:t>: p_naive,</a:t>
            </a:r>
            <a:endParaRPr lang="en-US" sz="1200" dirty="0"/>
          </a:p>
        </p:txBody>
      </p:sp>
      <p:sp>
        <p:nvSpPr>
          <p:cNvPr id="24" name="Text 22"/>
          <p:cNvSpPr/>
          <p:nvPr/>
        </p:nvSpPr>
        <p:spPr>
          <a:xfrm>
            <a:off x="7504430" y="3789679"/>
            <a:ext cx="3776485"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IBM Plex Mono" pitchFamily="49" charset="0"/>
                <a:ea typeface="IBM Plex Mono" pitchFamily="49" charset="-122"/>
                <a:cs typeface="IBM Plex Mono" pitchFamily="49" charset="-120"/>
              </a:rPr>
              <a:t>"p_corrected"</a:t>
            </a:r>
            <a:r>
              <a:rPr lang="en-US" sz="1200" dirty="0">
                <a:solidFill>
                  <a:srgbClr val="1A1A1A"/>
                </a:solidFill>
                <a:latin typeface="IBM Plex Mono" pitchFamily="49" charset="0"/>
                <a:ea typeface="IBM Plex Mono" pitchFamily="49" charset="-122"/>
                <a:cs typeface="IBM Plex Mono" pitchFamily="49" charset="-120"/>
              </a:rPr>
              <a:t>: p_corr,</a:t>
            </a:r>
            <a:endParaRPr lang="en-US" sz="1200" dirty="0"/>
          </a:p>
        </p:txBody>
      </p:sp>
      <p:sp>
        <p:nvSpPr>
          <p:cNvPr id="25" name="Text 23"/>
          <p:cNvSpPr/>
          <p:nvPr/>
        </p:nvSpPr>
        <p:spPr>
          <a:xfrm>
            <a:off x="7504430" y="4003042"/>
            <a:ext cx="3776485"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IBM Plex Mono" pitchFamily="49" charset="0"/>
                <a:ea typeface="IBM Plex Mono" pitchFamily="49" charset="-122"/>
                <a:cs typeface="IBM Plex Mono" pitchFamily="49" charset="-120"/>
              </a:rPr>
              <a:t>"p_5x2cv"</a:t>
            </a:r>
            <a:r>
              <a:rPr lang="en-US" sz="1200" dirty="0">
                <a:solidFill>
                  <a:srgbClr val="1A1A1A"/>
                </a:solidFill>
                <a:latin typeface="IBM Plex Mono" pitchFamily="49" charset="0"/>
                <a:ea typeface="IBM Plex Mono" pitchFamily="49" charset="-122"/>
                <a:cs typeface="IBM Plex Mono" pitchFamily="49" charset="-120"/>
              </a:rPr>
              <a:t>: p_5x2,</a:t>
            </a:r>
            <a:endParaRPr lang="en-US" sz="1200" dirty="0"/>
          </a:p>
        </p:txBody>
      </p:sp>
      <p:sp>
        <p:nvSpPr>
          <p:cNvPr id="26" name="Text 24"/>
          <p:cNvSpPr/>
          <p:nvPr/>
        </p:nvSpPr>
        <p:spPr>
          <a:xfrm>
            <a:off x="7504430" y="4216400"/>
            <a:ext cx="3776485"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IBM Plex Mono" pitchFamily="49" charset="0"/>
                <a:ea typeface="IBM Plex Mono" pitchFamily="49" charset="-122"/>
                <a:cs typeface="IBM Plex Mono" pitchFamily="49" charset="-120"/>
              </a:rPr>
              <a:t>"p_mcnemar"</a:t>
            </a:r>
            <a:r>
              <a:rPr lang="en-US" sz="1200" dirty="0">
                <a:solidFill>
                  <a:srgbClr val="1A1A1A"/>
                </a:solidFill>
                <a:latin typeface="IBM Plex Mono" pitchFamily="49" charset="0"/>
                <a:ea typeface="IBM Plex Mono" pitchFamily="49" charset="-122"/>
                <a:cs typeface="IBM Plex Mono" pitchFamily="49" charset="-120"/>
              </a:rPr>
              <a:t>: p_mc}</a:t>
            </a:r>
            <a:endParaRPr lang="en-US" sz="1200" dirty="0"/>
          </a:p>
        </p:txBody>
      </p:sp>
      <p:sp>
        <p:nvSpPr>
          <p:cNvPr id="27" name="Text 2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28" name="Text 26"/>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03 · ГЛАВНЫЙ РЕЗУЛЬТАТ</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Размер эффекта и неопределённость</a:t>
            </a:r>
            <a:endParaRPr lang="en-US" sz="3200" dirty="0"/>
          </a:p>
        </p:txBody>
      </p:sp>
      <p:pic>
        <p:nvPicPr>
          <p:cNvPr id="4" name="Image 0" descr="Доверительные интервалы 95% для разницы точности: синие наивные и оранжевые с поправкой для шести пар модель-датасет, пунктир на нуле">    </p:cNvPr>
          <p:cNvPicPr>
            <a:picLocks noChangeAspect="1"/>
          </p:cNvPicPr>
          <p:nvPr/>
        </p:nvPicPr>
        <p:blipFill>
          <a:blip r:embed="rId1"/>
          <a:srcRect l="-9" r="-9" t="0" b="0"/>
          <a:stretch/>
        </p:blipFill>
        <p:spPr>
          <a:xfrm>
            <a:off x="812800" y="1899927"/>
            <a:ext cx="6985000" cy="3879850"/>
          </a:xfrm>
          <a:prstGeom prst="rect">
            <a:avLst/>
          </a:prstGeom>
        </p:spPr>
      </p:pic>
      <p:sp>
        <p:nvSpPr>
          <p:cNvPr id="5" name="Text 2"/>
          <p:cNvSpPr/>
          <p:nvPr/>
        </p:nvSpPr>
        <p:spPr>
          <a:xfrm>
            <a:off x="8102600" y="2976252"/>
            <a:ext cx="337489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A1A1A"/>
                </a:solidFill>
                <a:latin typeface="IBM Plex Sans" pitchFamily="34" charset="0"/>
                <a:ea typeface="IBM Plex Sans" pitchFamily="34" charset="-122"/>
                <a:cs typeface="IBM Plex Sans" pitchFamily="34" charset="-120"/>
              </a:rPr>
              <a:t>Наивный интервал не накрывает 0 только у одной пары из шести.</a:t>
            </a:r>
            <a:endParaRPr lang="en-US" sz="1600" dirty="0"/>
          </a:p>
        </p:txBody>
      </p:sp>
      <p:sp>
        <p:nvSpPr>
          <p:cNvPr id="6" name="Text 3"/>
          <p:cNvSpPr/>
          <p:nvPr/>
        </p:nvSpPr>
        <p:spPr>
          <a:xfrm>
            <a:off x="8102600" y="3697610"/>
            <a:ext cx="337489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A1A1A"/>
                </a:solidFill>
                <a:latin typeface="IBM Plex Sans" pitchFamily="34" charset="0"/>
                <a:ea typeface="IBM Plex Sans" pitchFamily="34" charset="-122"/>
                <a:cs typeface="IBM Plex Sans" pitchFamily="34" charset="-120"/>
              </a:rPr>
              <a:t>С поправкой не накрывает ни один.</a:t>
            </a:r>
            <a:endParaRPr lang="en-US" sz="1600" dirty="0"/>
          </a:p>
        </p:txBody>
      </p:sp>
      <p:sp>
        <p:nvSpPr>
          <p:cNvPr id="7" name="Text 4"/>
          <p:cNvSpPr/>
          <p:nvPr/>
        </p:nvSpPr>
        <p:spPr>
          <a:xfrm>
            <a:off x="8102600" y="4418967"/>
            <a:ext cx="3374898"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F6670"/>
                </a:solidFill>
                <a:latin typeface="IBM Plex Sans" pitchFamily="34" charset="0"/>
                <a:ea typeface="IBM Plex Sans" pitchFamily="34" charset="-122"/>
                <a:cs typeface="IBM Plex Sans" pitchFamily="34" charset="-120"/>
              </a:rPr>
              <a:t>Все разницы малы: 0.4–1.7 п. п.</a:t>
            </a:r>
            <a:endParaRPr lang="en-US" sz="1600" dirty="0"/>
          </a:p>
        </p:txBody>
      </p:sp>
      <p:sp>
        <p:nvSpPr>
          <p:cNvPr id="8" name="Text 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9" name="Text 6"/>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03 · ГЛАВНЫЙ РЕЗУЛЬТАТ</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Код: доверительные интервалы</a:t>
            </a:r>
            <a:endParaRPr lang="en-US" sz="3200" dirty="0"/>
          </a:p>
        </p:txBody>
      </p:sp>
      <p:sp>
        <p:nvSpPr>
          <p:cNvPr id="4" name="Shape 2"/>
          <p:cNvSpPr/>
          <p:nvPr/>
        </p:nvSpPr>
        <p:spPr>
          <a:xfrm>
            <a:off x="815975" y="1903102"/>
            <a:ext cx="6343650" cy="2919730"/>
          </a:xfrm>
          <a:prstGeom prst="roundRect">
            <a:avLst>
              <a:gd name="adj" fmla="val 2501"/>
            </a:avLst>
          </a:prstGeom>
          <a:solidFill>
            <a:srgbClr val="F1F1EC"/>
          </a:solidFill>
          <a:ln w="6350">
            <a:solidFill>
              <a:srgbClr val="DEDED6"/>
            </a:solidFill>
            <a:prstDash val="solid"/>
          </a:ln>
        </p:spPr>
      </p:sp>
      <p:sp>
        <p:nvSpPr>
          <p:cNvPr id="5" name="Text 3"/>
          <p:cNvSpPr/>
          <p:nvPr/>
        </p:nvSpPr>
        <p:spPr>
          <a:xfrm>
            <a:off x="1021080" y="20828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diff = results[ds][a] - results[ds][b]</a:t>
            </a:r>
            <a:endParaRPr lang="en-US" sz="1200" dirty="0"/>
          </a:p>
        </p:txBody>
      </p:sp>
      <p:sp>
        <p:nvSpPr>
          <p:cNvPr id="6" name="Text 4"/>
          <p:cNvSpPr/>
          <p:nvPr/>
        </p:nvSpPr>
        <p:spPr>
          <a:xfrm>
            <a:off x="1021080" y="2296158"/>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n = len(diff)</a:t>
            </a:r>
            <a:endParaRPr lang="en-US" sz="1200" dirty="0"/>
          </a:p>
        </p:txBody>
      </p:sp>
      <p:sp>
        <p:nvSpPr>
          <p:cNvPr id="7" name="Text 5"/>
          <p:cNvSpPr/>
          <p:nvPr/>
        </p:nvSpPr>
        <p:spPr>
          <a:xfrm>
            <a:off x="1021080" y="2509527"/>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mean = diff.mean()</a:t>
            </a:r>
            <a:endParaRPr lang="en-US" sz="1200" dirty="0"/>
          </a:p>
        </p:txBody>
      </p:sp>
      <p:sp>
        <p:nvSpPr>
          <p:cNvPr id="8" name="Text 6"/>
          <p:cNvSpPr/>
          <p:nvPr/>
        </p:nvSpPr>
        <p:spPr>
          <a:xfrm>
            <a:off x="1021080" y="2722885"/>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tcrit = stats.t.ppf(0.975, n - 1)</a:t>
            </a:r>
            <a:endParaRPr lang="en-US" sz="1200" dirty="0"/>
          </a:p>
        </p:txBody>
      </p:sp>
      <p:sp>
        <p:nvSpPr>
          <p:cNvPr id="9" name="Text 7"/>
          <p:cNvSpPr/>
          <p:nvPr/>
        </p:nvSpPr>
        <p:spPr>
          <a:xfrm>
            <a:off x="1021080" y="2936242"/>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se_naive = np.sqrt(np.var(diff, ddof=1) / n)</a:t>
            </a:r>
            <a:endParaRPr lang="en-US" sz="1200" dirty="0"/>
          </a:p>
        </p:txBody>
      </p:sp>
      <p:sp>
        <p:nvSpPr>
          <p:cNvPr id="10" name="Text 8"/>
          <p:cNvSpPr/>
          <p:nvPr/>
        </p:nvSpPr>
        <p:spPr>
          <a:xfrm>
            <a:off x="1021080" y="3362958"/>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_, var_corr, _ = CorrelatedTTest.compute_statistics(</a:t>
            </a:r>
            <a:endParaRPr lang="en-US" sz="1200" dirty="0"/>
          </a:p>
        </p:txBody>
      </p:sp>
      <p:sp>
        <p:nvSpPr>
          <p:cNvPr id="11" name="Text 9"/>
          <p:cNvSpPr/>
          <p:nvPr/>
        </p:nvSpPr>
        <p:spPr>
          <a:xfrm>
            <a:off x="1389380" y="3576327"/>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results[ds][b], results[ds][a])</a:t>
            </a:r>
            <a:endParaRPr lang="en-US" sz="1200" dirty="0"/>
          </a:p>
        </p:txBody>
      </p:sp>
      <p:sp>
        <p:nvSpPr>
          <p:cNvPr id="12" name="Text 10"/>
          <p:cNvSpPr/>
          <p:nvPr/>
        </p:nvSpPr>
        <p:spPr>
          <a:xfrm>
            <a:off x="1021080" y="3789685"/>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se_corr = np.sqrt(var_corr)</a:t>
            </a:r>
            <a:endParaRPr lang="en-US" sz="1200" dirty="0"/>
          </a:p>
        </p:txBody>
      </p:sp>
      <p:sp>
        <p:nvSpPr>
          <p:cNvPr id="13" name="Text 11"/>
          <p:cNvSpPr/>
          <p:nvPr/>
        </p:nvSpPr>
        <p:spPr>
          <a:xfrm>
            <a:off x="1021080" y="42164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lo_n, hi_n = mean - tcrit * se_naive, mean + tcrit * se_naive</a:t>
            </a:r>
            <a:endParaRPr lang="en-US" sz="1200" dirty="0"/>
          </a:p>
        </p:txBody>
      </p:sp>
      <p:sp>
        <p:nvSpPr>
          <p:cNvPr id="14" name="Text 12"/>
          <p:cNvSpPr/>
          <p:nvPr/>
        </p:nvSpPr>
        <p:spPr>
          <a:xfrm>
            <a:off x="1021080" y="4429758"/>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lo_c, hi_c = mean - tcrit * se_corr, mean + tcrit * se_corr</a:t>
            </a:r>
            <a:endParaRPr lang="en-US" sz="1200" dirty="0"/>
          </a:p>
        </p:txBody>
      </p:sp>
      <p:sp>
        <p:nvSpPr>
          <p:cNvPr id="15" name="Text 13"/>
          <p:cNvSpPr/>
          <p:nvPr/>
        </p:nvSpPr>
        <p:spPr>
          <a:xfrm>
            <a:off x="7366000" y="1899927"/>
            <a:ext cx="4133596"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BM Plex Sans" pitchFamily="34" charset="0"/>
                <a:ea typeface="IBM Plex Sans" pitchFamily="34" charset="-122"/>
                <a:cs typeface="IBM Plex Sans" pitchFamily="34" charset="-120"/>
              </a:rPr>
              <a:t>diff: разности точности по 10 фолдам. tcrit: множитель для 95% интервала (t-распределение, 9 степеней свободы). Дисперсию с поправкой возвращает baycomp.</a:t>
            </a:r>
            <a:endParaRPr lang="en-US" sz="1400" dirty="0"/>
          </a:p>
        </p:txBody>
      </p:sp>
      <p:sp>
        <p:nvSpPr>
          <p:cNvPr id="16" name="Text 14"/>
          <p:cNvSpPr/>
          <p:nvPr/>
        </p:nvSpPr>
        <p:spPr>
          <a:xfrm>
            <a:off x="7366000" y="3022600"/>
            <a:ext cx="41335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RF минус LogReg на digits:</a:t>
            </a:r>
            <a:endParaRPr lang="en-US" sz="1200" dirty="0"/>
          </a:p>
        </p:txBody>
      </p:sp>
      <p:sp>
        <p:nvSpPr>
          <p:cNvPr id="17" name="Shape 15"/>
          <p:cNvSpPr/>
          <p:nvPr/>
        </p:nvSpPr>
        <p:spPr>
          <a:xfrm>
            <a:off x="7366000" y="3362958"/>
            <a:ext cx="4013200" cy="1254760"/>
          </a:xfrm>
          <a:prstGeom prst="roundRect">
            <a:avLst>
              <a:gd name="adj" fmla="val 6073"/>
            </a:avLst>
          </a:prstGeom>
          <a:solidFill>
            <a:srgbClr val="15202B"/>
          </a:solidFill>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528560" y="3500118"/>
          <a:ext cx="3698240" cy="990600"/>
        </p:xfrm>
        <a:graphic>
          <a:graphicData uri="http://schemas.openxmlformats.org/drawingml/2006/table">
            <a:tbl>
              <a:tblPr/>
              <a:tblGrid>
                <a:gridCol w="1232747"/>
                <a:gridCol w="1232747"/>
                <a:gridCol w="1232747"/>
              </a:tblGrid>
              <a:tr h="330200">
                <a:tc>
                  <a:txBody>
                    <a:bodyPr/>
                    <a:lstStyle/>
                    <a:p>
                      <a:pPr indent="0" marL="0">
                        <a:lnSpc>
                          <a:spcPts val="1680"/>
                        </a:lnSpc>
                        <a:buNone/>
                      </a:pPr>
                      <a:r>
                        <a:rPr lang="en-US" sz="1200" b="1" dirty="0">
                          <a:solidFill>
                            <a:srgbClr val="E6EDF3"/>
                          </a:solidFill>
                          <a:latin typeface="IBM Plex Mono" pitchFamily="49" charset="0"/>
                          <a:ea typeface="IBM Plex Mono" pitchFamily="49" charset="-122"/>
                          <a:cs typeface="IBM Plex Mono" pitchFamily="49" charset="-120"/>
                        </a:rPr>
                        <a:t> </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c>
                  <a:txBody>
                    <a:bodyPr/>
                    <a:lstStyle/>
                    <a:p>
                      <a:pPr algn="r" indent="0" marL="0">
                        <a:lnSpc>
                          <a:spcPts val="1680"/>
                        </a:lnSpc>
                        <a:buNone/>
                      </a:pPr>
                      <a:r>
                        <a:rPr lang="en-US" sz="1200" b="1" dirty="0">
                          <a:solidFill>
                            <a:srgbClr val="E6EDF3"/>
                          </a:solidFill>
                          <a:latin typeface="IBM Plex Mono" pitchFamily="49" charset="0"/>
                          <a:ea typeface="IBM Plex Mono" pitchFamily="49" charset="-122"/>
                          <a:cs typeface="IBM Plex Mono" pitchFamily="49" charset="-120"/>
                        </a:rPr>
                        <a:t>нижняя</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4"/>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c>
                  <a:txBody>
                    <a:bodyPr/>
                    <a:lstStyle/>
                    <a:p>
                      <a:pPr algn="r" indent="0" marL="0">
                        <a:lnSpc>
                          <a:spcPts val="1680"/>
                        </a:lnSpc>
                        <a:buNone/>
                      </a:pPr>
                      <a:r>
                        <a:rPr lang="en-US" sz="1200" b="1" dirty="0">
                          <a:solidFill>
                            <a:srgbClr val="E6EDF3"/>
                          </a:solidFill>
                          <a:latin typeface="IBM Plex Mono" pitchFamily="49" charset="0"/>
                          <a:ea typeface="IBM Plex Mono" pitchFamily="49" charset="-122"/>
                          <a:cs typeface="IBM Plex Mono" pitchFamily="49" charset="-120"/>
                        </a:rPr>
                        <a:t>верхняя</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4"/>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r>
              <a:tr h="330200">
                <a:tc>
                  <a:txBody>
                    <a:bodyPr/>
                    <a:lstStyle/>
                    <a:p>
                      <a:pP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наивный</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0.0025</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0.0309</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с поправкой</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-0.0039</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0.0373</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bl>
          </a:graphicData>
        </a:graphic>
      </p:graphicFrame>
      <p:sp>
        <p:nvSpPr>
          <p:cNvPr id="19" name="Text 16"/>
          <p:cNvSpPr/>
          <p:nvPr/>
        </p:nvSpPr>
        <p:spPr>
          <a:xfrm>
            <a:off x="7366000" y="4744727"/>
            <a:ext cx="41335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6670"/>
                </a:solidFill>
                <a:latin typeface="IBM Plex Sans" pitchFamily="34" charset="0"/>
                <a:ea typeface="IBM Plex Sans" pitchFamily="34" charset="-122"/>
                <a:cs typeface="IBM Plex Sans" pitchFamily="34" charset="-120"/>
              </a:rPr>
              <a:t>У наивного интервала ноль снаружи, у corrected внутри.</a:t>
            </a:r>
            <a:endParaRPr lang="en-US" sz="1400" dirty="0"/>
          </a:p>
        </p:txBody>
      </p:sp>
      <p:sp>
        <p:nvSpPr>
          <p:cNvPr id="20" name="Text 17"/>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21" name="Text 18"/>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04 · ГРУППОВОЕ СРАВНЕНИЕ</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Три модели на пятнадцати датасетах</a:t>
            </a:r>
            <a:endParaRPr lang="en-US" sz="3200" dirty="0"/>
          </a:p>
        </p:txBody>
      </p:sp>
      <p:sp>
        <p:nvSpPr>
          <p:cNvPr id="4" name="Text 2"/>
          <p:cNvSpPr/>
          <p:nvPr/>
        </p:nvSpPr>
        <p:spPr>
          <a:xfrm>
            <a:off x="812800" y="2226952"/>
            <a:ext cx="3662680"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A1A1A"/>
                </a:solidFill>
                <a:latin typeface="IBM Plex Sans" pitchFamily="34" charset="0"/>
                <a:ea typeface="IBM Plex Sans" pitchFamily="34" charset="-122"/>
                <a:cs typeface="IBM Plex Sans" pitchFamily="34" charset="-120"/>
              </a:rPr>
              <a:t>Фридман:</a:t>
            </a:r>
            <a:r>
              <a:rPr lang="en-US" sz="1600" dirty="0">
                <a:solidFill>
                  <a:srgbClr val="1A1A1A"/>
                </a:solidFill>
                <a:latin typeface="IBM Plex Sans" pitchFamily="34" charset="0"/>
                <a:ea typeface="IBM Plex Sans" pitchFamily="34" charset="-122"/>
                <a:cs typeface="IBM Plex Sans" pitchFamily="34" charset="-120"/>
              </a:rPr>
              <a:t> χ² = 1.32, p = 0.52. Различий между моделями нет.</a:t>
            </a:r>
            <a:endParaRPr lang="en-US" sz="1600" dirty="0"/>
          </a:p>
        </p:txBody>
      </p:sp>
      <p:sp>
        <p:nvSpPr>
          <p:cNvPr id="5" name="Text 3"/>
          <p:cNvSpPr/>
          <p:nvPr/>
        </p:nvSpPr>
        <p:spPr>
          <a:xfrm>
            <a:off x="812800" y="2948310"/>
            <a:ext cx="366268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A1A1A"/>
                </a:solidFill>
                <a:latin typeface="IBM Plex Sans" pitchFamily="34" charset="0"/>
                <a:ea typeface="IBM Plex Sans" pitchFamily="34" charset="-122"/>
                <a:cs typeface="IBM Plex Sans" pitchFamily="34" charset="-120"/>
              </a:rPr>
              <a:t>Ранги:</a:t>
            </a:r>
            <a:r>
              <a:rPr lang="en-US" sz="1600" dirty="0">
                <a:solidFill>
                  <a:srgbClr val="1A1A1A"/>
                </a:solidFill>
                <a:latin typeface="IBM Plex Sans" pitchFamily="34" charset="0"/>
                <a:ea typeface="IBM Plex Sans" pitchFamily="34" charset="-122"/>
                <a:cs typeface="IBM Plex Sans" pitchFamily="34" charset="-120"/>
              </a:rPr>
              <a:t> rf 1.83, hgb 1.93, logreg 2.23.</a:t>
            </a:r>
            <a:endParaRPr lang="en-US" sz="1600" dirty="0"/>
          </a:p>
        </p:txBody>
      </p:sp>
      <p:sp>
        <p:nvSpPr>
          <p:cNvPr id="6" name="Text 4"/>
          <p:cNvSpPr/>
          <p:nvPr/>
        </p:nvSpPr>
        <p:spPr>
          <a:xfrm>
            <a:off x="812800" y="3385183"/>
            <a:ext cx="3662680"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5F6670"/>
                </a:solidFill>
                <a:latin typeface="IBM Plex Sans" pitchFamily="34" charset="0"/>
                <a:ea typeface="IBM Plex Sans" pitchFamily="34" charset="-122"/>
                <a:cs typeface="IBM Plex Sans" pitchFamily="34" charset="-120"/>
              </a:rPr>
              <a:t>Неменьи:</a:t>
            </a:r>
            <a:r>
              <a:rPr lang="en-US" sz="1600" dirty="0">
                <a:solidFill>
                  <a:srgbClr val="5F6670"/>
                </a:solidFill>
                <a:latin typeface="IBM Plex Sans" pitchFamily="34" charset="0"/>
                <a:ea typeface="IBM Plex Sans" pitchFamily="34" charset="-122"/>
                <a:cs typeface="IBM Plex Sans" pitchFamily="34" charset="-120"/>
              </a:rPr>
              <a:t> все попарные p от 0.52 до 0.96.</a:t>
            </a:r>
            <a:endParaRPr lang="en-US" sz="1600" dirty="0"/>
          </a:p>
        </p:txBody>
      </p:sp>
      <p:pic>
        <p:nvPicPr>
          <p:cNvPr id="7" name="Image 0" descr="Диаграмма критических различий: rf 1.83, hgb 1.93, logreg 2.23, все три соединены одной перемычкой">    </p:cNvPr>
          <p:cNvPicPr>
            <a:picLocks noChangeAspect="1"/>
          </p:cNvPicPr>
          <p:nvPr/>
        </p:nvPicPr>
        <p:blipFill>
          <a:blip r:embed="rId1"/>
          <a:srcRect l="-62" r="-62" t="0" b="0"/>
          <a:stretch/>
        </p:blipFill>
        <p:spPr>
          <a:xfrm>
            <a:off x="4673600" y="1899927"/>
            <a:ext cx="6705600" cy="2381250"/>
          </a:xfrm>
          <a:prstGeom prst="rect">
            <a:avLst/>
          </a:prstGeom>
        </p:spPr>
      </p:pic>
      <p:sp>
        <p:nvSpPr>
          <p:cNvPr id="8" name="Text 5"/>
          <p:cNvSpPr/>
          <p:nvPr/>
        </p:nvSpPr>
        <p:spPr>
          <a:xfrm>
            <a:off x="812800" y="4484377"/>
            <a:ext cx="113792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6670"/>
                </a:solidFill>
                <a:latin typeface="IBM Plex Sans" pitchFamily="34" charset="0"/>
                <a:ea typeface="IBM Plex Sans" pitchFamily="34" charset="-122"/>
                <a:cs typeface="IBM Plex Sans" pitchFamily="34" charset="-120"/>
              </a:rPr>
              <a:t>Все три модели соединены одной перемычкой: статистически неразличимы. Единица наблюдения здесь датасет, а не фолд.</a:t>
            </a:r>
            <a:endParaRPr lang="en-US" sz="1400" dirty="0"/>
          </a:p>
        </p:txBody>
      </p:sp>
      <p:sp>
        <p:nvSpPr>
          <p:cNvPr id="9" name="Text 6"/>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10" name="Text 7"/>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04 · ГРУППОВОЕ СРАВНЕНИЕ</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Код: Фридман, Неменьи, ранги</a:t>
            </a:r>
            <a:endParaRPr lang="en-US" sz="3200" dirty="0"/>
          </a:p>
        </p:txBody>
      </p:sp>
      <p:sp>
        <p:nvSpPr>
          <p:cNvPr id="4" name="Shape 2"/>
          <p:cNvSpPr/>
          <p:nvPr/>
        </p:nvSpPr>
        <p:spPr>
          <a:xfrm>
            <a:off x="815975" y="1903102"/>
            <a:ext cx="6343650" cy="3300730"/>
          </a:xfrm>
          <a:prstGeom prst="roundRect">
            <a:avLst>
              <a:gd name="adj" fmla="val 2212"/>
            </a:avLst>
          </a:prstGeom>
          <a:solidFill>
            <a:srgbClr val="F1F1EC"/>
          </a:solidFill>
          <a:ln w="6350">
            <a:solidFill>
              <a:srgbClr val="DEDED6"/>
            </a:solidFill>
            <a:prstDash val="solid"/>
          </a:ln>
        </p:spPr>
      </p:sp>
      <p:sp>
        <p:nvSpPr>
          <p:cNvPr id="5" name="Text 3"/>
          <p:cNvSpPr/>
          <p:nvPr/>
        </p:nvSpPr>
        <p:spPr>
          <a:xfrm>
            <a:off x="1021080" y="20828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stat_f, p_f = friedmanchisquare(</a:t>
            </a:r>
            <a:endParaRPr lang="en-US" sz="1200" dirty="0"/>
          </a:p>
        </p:txBody>
      </p:sp>
      <p:sp>
        <p:nvSpPr>
          <p:cNvPr id="6" name="Text 4"/>
          <p:cNvSpPr/>
          <p:nvPr/>
        </p:nvSpPr>
        <p:spPr>
          <a:xfrm>
            <a:off x="1389380" y="2296158"/>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*[summary[m] </a:t>
            </a:r>
            <a:r>
              <a:rPr lang="en-US" sz="1200" dirty="0">
                <a:solidFill>
                  <a:srgbClr val="6639B7"/>
                </a:solidFill>
                <a:latin typeface="IBM Plex Mono" pitchFamily="49" charset="0"/>
                <a:ea typeface="IBM Plex Mono" pitchFamily="49" charset="-122"/>
                <a:cs typeface="IBM Plex Mono" pitchFamily="49" charset="-120"/>
              </a:rPr>
              <a:t>for</a:t>
            </a:r>
            <a:r>
              <a:rPr lang="en-US" sz="1200" dirty="0">
                <a:solidFill>
                  <a:srgbClr val="1A1A1A"/>
                </a:solidFill>
                <a:latin typeface="IBM Plex Mono" pitchFamily="49" charset="0"/>
                <a:ea typeface="IBM Plex Mono" pitchFamily="49" charset="-122"/>
                <a:cs typeface="IBM Plex Mono" pitchFamily="49" charset="-120"/>
              </a:rPr>
              <a:t> m </a:t>
            </a:r>
            <a:r>
              <a:rPr lang="en-US" sz="1200" dirty="0">
                <a:solidFill>
                  <a:srgbClr val="6639B7"/>
                </a:solidFill>
                <a:latin typeface="IBM Plex Mono" pitchFamily="49" charset="0"/>
                <a:ea typeface="IBM Plex Mono" pitchFamily="49" charset="-122"/>
                <a:cs typeface="IBM Plex Mono" pitchFamily="49" charset="-120"/>
              </a:rPr>
              <a:t>in</a:t>
            </a:r>
            <a:r>
              <a:rPr lang="en-US" sz="1200" dirty="0">
                <a:solidFill>
                  <a:srgbClr val="1A1A1A"/>
                </a:solidFill>
                <a:latin typeface="IBM Plex Mono" pitchFamily="49" charset="0"/>
                <a:ea typeface="IBM Plex Mono" pitchFamily="49" charset="-122"/>
                <a:cs typeface="IBM Plex Mono" pitchFamily="49" charset="-120"/>
              </a:rPr>
              <a:t> summary.columns])</a:t>
            </a:r>
            <a:endParaRPr lang="en-US" sz="1200" dirty="0"/>
          </a:p>
        </p:txBody>
      </p:sp>
      <p:sp>
        <p:nvSpPr>
          <p:cNvPr id="7" name="Text 5"/>
          <p:cNvSpPr/>
          <p:nvPr/>
        </p:nvSpPr>
        <p:spPr>
          <a:xfrm>
            <a:off x="1021080" y="2722885"/>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nemenyi = sp.posthoc_nemenyi_friedman(summary.values)</a:t>
            </a:r>
            <a:endParaRPr lang="en-US" sz="1200" dirty="0"/>
          </a:p>
        </p:txBody>
      </p:sp>
      <p:sp>
        <p:nvSpPr>
          <p:cNvPr id="8" name="Text 6"/>
          <p:cNvSpPr/>
          <p:nvPr/>
        </p:nvSpPr>
        <p:spPr>
          <a:xfrm>
            <a:off x="1021080" y="31496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ranks = summary.apply(</a:t>
            </a:r>
            <a:endParaRPr lang="en-US" sz="1200" dirty="0"/>
          </a:p>
        </p:txBody>
      </p:sp>
      <p:sp>
        <p:nvSpPr>
          <p:cNvPr id="9" name="Text 7"/>
          <p:cNvSpPr/>
          <p:nvPr/>
        </p:nvSpPr>
        <p:spPr>
          <a:xfrm>
            <a:off x="1389380" y="3362958"/>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IBM Plex Mono" pitchFamily="49" charset="0"/>
                <a:ea typeface="IBM Plex Mono" pitchFamily="49" charset="-122"/>
                <a:cs typeface="IBM Plex Mono" pitchFamily="49" charset="-120"/>
              </a:rPr>
              <a:t>lambda</a:t>
            </a:r>
            <a:r>
              <a:rPr lang="en-US" sz="1200" dirty="0">
                <a:solidFill>
                  <a:srgbClr val="1A1A1A"/>
                </a:solidFill>
                <a:latin typeface="IBM Plex Mono" pitchFamily="49" charset="0"/>
                <a:ea typeface="IBM Plex Mono" pitchFamily="49" charset="-122"/>
                <a:cs typeface="IBM Plex Mono" pitchFamily="49" charset="-120"/>
              </a:rPr>
              <a:t> row: rankdata(-row), axis=1, result_type=</a:t>
            </a:r>
            <a:r>
              <a:rPr lang="en-US" sz="1200" dirty="0">
                <a:solidFill>
                  <a:srgbClr val="116329"/>
                </a:solidFill>
                <a:latin typeface="IBM Plex Mono" pitchFamily="49" charset="0"/>
                <a:ea typeface="IBM Plex Mono" pitchFamily="49" charset="-122"/>
                <a:cs typeface="IBM Plex Mono" pitchFamily="49" charset="-120"/>
              </a:rPr>
              <a:t>"expand"</a:t>
            </a:r>
            <a:r>
              <a:rPr lang="en-US" sz="1200" dirty="0">
                <a:solidFill>
                  <a:srgbClr val="1A1A1A"/>
                </a:solidFill>
                <a:latin typeface="IBM Plex Mono" pitchFamily="49" charset="0"/>
                <a:ea typeface="IBM Plex Mono" pitchFamily="49" charset="-122"/>
                <a:cs typeface="IBM Plex Mono" pitchFamily="49" charset="-120"/>
              </a:rPr>
              <a:t>)</a:t>
            </a:r>
            <a:endParaRPr lang="en-US" sz="1200" dirty="0"/>
          </a:p>
        </p:txBody>
      </p:sp>
      <p:sp>
        <p:nvSpPr>
          <p:cNvPr id="10" name="Text 8"/>
          <p:cNvSpPr/>
          <p:nvPr/>
        </p:nvSpPr>
        <p:spPr>
          <a:xfrm>
            <a:off x="1021080" y="3576327"/>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avg_ranks = ranks.mean(axis=0)</a:t>
            </a:r>
            <a:endParaRPr lang="en-US" sz="1200" dirty="0"/>
          </a:p>
        </p:txBody>
      </p:sp>
      <p:sp>
        <p:nvSpPr>
          <p:cNvPr id="11" name="Text 9"/>
          <p:cNvSpPr/>
          <p:nvPr/>
        </p:nvSpPr>
        <p:spPr>
          <a:xfrm>
            <a:off x="1021080" y="4003042"/>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sp.critical_difference_diagram(avg_ranks, nemenyi)</a:t>
            </a:r>
            <a:endParaRPr lang="en-US" sz="1200" dirty="0"/>
          </a:p>
        </p:txBody>
      </p:sp>
      <p:sp>
        <p:nvSpPr>
          <p:cNvPr id="12" name="Text 10"/>
          <p:cNvSpPr/>
          <p:nvPr/>
        </p:nvSpPr>
        <p:spPr>
          <a:xfrm>
            <a:off x="7366000" y="1899927"/>
            <a:ext cx="41335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BM Plex Sans" pitchFamily="34" charset="0"/>
                <a:ea typeface="IBM Plex Sans" pitchFamily="34" charset="-122"/>
                <a:cs typeface="IBM Plex Sans" pitchFamily="34" charset="-120"/>
              </a:rPr>
              <a:t>rankdata(-row): ранг 1 получает модель с наибольшей accuracy.</a:t>
            </a:r>
            <a:endParaRPr lang="en-US" sz="1400" dirty="0"/>
          </a:p>
        </p:txBody>
      </p:sp>
      <p:sp>
        <p:nvSpPr>
          <p:cNvPr id="13" name="Shape 11"/>
          <p:cNvSpPr/>
          <p:nvPr/>
        </p:nvSpPr>
        <p:spPr>
          <a:xfrm>
            <a:off x="7366000" y="2524758"/>
            <a:ext cx="4013200" cy="680720"/>
          </a:xfrm>
          <a:prstGeom prst="roundRect">
            <a:avLst>
              <a:gd name="adj" fmla="val 11194"/>
            </a:avLst>
          </a:prstGeom>
          <a:solidFill>
            <a:srgbClr val="15202B"/>
          </a:solidFill>
          <a:ln/>
        </p:spPr>
      </p:sp>
      <p:sp>
        <p:nvSpPr>
          <p:cNvPr id="14" name="Text 12"/>
          <p:cNvSpPr/>
          <p:nvPr/>
        </p:nvSpPr>
        <p:spPr>
          <a:xfrm>
            <a:off x="7543800" y="2651758"/>
            <a:ext cx="3767328"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statistic = 1.32, p = 0.516</a:t>
            </a:r>
            <a:endParaRPr lang="en-US" sz="1200" dirty="0"/>
          </a:p>
        </p:txBody>
      </p:sp>
      <p:sp>
        <p:nvSpPr>
          <p:cNvPr id="15" name="Text 13"/>
          <p:cNvSpPr/>
          <p:nvPr/>
        </p:nvSpPr>
        <p:spPr>
          <a:xfrm>
            <a:off x="7543800" y="2865127"/>
            <a:ext cx="3767328"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ранги: logreg 2.23, rf 1.83, hgb 1.93</a:t>
            </a:r>
            <a:endParaRPr lang="en-US" sz="1200" dirty="0"/>
          </a:p>
        </p:txBody>
      </p:sp>
      <p:sp>
        <p:nvSpPr>
          <p:cNvPr id="16" name="Text 14"/>
          <p:cNvSpPr/>
          <p:nvPr/>
        </p:nvSpPr>
        <p:spPr>
          <a:xfrm>
            <a:off x="7366000" y="3332485"/>
            <a:ext cx="41335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p-value попарных сравнений (Неменьи):</a:t>
            </a:r>
            <a:endParaRPr lang="en-US" sz="1200" dirty="0"/>
          </a:p>
        </p:txBody>
      </p:sp>
      <p:sp>
        <p:nvSpPr>
          <p:cNvPr id="17" name="Shape 15"/>
          <p:cNvSpPr/>
          <p:nvPr/>
        </p:nvSpPr>
        <p:spPr>
          <a:xfrm>
            <a:off x="7366000" y="3672842"/>
            <a:ext cx="4013200" cy="1534160"/>
          </a:xfrm>
          <a:prstGeom prst="roundRect">
            <a:avLst>
              <a:gd name="adj" fmla="val 4967"/>
            </a:avLst>
          </a:prstGeom>
          <a:solidFill>
            <a:srgbClr val="15202B"/>
          </a:solidFill>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503160" y="3784602"/>
          <a:ext cx="3749040" cy="1320800"/>
        </p:xfrm>
        <a:graphic>
          <a:graphicData uri="http://schemas.openxmlformats.org/drawingml/2006/table">
            <a:tbl>
              <a:tblPr/>
              <a:tblGrid>
                <a:gridCol w="937260"/>
                <a:gridCol w="937260"/>
                <a:gridCol w="937260"/>
                <a:gridCol w="937260"/>
              </a:tblGrid>
              <a:tr h="330200">
                <a:tc>
                  <a:txBody>
                    <a:bodyPr/>
                    <a:lstStyle/>
                    <a:p>
                      <a:pPr indent="0" marL="0">
                        <a:lnSpc>
                          <a:spcPts val="1680"/>
                        </a:lnSpc>
                        <a:buNone/>
                      </a:pPr>
                      <a:r>
                        <a:rPr lang="en-US" sz="1200" b="1" dirty="0">
                          <a:solidFill>
                            <a:srgbClr val="E6EDF3"/>
                          </a:solidFill>
                          <a:latin typeface="IBM Plex Mono" pitchFamily="49" charset="0"/>
                          <a:ea typeface="IBM Plex Mono" pitchFamily="49" charset="-122"/>
                          <a:cs typeface="IBM Plex Mono" pitchFamily="49" charset="-120"/>
                        </a:rPr>
                        <a:t> </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c>
                  <a:txBody>
                    <a:bodyPr/>
                    <a:lstStyle/>
                    <a:p>
                      <a:pPr algn="r" indent="0" marL="0">
                        <a:lnSpc>
                          <a:spcPts val="1680"/>
                        </a:lnSpc>
                        <a:buNone/>
                      </a:pPr>
                      <a:r>
                        <a:rPr lang="en-US" sz="1200" b="1" dirty="0">
                          <a:solidFill>
                            <a:srgbClr val="E6EDF3"/>
                          </a:solidFill>
                          <a:latin typeface="IBM Plex Mono" pitchFamily="49" charset="0"/>
                          <a:ea typeface="IBM Plex Mono" pitchFamily="49" charset="-122"/>
                          <a:cs typeface="IBM Plex Mono" pitchFamily="49" charset="-120"/>
                        </a:rPr>
                        <a:t>logreg</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4"/>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c>
                  <a:txBody>
                    <a:bodyPr/>
                    <a:lstStyle/>
                    <a:p>
                      <a:pPr algn="r" indent="0" marL="0">
                        <a:lnSpc>
                          <a:spcPts val="1680"/>
                        </a:lnSpc>
                        <a:buNone/>
                      </a:pPr>
                      <a:r>
                        <a:rPr lang="en-US" sz="1200" b="1" dirty="0">
                          <a:solidFill>
                            <a:srgbClr val="E6EDF3"/>
                          </a:solidFill>
                          <a:latin typeface="IBM Plex Mono" pitchFamily="49" charset="0"/>
                          <a:ea typeface="IBM Plex Mono" pitchFamily="49" charset="-122"/>
                          <a:cs typeface="IBM Plex Mono" pitchFamily="49" charset="-120"/>
                        </a:rPr>
                        <a:t>rf</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4"/>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c>
                  <a:txBody>
                    <a:bodyPr/>
                    <a:lstStyle/>
                    <a:p>
                      <a:pPr algn="r" indent="0" marL="0">
                        <a:lnSpc>
                          <a:spcPts val="1680"/>
                        </a:lnSpc>
                        <a:buNone/>
                      </a:pPr>
                      <a:r>
                        <a:rPr lang="en-US" sz="1200" b="1" dirty="0">
                          <a:solidFill>
                            <a:srgbClr val="E6EDF3"/>
                          </a:solidFill>
                          <a:latin typeface="IBM Plex Mono" pitchFamily="49" charset="0"/>
                          <a:ea typeface="IBM Plex Mono" pitchFamily="49" charset="-122"/>
                          <a:cs typeface="IBM Plex Mono" pitchFamily="49" charset="-120"/>
                        </a:rPr>
                        <a:t>hgb</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4"/>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r>
              <a:tr h="330200">
                <a:tc>
                  <a:txBody>
                    <a:bodyPr/>
                    <a:lstStyle/>
                    <a:p>
                      <a:pP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logreg</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1.000</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0.517</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0.690</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rf</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0.517</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1.000</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0.960</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hgb</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0.690</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0.960</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1.000</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bl>
          </a:graphicData>
        </a:graphic>
      </p:graphicFrame>
      <p:sp>
        <p:nvSpPr>
          <p:cNvPr id="19" name="Text 16"/>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20" name="Text 17"/>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5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B8F0"/>
                </a:solidFill>
                <a:latin typeface="IBM Plex Sans" pitchFamily="34" charset="0"/>
                <a:ea typeface="IBM Plex Sans" pitchFamily="34" charset="-122"/>
                <a:cs typeface="IBM Plex Sans" pitchFamily="34" charset="-120"/>
              </a:rPr>
              <a:t>04 · ГРУППОВОЕ СРАВНЕНИЕ</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4F4EF"/>
                </a:solidFill>
                <a:latin typeface="IBM Plex Sans" pitchFamily="34" charset="0"/>
                <a:ea typeface="IBM Plex Sans" pitchFamily="34" charset="-122"/>
                <a:cs typeface="IBM Plex Sans" pitchFamily="34" charset="-120"/>
              </a:rPr>
              <a:t>Поправка Холма на множественные сравнения</a:t>
            </a:r>
            <a:endParaRPr lang="en-US" sz="3200" dirty="0"/>
          </a:p>
        </p:txBody>
      </p:sp>
      <p:sp>
        <p:nvSpPr>
          <p:cNvPr id="4" name="Shape 2"/>
          <p:cNvSpPr/>
          <p:nvPr/>
        </p:nvSpPr>
        <p:spPr>
          <a:xfrm>
            <a:off x="812800" y="1899927"/>
            <a:ext cx="2527300" cy="1374140"/>
          </a:xfrm>
          <a:prstGeom prst="roundRect">
            <a:avLst>
              <a:gd name="adj" fmla="val 7394"/>
            </a:avLst>
          </a:prstGeom>
          <a:solidFill>
            <a:srgbClr val="1F2D3B"/>
          </a:solidFill>
          <a:ln/>
        </p:spPr>
      </p:sp>
      <p:sp>
        <p:nvSpPr>
          <p:cNvPr id="5" name="Shape 3"/>
          <p:cNvSpPr/>
          <p:nvPr/>
        </p:nvSpPr>
        <p:spPr>
          <a:xfrm>
            <a:off x="812800" y="1899927"/>
            <a:ext cx="2527300" cy="1374140"/>
          </a:xfrm>
          <a:custGeom>
            <a:avLst/>
            <a:gdLst/>
            <a:ahLst/>
            <a:cxnLst/>
            <a:rect l="l" t="t" r="r" b="b"/>
            <a:pathLst>
              <a:path w="2527300" h="1374140">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2A78D6"/>
          </a:solidFill>
          <a:ln/>
        </p:spPr>
      </p:sp>
      <p:sp>
        <p:nvSpPr>
          <p:cNvPr id="6" name="Text 4"/>
          <p:cNvSpPr/>
          <p:nvPr/>
        </p:nvSpPr>
        <p:spPr>
          <a:xfrm>
            <a:off x="1016000" y="2179327"/>
            <a:ext cx="218452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FFFFF"/>
                </a:solidFill>
                <a:latin typeface="IBM Plex Sans" pitchFamily="34" charset="0"/>
                <a:ea typeface="IBM Plex Sans" pitchFamily="34" charset="-122"/>
                <a:cs typeface="IBM Plex Sans" pitchFamily="34" charset="-120"/>
              </a:rPr>
              <a:t>20 → 6</a:t>
            </a:r>
            <a:endParaRPr lang="en-US" sz="4400" dirty="0"/>
          </a:p>
        </p:txBody>
      </p:sp>
      <p:sp>
        <p:nvSpPr>
          <p:cNvPr id="7" name="Text 5"/>
          <p:cNvSpPr/>
          <p:nvPr/>
        </p:nvSpPr>
        <p:spPr>
          <a:xfrm>
            <a:off x="1016000" y="2814327"/>
            <a:ext cx="218452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9D2DB"/>
                </a:solidFill>
                <a:latin typeface="IBM Plex Sans" pitchFamily="34" charset="0"/>
                <a:ea typeface="IBM Plex Sans" pitchFamily="34" charset="-122"/>
                <a:cs typeface="IBM Plex Sans" pitchFamily="34" charset="-120"/>
              </a:rPr>
              <a:t>наивный</a:t>
            </a:r>
            <a:endParaRPr lang="en-US" sz="1400" dirty="0"/>
          </a:p>
        </p:txBody>
      </p:sp>
      <p:sp>
        <p:nvSpPr>
          <p:cNvPr id="8" name="Shape 6"/>
          <p:cNvSpPr/>
          <p:nvPr/>
        </p:nvSpPr>
        <p:spPr>
          <a:xfrm>
            <a:off x="3492500" y="1899927"/>
            <a:ext cx="2527300" cy="1374140"/>
          </a:xfrm>
          <a:prstGeom prst="roundRect">
            <a:avLst>
              <a:gd name="adj" fmla="val 7394"/>
            </a:avLst>
          </a:prstGeom>
          <a:solidFill>
            <a:srgbClr val="1F2D3B"/>
          </a:solidFill>
          <a:ln/>
        </p:spPr>
      </p:sp>
      <p:sp>
        <p:nvSpPr>
          <p:cNvPr id="9" name="Shape 7"/>
          <p:cNvSpPr/>
          <p:nvPr/>
        </p:nvSpPr>
        <p:spPr>
          <a:xfrm>
            <a:off x="3492500" y="1899927"/>
            <a:ext cx="2527300" cy="1374140"/>
          </a:xfrm>
          <a:custGeom>
            <a:avLst/>
            <a:gdLst/>
            <a:ahLst/>
            <a:cxnLst/>
            <a:rect l="l" t="t" r="r" b="b"/>
            <a:pathLst>
              <a:path w="2527300" h="1374140">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EB6834"/>
          </a:solidFill>
          <a:ln/>
        </p:spPr>
      </p:sp>
      <p:sp>
        <p:nvSpPr>
          <p:cNvPr id="10" name="Text 8"/>
          <p:cNvSpPr/>
          <p:nvPr/>
        </p:nvSpPr>
        <p:spPr>
          <a:xfrm>
            <a:off x="3695700" y="2179327"/>
            <a:ext cx="218452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FFFFF"/>
                </a:solidFill>
                <a:latin typeface="IBM Plex Sans" pitchFamily="34" charset="0"/>
                <a:ea typeface="IBM Plex Sans" pitchFamily="34" charset="-122"/>
                <a:cs typeface="IBM Plex Sans" pitchFamily="34" charset="-120"/>
              </a:rPr>
              <a:t>14 → 6</a:t>
            </a:r>
            <a:endParaRPr lang="en-US" sz="4400" dirty="0"/>
          </a:p>
        </p:txBody>
      </p:sp>
      <p:sp>
        <p:nvSpPr>
          <p:cNvPr id="11" name="Text 9"/>
          <p:cNvSpPr/>
          <p:nvPr/>
        </p:nvSpPr>
        <p:spPr>
          <a:xfrm>
            <a:off x="3695700" y="2814327"/>
            <a:ext cx="218452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9D2DB"/>
                </a:solidFill>
                <a:latin typeface="IBM Plex Sans" pitchFamily="34" charset="0"/>
                <a:ea typeface="IBM Plex Sans" pitchFamily="34" charset="-122"/>
                <a:cs typeface="IBM Plex Sans" pitchFamily="34" charset="-120"/>
              </a:rPr>
              <a:t>corrected</a:t>
            </a:r>
            <a:endParaRPr lang="en-US" sz="1400" dirty="0"/>
          </a:p>
        </p:txBody>
      </p:sp>
      <p:sp>
        <p:nvSpPr>
          <p:cNvPr id="12" name="Shape 10"/>
          <p:cNvSpPr/>
          <p:nvPr/>
        </p:nvSpPr>
        <p:spPr>
          <a:xfrm>
            <a:off x="6172200" y="1899927"/>
            <a:ext cx="2527300" cy="1374140"/>
          </a:xfrm>
          <a:prstGeom prst="roundRect">
            <a:avLst>
              <a:gd name="adj" fmla="val 7394"/>
            </a:avLst>
          </a:prstGeom>
          <a:solidFill>
            <a:srgbClr val="1F2D3B"/>
          </a:solidFill>
          <a:ln/>
        </p:spPr>
      </p:sp>
      <p:sp>
        <p:nvSpPr>
          <p:cNvPr id="13" name="Shape 11"/>
          <p:cNvSpPr/>
          <p:nvPr/>
        </p:nvSpPr>
        <p:spPr>
          <a:xfrm>
            <a:off x="6172200" y="1899927"/>
            <a:ext cx="2527300" cy="1374140"/>
          </a:xfrm>
          <a:custGeom>
            <a:avLst/>
            <a:gdLst/>
            <a:ahLst/>
            <a:cxnLst/>
            <a:rect l="l" t="t" r="r" b="b"/>
            <a:pathLst>
              <a:path w="2527300" h="1374140">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1BAF7A"/>
          </a:solidFill>
          <a:ln/>
        </p:spPr>
      </p:sp>
      <p:sp>
        <p:nvSpPr>
          <p:cNvPr id="14" name="Text 12"/>
          <p:cNvSpPr/>
          <p:nvPr/>
        </p:nvSpPr>
        <p:spPr>
          <a:xfrm>
            <a:off x="6375400" y="2179327"/>
            <a:ext cx="218452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FFFFF"/>
                </a:solidFill>
                <a:latin typeface="IBM Plex Sans" pitchFamily="34" charset="0"/>
                <a:ea typeface="IBM Plex Sans" pitchFamily="34" charset="-122"/>
                <a:cs typeface="IBM Plex Sans" pitchFamily="34" charset="-120"/>
              </a:rPr>
              <a:t>9 → 3</a:t>
            </a:r>
            <a:endParaRPr lang="en-US" sz="4400" dirty="0"/>
          </a:p>
        </p:txBody>
      </p:sp>
      <p:sp>
        <p:nvSpPr>
          <p:cNvPr id="15" name="Text 13"/>
          <p:cNvSpPr/>
          <p:nvPr/>
        </p:nvSpPr>
        <p:spPr>
          <a:xfrm>
            <a:off x="6375400" y="2814327"/>
            <a:ext cx="218452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9D2DB"/>
                </a:solidFill>
                <a:latin typeface="IBM Plex Sans" pitchFamily="34" charset="0"/>
                <a:ea typeface="IBM Plex Sans" pitchFamily="34" charset="-122"/>
                <a:cs typeface="IBM Plex Sans" pitchFamily="34" charset="-120"/>
              </a:rPr>
              <a:t>5×2cv</a:t>
            </a:r>
            <a:endParaRPr lang="en-US" sz="1400" dirty="0"/>
          </a:p>
        </p:txBody>
      </p:sp>
      <p:sp>
        <p:nvSpPr>
          <p:cNvPr id="16" name="Shape 14"/>
          <p:cNvSpPr/>
          <p:nvPr/>
        </p:nvSpPr>
        <p:spPr>
          <a:xfrm>
            <a:off x="8851900" y="1899927"/>
            <a:ext cx="2527300" cy="1374140"/>
          </a:xfrm>
          <a:prstGeom prst="roundRect">
            <a:avLst>
              <a:gd name="adj" fmla="val 7394"/>
            </a:avLst>
          </a:prstGeom>
          <a:solidFill>
            <a:srgbClr val="1F2D3B"/>
          </a:solidFill>
          <a:ln/>
        </p:spPr>
      </p:sp>
      <p:sp>
        <p:nvSpPr>
          <p:cNvPr id="17" name="Shape 15"/>
          <p:cNvSpPr/>
          <p:nvPr/>
        </p:nvSpPr>
        <p:spPr>
          <a:xfrm>
            <a:off x="8851900" y="1899927"/>
            <a:ext cx="2527300" cy="1374140"/>
          </a:xfrm>
          <a:custGeom>
            <a:avLst/>
            <a:gdLst/>
            <a:ahLst/>
            <a:cxnLst/>
            <a:rect l="l" t="t" r="r" b="b"/>
            <a:pathLst>
              <a:path w="2527300" h="1374140">
                <a:moveTo>
                  <a:pt x="0" y="101600"/>
                </a:moveTo>
                <a:lnTo>
                  <a:pt x="0" y="101600"/>
                </a:lnTo>
                <a:arcTo hR="101600" wR="101600" stAng="10800000" swAng="5400000"/>
                <a:lnTo>
                  <a:pt x="2425700" y="0"/>
                </a:lnTo>
                <a:arcTo hR="101600" wR="101600" stAng="16200000" swAng="5400000"/>
                <a:lnTo>
                  <a:pt x="2527300" y="101600"/>
                </a:lnTo>
                <a:arcTo hR="50800" wR="101600" stAng="0" swAng="-5400000"/>
                <a:lnTo>
                  <a:pt x="101600" y="50800"/>
                </a:lnTo>
                <a:arcTo hR="50800" wR="101600" stAng="16200000" swAng="-5400000"/>
                <a:close/>
              </a:path>
            </a:pathLst>
          </a:custGeom>
          <a:solidFill>
            <a:srgbClr val="EDA100"/>
          </a:solidFill>
          <a:ln/>
        </p:spPr>
      </p:sp>
      <p:sp>
        <p:nvSpPr>
          <p:cNvPr id="18" name="Text 16"/>
          <p:cNvSpPr/>
          <p:nvPr/>
        </p:nvSpPr>
        <p:spPr>
          <a:xfrm>
            <a:off x="9055100" y="2179327"/>
            <a:ext cx="2184527"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FFFFF"/>
                </a:solidFill>
                <a:latin typeface="IBM Plex Sans" pitchFamily="34" charset="0"/>
                <a:ea typeface="IBM Plex Sans" pitchFamily="34" charset="-122"/>
                <a:cs typeface="IBM Plex Sans" pitchFamily="34" charset="-120"/>
              </a:rPr>
              <a:t>7 → 6</a:t>
            </a:r>
            <a:endParaRPr lang="en-US" sz="4400" dirty="0"/>
          </a:p>
        </p:txBody>
      </p:sp>
      <p:sp>
        <p:nvSpPr>
          <p:cNvPr id="19" name="Text 17"/>
          <p:cNvSpPr/>
          <p:nvPr/>
        </p:nvSpPr>
        <p:spPr>
          <a:xfrm>
            <a:off x="9055100" y="2814327"/>
            <a:ext cx="218452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9D2DB"/>
                </a:solidFill>
                <a:latin typeface="IBM Plex Sans" pitchFamily="34" charset="0"/>
                <a:ea typeface="IBM Plex Sans" pitchFamily="34" charset="-122"/>
                <a:cs typeface="IBM Plex Sans" pitchFamily="34" charset="-120"/>
              </a:rPr>
              <a:t>McNemar</a:t>
            </a:r>
            <a:endParaRPr lang="en-US" sz="1400" dirty="0"/>
          </a:p>
        </p:txBody>
      </p:sp>
      <p:sp>
        <p:nvSpPr>
          <p:cNvPr id="20" name="Text 18"/>
          <p:cNvSpPr/>
          <p:nvPr/>
        </p:nvSpPr>
        <p:spPr>
          <a:xfrm>
            <a:off x="812800" y="3477258"/>
            <a:ext cx="10883392"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4F4EF"/>
                </a:solidFill>
                <a:latin typeface="IBM Plex Sans" pitchFamily="34" charset="0"/>
                <a:ea typeface="IBM Plex Sans" pitchFamily="34" charset="-122"/>
                <a:cs typeface="IBM Plex Sans" pitchFamily="34" charset="-120"/>
              </a:rPr>
              <a:t>Значимых сравнений из 45 до и после поправки. У наивного и corrected тестов остаются одни и те же 6: segment, spambase и все три пары на phoneme.</a:t>
            </a:r>
            <a:endParaRPr lang="en-US" sz="1800" dirty="0"/>
          </a:p>
        </p:txBody>
      </p:sp>
      <p:sp>
        <p:nvSpPr>
          <p:cNvPr id="21" name="Text 19"/>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8C2"/>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22" name="Text 20"/>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8C2"/>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04 · ГРУППОВОЕ СРАВНЕНИЕ</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Код: поправка Холма</a:t>
            </a:r>
            <a:endParaRPr lang="en-US" sz="3200" dirty="0"/>
          </a:p>
        </p:txBody>
      </p:sp>
      <p:sp>
        <p:nvSpPr>
          <p:cNvPr id="4" name="Shape 2"/>
          <p:cNvSpPr/>
          <p:nvPr/>
        </p:nvSpPr>
        <p:spPr>
          <a:xfrm>
            <a:off x="815975" y="1903102"/>
            <a:ext cx="6343650" cy="2279650"/>
          </a:xfrm>
          <a:prstGeom prst="roundRect">
            <a:avLst>
              <a:gd name="adj" fmla="val 3203"/>
            </a:avLst>
          </a:prstGeom>
          <a:solidFill>
            <a:srgbClr val="F1F1EC"/>
          </a:solidFill>
          <a:ln w="6350">
            <a:solidFill>
              <a:srgbClr val="DEDED6"/>
            </a:solidFill>
            <a:prstDash val="solid"/>
          </a:ln>
        </p:spPr>
      </p:sp>
      <p:sp>
        <p:nvSpPr>
          <p:cNvPr id="5" name="Text 3"/>
          <p:cNvSpPr/>
          <p:nvPr/>
        </p:nvSpPr>
        <p:spPr>
          <a:xfrm>
            <a:off x="1021080" y="20828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holm_rows = []</a:t>
            </a:r>
            <a:endParaRPr lang="en-US" sz="1200" dirty="0"/>
          </a:p>
        </p:txBody>
      </p:sp>
      <p:sp>
        <p:nvSpPr>
          <p:cNvPr id="6" name="Text 4"/>
          <p:cNvSpPr/>
          <p:nvPr/>
        </p:nvSpPr>
        <p:spPr>
          <a:xfrm>
            <a:off x="1021080" y="2296158"/>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IBM Plex Mono" pitchFamily="49" charset="0"/>
                <a:ea typeface="IBM Plex Mono" pitchFamily="49" charset="-122"/>
                <a:cs typeface="IBM Plex Mono" pitchFamily="49" charset="-120"/>
              </a:rPr>
              <a:t>for</a:t>
            </a:r>
            <a:r>
              <a:rPr lang="en-US" sz="1200" dirty="0">
                <a:solidFill>
                  <a:srgbClr val="1A1A1A"/>
                </a:solidFill>
                <a:latin typeface="IBM Plex Mono" pitchFamily="49" charset="0"/>
                <a:ea typeface="IBM Plex Mono" pitchFamily="49" charset="-122"/>
                <a:cs typeface="IBM Plex Mono" pitchFamily="49" charset="-120"/>
              </a:rPr>
              <a:t> t </a:t>
            </a:r>
            <a:r>
              <a:rPr lang="en-US" sz="1200" dirty="0">
                <a:solidFill>
                  <a:srgbClr val="6639B7"/>
                </a:solidFill>
                <a:latin typeface="IBM Plex Mono" pitchFamily="49" charset="0"/>
                <a:ea typeface="IBM Plex Mono" pitchFamily="49" charset="-122"/>
                <a:cs typeface="IBM Plex Mono" pitchFamily="49" charset="-120"/>
              </a:rPr>
              <a:t>in</a:t>
            </a:r>
            <a:r>
              <a:rPr lang="en-US" sz="1200" dirty="0">
                <a:solidFill>
                  <a:srgbClr val="1A1A1A"/>
                </a:solidFill>
                <a:latin typeface="IBM Plex Mono" pitchFamily="49" charset="0"/>
                <a:ea typeface="IBM Plex Mono" pitchFamily="49" charset="-122"/>
                <a:cs typeface="IBM Plex Mono" pitchFamily="49" charset="-120"/>
              </a:rPr>
              <a:t> TESTS:</a:t>
            </a:r>
            <a:endParaRPr lang="en-US" sz="1200" dirty="0"/>
          </a:p>
        </p:txBody>
      </p:sp>
      <p:sp>
        <p:nvSpPr>
          <p:cNvPr id="7" name="Text 5"/>
          <p:cNvSpPr/>
          <p:nvPr/>
        </p:nvSpPr>
        <p:spPr>
          <a:xfrm>
            <a:off x="1389380" y="2509527"/>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reject, p_adj, _, _ = multipletests(</a:t>
            </a:r>
            <a:endParaRPr lang="en-US" sz="1200" dirty="0"/>
          </a:p>
        </p:txBody>
      </p:sp>
      <p:sp>
        <p:nvSpPr>
          <p:cNvPr id="8" name="Text 6"/>
          <p:cNvSpPr/>
          <p:nvPr/>
        </p:nvSpPr>
        <p:spPr>
          <a:xfrm>
            <a:off x="1751330" y="2722885"/>
            <a:ext cx="5359286"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all_pairs[t], alpha=0.05, method=</a:t>
            </a:r>
            <a:r>
              <a:rPr lang="en-US" sz="1200" dirty="0">
                <a:solidFill>
                  <a:srgbClr val="116329"/>
                </a:solidFill>
                <a:latin typeface="IBM Plex Mono" pitchFamily="49" charset="0"/>
                <a:ea typeface="IBM Plex Mono" pitchFamily="49" charset="-122"/>
                <a:cs typeface="IBM Plex Mono" pitchFamily="49" charset="-120"/>
              </a:rPr>
              <a:t>"holm"</a:t>
            </a:r>
            <a:r>
              <a:rPr lang="en-US" sz="1200" dirty="0">
                <a:solidFill>
                  <a:srgbClr val="1A1A1A"/>
                </a:solidFill>
                <a:latin typeface="IBM Plex Mono" pitchFamily="49" charset="0"/>
                <a:ea typeface="IBM Plex Mono" pitchFamily="49" charset="-122"/>
                <a:cs typeface="IBM Plex Mono" pitchFamily="49" charset="-120"/>
              </a:rPr>
              <a:t>)</a:t>
            </a:r>
            <a:endParaRPr lang="en-US" sz="1200" dirty="0"/>
          </a:p>
        </p:txBody>
      </p:sp>
      <p:sp>
        <p:nvSpPr>
          <p:cNvPr id="9" name="Text 7"/>
          <p:cNvSpPr/>
          <p:nvPr/>
        </p:nvSpPr>
        <p:spPr>
          <a:xfrm>
            <a:off x="1389380" y="2936242"/>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holm_rows.append({</a:t>
            </a:r>
            <a:endParaRPr lang="en-US" sz="1200" dirty="0"/>
          </a:p>
        </p:txBody>
      </p:sp>
      <p:sp>
        <p:nvSpPr>
          <p:cNvPr id="10" name="Text 8"/>
          <p:cNvSpPr/>
          <p:nvPr/>
        </p:nvSpPr>
        <p:spPr>
          <a:xfrm>
            <a:off x="1751330" y="3149600"/>
            <a:ext cx="5359286"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IBM Plex Mono" pitchFamily="49" charset="0"/>
                <a:ea typeface="IBM Plex Mono" pitchFamily="49" charset="-122"/>
                <a:cs typeface="IBM Plex Mono" pitchFamily="49" charset="-120"/>
              </a:rPr>
              <a:t>"тест"</a:t>
            </a:r>
            <a:r>
              <a:rPr lang="en-US" sz="1200" dirty="0">
                <a:solidFill>
                  <a:srgbClr val="1A1A1A"/>
                </a:solidFill>
                <a:latin typeface="IBM Plex Mono" pitchFamily="49" charset="0"/>
                <a:ea typeface="IBM Plex Mono" pitchFamily="49" charset="-122"/>
                <a:cs typeface="IBM Plex Mono" pitchFamily="49" charset="-120"/>
              </a:rPr>
              <a:t>: t,</a:t>
            </a:r>
            <a:endParaRPr lang="en-US" sz="1200" dirty="0"/>
          </a:p>
        </p:txBody>
      </p:sp>
      <p:sp>
        <p:nvSpPr>
          <p:cNvPr id="11" name="Text 9"/>
          <p:cNvSpPr/>
          <p:nvPr/>
        </p:nvSpPr>
        <p:spPr>
          <a:xfrm>
            <a:off x="1751330" y="3362958"/>
            <a:ext cx="5359286"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IBM Plex Mono" pitchFamily="49" charset="0"/>
                <a:ea typeface="IBM Plex Mono" pitchFamily="49" charset="-122"/>
                <a:cs typeface="IBM Plex Mono" pitchFamily="49" charset="-120"/>
              </a:rPr>
              <a:t>"до"</a:t>
            </a:r>
            <a:r>
              <a:rPr lang="en-US" sz="1200" dirty="0">
                <a:solidFill>
                  <a:srgbClr val="1A1A1A"/>
                </a:solidFill>
                <a:latin typeface="IBM Plex Mono" pitchFamily="49" charset="0"/>
                <a:ea typeface="IBM Plex Mono" pitchFamily="49" charset="-122"/>
                <a:cs typeface="IBM Plex Mono" pitchFamily="49" charset="-120"/>
              </a:rPr>
              <a:t>: int((all_pairs[t] &lt; 0.05).sum()),</a:t>
            </a:r>
            <a:endParaRPr lang="en-US" sz="1200" dirty="0"/>
          </a:p>
        </p:txBody>
      </p:sp>
      <p:sp>
        <p:nvSpPr>
          <p:cNvPr id="12" name="Text 10"/>
          <p:cNvSpPr/>
          <p:nvPr/>
        </p:nvSpPr>
        <p:spPr>
          <a:xfrm>
            <a:off x="1751330" y="3576327"/>
            <a:ext cx="5359286"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16329"/>
                </a:solidFill>
                <a:latin typeface="IBM Plex Mono" pitchFamily="49" charset="0"/>
                <a:ea typeface="IBM Plex Mono" pitchFamily="49" charset="-122"/>
                <a:cs typeface="IBM Plex Mono" pitchFamily="49" charset="-120"/>
              </a:rPr>
              <a:t>"после"</a:t>
            </a:r>
            <a:r>
              <a:rPr lang="en-US" sz="1200" dirty="0">
                <a:solidFill>
                  <a:srgbClr val="1A1A1A"/>
                </a:solidFill>
                <a:latin typeface="IBM Plex Mono" pitchFamily="49" charset="0"/>
                <a:ea typeface="IBM Plex Mono" pitchFamily="49" charset="-122"/>
                <a:cs typeface="IBM Plex Mono" pitchFamily="49" charset="-120"/>
              </a:rPr>
              <a:t>: int(reject.sum()),</a:t>
            </a:r>
            <a:endParaRPr lang="en-US" sz="1200" dirty="0"/>
          </a:p>
        </p:txBody>
      </p:sp>
      <p:sp>
        <p:nvSpPr>
          <p:cNvPr id="13" name="Text 11"/>
          <p:cNvSpPr/>
          <p:nvPr/>
        </p:nvSpPr>
        <p:spPr>
          <a:xfrm>
            <a:off x="1389380" y="3789685"/>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a:t>
            </a:r>
            <a:endParaRPr lang="en-US" sz="1200" dirty="0"/>
          </a:p>
        </p:txBody>
      </p:sp>
      <p:sp>
        <p:nvSpPr>
          <p:cNvPr id="14" name="Text 12"/>
          <p:cNvSpPr/>
          <p:nvPr/>
        </p:nvSpPr>
        <p:spPr>
          <a:xfrm>
            <a:off x="7366000" y="1899927"/>
            <a:ext cx="41335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BM Plex Sans" pitchFamily="34" charset="0"/>
                <a:ea typeface="IBM Plex Sans" pitchFamily="34" charset="-122"/>
                <a:cs typeface="IBM Plex Sans" pitchFamily="34" charset="-120"/>
              </a:rPr>
              <a:t>Поправка применяется к каждому тесту отдельно: 45 p-value на тест.</a:t>
            </a:r>
            <a:endParaRPr lang="en-US" sz="1400" dirty="0"/>
          </a:p>
        </p:txBody>
      </p:sp>
      <p:sp>
        <p:nvSpPr>
          <p:cNvPr id="15" name="Text 13"/>
          <p:cNvSpPr/>
          <p:nvPr/>
        </p:nvSpPr>
        <p:spPr>
          <a:xfrm>
            <a:off x="7366000" y="2524758"/>
            <a:ext cx="41335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Результат:</a:t>
            </a:r>
            <a:endParaRPr lang="en-US" sz="1200" dirty="0"/>
          </a:p>
        </p:txBody>
      </p:sp>
      <p:sp>
        <p:nvSpPr>
          <p:cNvPr id="16" name="Shape 14"/>
          <p:cNvSpPr/>
          <p:nvPr/>
        </p:nvSpPr>
        <p:spPr>
          <a:xfrm>
            <a:off x="7366000" y="2865127"/>
            <a:ext cx="4013200" cy="1915160"/>
          </a:xfrm>
          <a:prstGeom prst="roundRect">
            <a:avLst>
              <a:gd name="adj" fmla="val 3979"/>
            </a:avLst>
          </a:prstGeom>
          <a:solidFill>
            <a:srgbClr val="15202B"/>
          </a:solidFill>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528560" y="3002287"/>
          <a:ext cx="3698240" cy="1651000"/>
        </p:xfrm>
        <a:graphic>
          <a:graphicData uri="http://schemas.openxmlformats.org/drawingml/2006/table">
            <a:tbl>
              <a:tblPr/>
              <a:tblGrid>
                <a:gridCol w="1232747"/>
                <a:gridCol w="1232747"/>
                <a:gridCol w="1232747"/>
              </a:tblGrid>
              <a:tr h="330200">
                <a:tc>
                  <a:txBody>
                    <a:bodyPr/>
                    <a:lstStyle/>
                    <a:p>
                      <a:pPr indent="0" marL="0">
                        <a:lnSpc>
                          <a:spcPts val="1680"/>
                        </a:lnSpc>
                        <a:buNone/>
                      </a:pPr>
                      <a:r>
                        <a:rPr lang="en-US" sz="1200" b="1" dirty="0">
                          <a:solidFill>
                            <a:srgbClr val="E6EDF3"/>
                          </a:solidFill>
                          <a:latin typeface="IBM Plex Mono" pitchFamily="49" charset="0"/>
                          <a:ea typeface="IBM Plex Mono" pitchFamily="49" charset="-122"/>
                          <a:cs typeface="IBM Plex Mono" pitchFamily="49" charset="-120"/>
                        </a:rPr>
                        <a:t>тест</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c>
                  <a:txBody>
                    <a:bodyPr/>
                    <a:lstStyle/>
                    <a:p>
                      <a:pPr algn="r" indent="0" marL="0">
                        <a:lnSpc>
                          <a:spcPts val="1680"/>
                        </a:lnSpc>
                        <a:buNone/>
                      </a:pPr>
                      <a:r>
                        <a:rPr lang="en-US" sz="1200" b="1" dirty="0">
                          <a:solidFill>
                            <a:srgbClr val="E6EDF3"/>
                          </a:solidFill>
                          <a:latin typeface="IBM Plex Mono" pitchFamily="49" charset="0"/>
                          <a:ea typeface="IBM Plex Mono" pitchFamily="49" charset="-122"/>
                          <a:cs typeface="IBM Plex Mono" pitchFamily="49" charset="-120"/>
                        </a:rPr>
                        <a:t>до</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4"/>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c>
                  <a:txBody>
                    <a:bodyPr/>
                    <a:lstStyle/>
                    <a:p>
                      <a:pPr algn="r" indent="0" marL="0">
                        <a:lnSpc>
                          <a:spcPts val="1680"/>
                        </a:lnSpc>
                        <a:buNone/>
                      </a:pPr>
                      <a:r>
                        <a:rPr lang="en-US" sz="1200" b="1" dirty="0">
                          <a:solidFill>
                            <a:srgbClr val="E6EDF3"/>
                          </a:solidFill>
                          <a:latin typeface="IBM Plex Mono" pitchFamily="49" charset="0"/>
                          <a:ea typeface="IBM Plex Mono" pitchFamily="49" charset="-122"/>
                          <a:cs typeface="IBM Plex Mono" pitchFamily="49" charset="-120"/>
                        </a:rPr>
                        <a:t>после</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4"/>
                      </a:solidFill>
                      <a:prstDash val="solid"/>
                      <a:round/>
                      <a:headEnd type="none" w="med" len="med"/>
                      <a:tailEnd type="none" w="med" len="med"/>
                    </a:lnL>
                    <a:lnR w="12700" cap="flat" cmpd="sng" algn="ctr">
                      <a:solidFill>
                        <a:srgbClr val="151D24"/>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4"/>
                      </a:solidFill>
                      <a:prstDash val="solid"/>
                      <a:round/>
                      <a:headEnd type="none" w="med" len="med"/>
                      <a:tailEnd type="none" w="med" len="med"/>
                    </a:lnB>
                    <a:solidFill>
                      <a:srgbClr val="151F29"/>
                    </a:solidFill>
                  </a:tcPr>
                </a:tc>
              </a:tr>
              <a:tr h="330200">
                <a:tc>
                  <a:txBody>
                    <a:bodyPr/>
                    <a:lstStyle/>
                    <a:p>
                      <a:pP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naive</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20</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6</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4"/>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corrected</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14</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6</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5x2cv</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9</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3</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r h="330200">
                <a:tc>
                  <a:txBody>
                    <a:bodyPr/>
                    <a:lstStyle/>
                    <a:p>
                      <a:pP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McNemar</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7</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c>
                  <a:txBody>
                    <a:bodyPr/>
                    <a:lstStyle/>
                    <a:p>
                      <a:pPr algn="r" indent="0" marL="0">
                        <a:lnSpc>
                          <a:spcPts val="1680"/>
                        </a:lnSpc>
                        <a:buNone/>
                      </a:pPr>
                      <a:r>
                        <a:rPr lang="en-US" sz="1200" dirty="0">
                          <a:solidFill>
                            <a:srgbClr val="E6EDF3"/>
                          </a:solidFill>
                          <a:latin typeface="IBM Plex Mono" pitchFamily="49" charset="0"/>
                          <a:ea typeface="IBM Plex Mono" pitchFamily="49" charset="-122"/>
                          <a:cs typeface="IBM Plex Mono" pitchFamily="49" charset="-120"/>
                        </a:rPr>
                        <a:t>6</a:t>
                      </a:r>
                      <a:endParaRPr lang="en-US" sz="1200" dirty="0">
                        <a:latin typeface="IBM Plex Mono" charset="0"/>
                        <a:ea typeface="IBM Plex Mono" charset="0"/>
                        <a:cs typeface="IBM Plex Mono" charset="0"/>
                      </a:endParaRPr>
                    </a:p>
                  </a:txBody>
                  <a:tcPr marL="53340" marR="53340" marT="53340" marB="53340" anchor="t">
                    <a:lnL w="12700" cap="flat" cmpd="sng" algn="ctr">
                      <a:solidFill>
                        <a:srgbClr val="151D26"/>
                      </a:solidFill>
                      <a:prstDash val="solid"/>
                      <a:round/>
                      <a:headEnd type="none" w="med" len="med"/>
                      <a:tailEnd type="none" w="med" len="med"/>
                    </a:lnL>
                    <a:lnR w="12700" cap="flat" cmpd="sng" algn="ctr">
                      <a:solidFill>
                        <a:srgbClr val="151D26"/>
                      </a:solidFill>
                      <a:prstDash val="solid"/>
                      <a:round/>
                      <a:headEnd type="none" w="med" len="med"/>
                      <a:tailEnd type="none" w="med" len="med"/>
                    </a:lnR>
                    <a:lnT w="12700" cap="flat" cmpd="sng" algn="ctr">
                      <a:solidFill>
                        <a:srgbClr val="151D26"/>
                      </a:solidFill>
                      <a:prstDash val="solid"/>
                      <a:round/>
                      <a:headEnd type="none" w="med" len="med"/>
                      <a:tailEnd type="none" w="med" len="med"/>
                    </a:lnT>
                    <a:lnB w="12700" cap="flat" cmpd="sng" algn="ctr">
                      <a:solidFill>
                        <a:srgbClr val="151D26"/>
                      </a:solidFill>
                      <a:prstDash val="solid"/>
                      <a:round/>
                      <a:headEnd type="none" w="med" len="med"/>
                      <a:tailEnd type="none" w="med" len="med"/>
                    </a:lnB>
                  </a:tcPr>
                </a:tc>
              </a:tr>
            </a:tbl>
          </a:graphicData>
        </a:graphic>
      </p:graphicFrame>
      <p:sp>
        <p:nvSpPr>
          <p:cNvPr id="18" name="Text 1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19" name="Text 16"/>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05 · СИМУЛЯЦИЯ</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Проверка на данных с известным ответом</a:t>
            </a:r>
            <a:endParaRPr lang="en-US" sz="3200" dirty="0"/>
          </a:p>
        </p:txBody>
      </p:sp>
      <p:sp>
        <p:nvSpPr>
          <p:cNvPr id="4" name="Shape 2"/>
          <p:cNvSpPr/>
          <p:nvPr/>
        </p:nvSpPr>
        <p:spPr>
          <a:xfrm>
            <a:off x="812800" y="1899927"/>
            <a:ext cx="5181600" cy="3030220"/>
          </a:xfrm>
          <a:prstGeom prst="roundRect">
            <a:avLst>
              <a:gd name="adj" fmla="val 3353"/>
            </a:avLst>
          </a:prstGeom>
          <a:solidFill>
            <a:srgbClr val="F1F1EC"/>
          </a:solidFill>
          <a:ln/>
        </p:spPr>
      </p:sp>
      <p:sp>
        <p:nvSpPr>
          <p:cNvPr id="5" name="Text 3"/>
          <p:cNvSpPr/>
          <p:nvPr/>
        </p:nvSpPr>
        <p:spPr>
          <a:xfrm>
            <a:off x="1066800" y="2153927"/>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IBM Plex Sans" pitchFamily="34" charset="0"/>
                <a:ea typeface="IBM Plex Sans" pitchFamily="34" charset="-122"/>
                <a:cs typeface="IBM Plex Sans" pitchFamily="34" charset="-120"/>
              </a:rPr>
              <a:t>Два сценария</a:t>
            </a:r>
            <a:endParaRPr lang="en-US" sz="1800" dirty="0"/>
          </a:p>
        </p:txBody>
      </p:sp>
      <p:sp>
        <p:nvSpPr>
          <p:cNvPr id="6" name="Text 4"/>
          <p:cNvSpPr/>
          <p:nvPr/>
        </p:nvSpPr>
        <p:spPr>
          <a:xfrm>
            <a:off x="1066800" y="2555242"/>
            <a:ext cx="4813808"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A1A1A"/>
                </a:solidFill>
                <a:latin typeface="IBM Plex Sans" pitchFamily="34" charset="0"/>
                <a:ea typeface="IBM Plex Sans" pitchFamily="34" charset="-122"/>
                <a:cs typeface="IBM Plex Sans" pitchFamily="34" charset="-120"/>
              </a:rPr>
              <a:t>H₀:</a:t>
            </a:r>
            <a:r>
              <a:rPr lang="en-US" sz="1500" dirty="0">
                <a:solidFill>
                  <a:srgbClr val="1A1A1A"/>
                </a:solidFill>
                <a:latin typeface="IBM Plex Sans" pitchFamily="34" charset="0"/>
                <a:ea typeface="IBM Plex Sans" pitchFamily="34" charset="-122"/>
                <a:cs typeface="IBM Plex Sans" pitchFamily="34" charset="-120"/>
              </a:rPr>
              <a:t> модели равны по построению. Доля «значимо» это ошибка первого рода, ожидаем около 5%.</a:t>
            </a:r>
            <a:endParaRPr lang="en-US" sz="1500" dirty="0"/>
          </a:p>
        </p:txBody>
      </p:sp>
      <p:sp>
        <p:nvSpPr>
          <p:cNvPr id="7" name="Text 5"/>
          <p:cNvSpPr/>
          <p:nvPr/>
        </p:nvSpPr>
        <p:spPr>
          <a:xfrm>
            <a:off x="1066800" y="3215642"/>
            <a:ext cx="4813808"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A1A1A"/>
                </a:solidFill>
                <a:latin typeface="IBM Plex Sans" pitchFamily="34" charset="0"/>
                <a:ea typeface="IBM Plex Sans" pitchFamily="34" charset="-122"/>
                <a:cs typeface="IBM Plex Sans" pitchFamily="34" charset="-120"/>
              </a:rPr>
              <a:t>H₁:</a:t>
            </a:r>
            <a:r>
              <a:rPr lang="en-US" sz="1500" dirty="0">
                <a:solidFill>
                  <a:srgbClr val="1A1A1A"/>
                </a:solidFill>
                <a:latin typeface="IBM Plex Sans" pitchFamily="34" charset="0"/>
                <a:ea typeface="IBM Plex Sans" pitchFamily="34" charset="-122"/>
                <a:cs typeface="IBM Plex Sans" pitchFamily="34" charset="-120"/>
              </a:rPr>
              <a:t> вторая модель объективно хуже. Доля «значимо» это мощность.</a:t>
            </a:r>
            <a:endParaRPr lang="en-US" sz="1500" dirty="0"/>
          </a:p>
        </p:txBody>
      </p:sp>
      <p:sp>
        <p:nvSpPr>
          <p:cNvPr id="8" name="Text 6"/>
          <p:cNvSpPr/>
          <p:nvPr/>
        </p:nvSpPr>
        <p:spPr>
          <a:xfrm>
            <a:off x="1066800" y="3876042"/>
            <a:ext cx="481380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6670"/>
                </a:solidFill>
                <a:latin typeface="IBM Plex Sans" pitchFamily="34" charset="0"/>
                <a:ea typeface="IBM Plex Sans" pitchFamily="34" charset="-122"/>
                <a:cs typeface="IBM Plex Sans" pitchFamily="34" charset="-120"/>
              </a:rPr>
              <a:t>500 повторов, 100, 200 и 400 объектов, логистическая регрессия на двух независимых «видах» признаков.</a:t>
            </a:r>
            <a:endParaRPr lang="en-US" sz="1500" dirty="0"/>
          </a:p>
        </p:txBody>
      </p:sp>
      <p:sp>
        <p:nvSpPr>
          <p:cNvPr id="9" name="Shape 7"/>
          <p:cNvSpPr/>
          <p:nvPr/>
        </p:nvSpPr>
        <p:spPr>
          <a:xfrm>
            <a:off x="6197600" y="1899927"/>
            <a:ext cx="5181600" cy="3030220"/>
          </a:xfrm>
          <a:prstGeom prst="roundRect">
            <a:avLst>
              <a:gd name="adj" fmla="val 3353"/>
            </a:avLst>
          </a:prstGeom>
          <a:solidFill>
            <a:srgbClr val="F1F1EC"/>
          </a:solidFill>
          <a:ln/>
        </p:spPr>
      </p:sp>
      <p:sp>
        <p:nvSpPr>
          <p:cNvPr id="10" name="Text 8"/>
          <p:cNvSpPr/>
          <p:nvPr/>
        </p:nvSpPr>
        <p:spPr>
          <a:xfrm>
            <a:off x="6451600" y="2153927"/>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IBM Plex Sans" pitchFamily="34" charset="0"/>
                <a:ea typeface="IBM Plex Sans" pitchFamily="34" charset="-122"/>
                <a:cs typeface="IBM Plex Sans" pitchFamily="34" charset="-120"/>
              </a:rPr>
              <a:t>Пять процедур</a:t>
            </a:r>
            <a:endParaRPr lang="en-US" sz="1800" dirty="0"/>
          </a:p>
        </p:txBody>
      </p:sp>
      <p:sp>
        <p:nvSpPr>
          <p:cNvPr id="11" name="Text 9"/>
          <p:cNvSpPr/>
          <p:nvPr/>
        </p:nvSpPr>
        <p:spPr>
          <a:xfrm>
            <a:off x="6494463" y="2555242"/>
            <a:ext cx="4763326" cy="1454150"/>
          </a:xfrm>
          <a:prstGeom prst="rect">
            <a:avLst/>
          </a:prstGeom>
          <a:noFill/>
          <a:ln/>
        </p:spPr>
        <p:txBody>
          <a:bodyPr wrap="square" lIns="0" tIns="0" rIns="0" bIns="0" rtlCol="0" anchor="t">
            <a:normAutofit/>
          </a:bodyPr>
          <a:lstStyle/>
          <a:p>
            <a:pPr algn="l" marL="211138" indent="-211138">
              <a:lnSpc>
                <a:spcPts val="2250"/>
              </a:lnSpc>
              <a:buSzPct val="100000"/>
              <a:buFontTx/>
              <a:buAutoNum type="arabicPeriod" startAt="1"/>
            </a:pPr>
            <a:r>
              <a:rPr lang="en-US" sz="1500" dirty="0">
                <a:solidFill>
                  <a:srgbClr val="1A1A1A"/>
                </a:solidFill>
                <a:latin typeface="IBM Plex Sans" pitchFamily="34" charset="0"/>
                <a:ea typeface="IBM Plex Sans" pitchFamily="34" charset="-122"/>
                <a:cs typeface="IBM Plex Sans" pitchFamily="34" charset="-120"/>
              </a:rPr>
              <a:t>Наивный t-test, 10-fold</a:t>
            </a:r>
            <a:endParaRPr lang="en-US" sz="1500" dirty="0"/>
          </a:p>
          <a:p>
            <a:pPr algn="l" marL="211138" indent="-211138">
              <a:lnSpc>
                <a:spcPts val="2250"/>
              </a:lnSpc>
              <a:buSzPct val="100000"/>
              <a:buFontTx/>
              <a:buAutoNum type="arabicPeriod" startAt="1"/>
            </a:pPr>
            <a:r>
              <a:rPr lang="en-US" sz="1500" dirty="0">
                <a:solidFill>
                  <a:srgbClr val="1A1A1A"/>
                </a:solidFill>
                <a:latin typeface="IBM Plex Sans" pitchFamily="34" charset="0"/>
                <a:ea typeface="IBM Plex Sans" pitchFamily="34" charset="-122"/>
                <a:cs typeface="IBM Plex Sans" pitchFamily="34" charset="-120"/>
              </a:rPr>
              <a:t>Corrected t-test, 10-fold</a:t>
            </a:r>
            <a:endParaRPr lang="en-US" sz="1500" dirty="0"/>
          </a:p>
          <a:p>
            <a:pPr algn="l" marL="211138" indent="-211138">
              <a:lnSpc>
                <a:spcPts val="2250"/>
              </a:lnSpc>
              <a:buSzPct val="100000"/>
              <a:buFontTx/>
              <a:buAutoNum type="arabicPeriod" startAt="1"/>
            </a:pPr>
            <a:r>
              <a:rPr lang="en-US" sz="1500" dirty="0">
                <a:solidFill>
                  <a:srgbClr val="1A1A1A"/>
                </a:solidFill>
                <a:latin typeface="IBM Plex Sans" pitchFamily="34" charset="0"/>
                <a:ea typeface="IBM Plex Sans" pitchFamily="34" charset="-122"/>
                <a:cs typeface="IBM Plex Sans" pitchFamily="34" charset="-120"/>
              </a:rPr>
              <a:t>5×2cv</a:t>
            </a:r>
            <a:endParaRPr lang="en-US" sz="1500" dirty="0"/>
          </a:p>
          <a:p>
            <a:pPr algn="l" marL="211138" indent="-211138">
              <a:lnSpc>
                <a:spcPts val="2250"/>
              </a:lnSpc>
              <a:buSzPct val="100000"/>
              <a:buFontTx/>
              <a:buAutoNum type="arabicPeriod" startAt="1"/>
            </a:pPr>
            <a:r>
              <a:rPr lang="en-US" sz="1500" dirty="0">
                <a:solidFill>
                  <a:srgbClr val="1A1A1A"/>
                </a:solidFill>
                <a:latin typeface="IBM Plex Sans" pitchFamily="34" charset="0"/>
                <a:ea typeface="IBM Plex Sans" pitchFamily="34" charset="-122"/>
                <a:cs typeface="IBM Plex Sans" pitchFamily="34" charset="-120"/>
              </a:rPr>
              <a:t>Наивный t-test, 30 повторных разбиений</a:t>
            </a:r>
            <a:endParaRPr lang="en-US" sz="1500" dirty="0"/>
          </a:p>
          <a:p>
            <a:pPr algn="l" marL="211138" indent="-211138">
              <a:lnSpc>
                <a:spcPts val="2250"/>
              </a:lnSpc>
              <a:buSzPct val="100000"/>
              <a:buFontTx/>
              <a:buAutoNum type="arabicPeriod" startAt="1"/>
            </a:pPr>
            <a:r>
              <a:rPr lang="en-US" sz="1500" dirty="0">
                <a:solidFill>
                  <a:srgbClr val="1A1A1A"/>
                </a:solidFill>
                <a:latin typeface="IBM Plex Sans" pitchFamily="34" charset="0"/>
                <a:ea typeface="IBM Plex Sans" pitchFamily="34" charset="-122"/>
                <a:cs typeface="IBM Plex Sans" pitchFamily="34" charset="-120"/>
              </a:rPr>
              <a:t>Corrected t-test, 30 повторных разбиений</a:t>
            </a:r>
            <a:endParaRPr lang="en-US" sz="1500" dirty="0"/>
          </a:p>
        </p:txBody>
      </p:sp>
      <p:sp>
        <p:nvSpPr>
          <p:cNvPr id="12" name="Text 10"/>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13" name="Text 11"/>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05 · СИМУЛЯЦИЯ</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Код: симуляция</a:t>
            </a:r>
            <a:endParaRPr lang="en-US" sz="3200" dirty="0"/>
          </a:p>
        </p:txBody>
      </p:sp>
      <p:sp>
        <p:nvSpPr>
          <p:cNvPr id="4" name="Shape 2"/>
          <p:cNvSpPr/>
          <p:nvPr/>
        </p:nvSpPr>
        <p:spPr>
          <a:xfrm>
            <a:off x="815975" y="1903102"/>
            <a:ext cx="6343650" cy="3773170"/>
          </a:xfrm>
          <a:prstGeom prst="roundRect">
            <a:avLst>
              <a:gd name="adj" fmla="val 1935"/>
            </a:avLst>
          </a:prstGeom>
          <a:solidFill>
            <a:srgbClr val="F1F1EC"/>
          </a:solidFill>
          <a:ln w="6350">
            <a:solidFill>
              <a:srgbClr val="DEDED6"/>
            </a:solidFill>
            <a:prstDash val="solid"/>
          </a:ln>
        </p:spPr>
      </p:sp>
      <p:sp>
        <p:nvSpPr>
          <p:cNvPr id="5" name="Text 3"/>
          <p:cNvSpPr/>
          <p:nvPr/>
        </p:nvSpPr>
        <p:spPr>
          <a:xfrm>
            <a:off x="1021080" y="2082800"/>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IBM Plex Mono" pitchFamily="49" charset="0"/>
                <a:ea typeface="IBM Plex Mono" pitchFamily="49" charset="-122"/>
                <a:cs typeface="IBM Plex Mono" pitchFamily="49" charset="-120"/>
              </a:rPr>
              <a:t>def</a:t>
            </a:r>
            <a:r>
              <a:rPr lang="en-US" sz="1200" dirty="0">
                <a:solidFill>
                  <a:srgbClr val="1A1A1A"/>
                </a:solidFill>
                <a:latin typeface="IBM Plex Mono" pitchFamily="49" charset="0"/>
                <a:ea typeface="IBM Plex Mono" pitchFamily="49" charset="-122"/>
                <a:cs typeface="IBM Plex Mono" pitchFamily="49" charset="-120"/>
              </a:rPr>
              <a:t> p_from_differences(d, variance_factor, df):</a:t>
            </a:r>
            <a:endParaRPr lang="en-US" sz="1200" dirty="0"/>
          </a:p>
        </p:txBody>
      </p:sp>
      <p:sp>
        <p:nvSpPr>
          <p:cNvPr id="6" name="Text 4"/>
          <p:cNvSpPr/>
          <p:nvPr/>
        </p:nvSpPr>
        <p:spPr>
          <a:xfrm>
            <a:off x="1389380" y="2296158"/>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t = d.mean() / (d.std(ddof=1) * np.sqrt(variance_factor))</a:t>
            </a:r>
            <a:endParaRPr lang="en-US" sz="1200" dirty="0"/>
          </a:p>
        </p:txBody>
      </p:sp>
      <p:sp>
        <p:nvSpPr>
          <p:cNvPr id="7" name="Text 5"/>
          <p:cNvSpPr/>
          <p:nvPr/>
        </p:nvSpPr>
        <p:spPr>
          <a:xfrm>
            <a:off x="1389380" y="2509527"/>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IBM Plex Mono" pitchFamily="49" charset="0"/>
                <a:ea typeface="IBM Plex Mono" pitchFamily="49" charset="-122"/>
                <a:cs typeface="IBM Plex Mono" pitchFamily="49" charset="-120"/>
              </a:rPr>
              <a:t>return</a:t>
            </a:r>
            <a:r>
              <a:rPr lang="en-US" sz="1200" dirty="0">
                <a:solidFill>
                  <a:srgbClr val="1A1A1A"/>
                </a:solidFill>
                <a:latin typeface="IBM Plex Mono" pitchFamily="49" charset="0"/>
                <a:ea typeface="IBM Plex Mono" pitchFamily="49" charset="-122"/>
                <a:cs typeface="IBM Plex Mono" pitchFamily="49" charset="-120"/>
              </a:rPr>
              <a:t> 2 * stats.t.sf(abs(t), df)</a:t>
            </a:r>
            <a:endParaRPr lang="en-US" sz="1200" dirty="0"/>
          </a:p>
        </p:txBody>
      </p:sp>
      <p:sp>
        <p:nvSpPr>
          <p:cNvPr id="8" name="Text 6"/>
          <p:cNvSpPr/>
          <p:nvPr/>
        </p:nvSpPr>
        <p:spPr>
          <a:xfrm>
            <a:off x="1021080" y="2936242"/>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IBM Plex Mono" pitchFamily="49" charset="0"/>
                <a:ea typeface="IBM Plex Mono" pitchFamily="49" charset="-122"/>
                <a:cs typeface="IBM Plex Mono" pitchFamily="49" charset="-120"/>
              </a:rPr>
              <a:t>def</a:t>
            </a:r>
            <a:r>
              <a:rPr lang="en-US" sz="1200" dirty="0">
                <a:solidFill>
                  <a:srgbClr val="1A1A1A"/>
                </a:solidFill>
                <a:latin typeface="IBM Plex Mono" pitchFamily="49" charset="0"/>
                <a:ea typeface="IBM Plex Mono" pitchFamily="49" charset="-122"/>
                <a:cs typeface="IBM Plex Mono" pitchFamily="49" charset="-120"/>
              </a:rPr>
              <a:t> make_two_view_data(rng, n_objects, shift1, shift2):</a:t>
            </a:r>
            <a:endParaRPr lang="en-US" sz="1200" dirty="0"/>
          </a:p>
        </p:txBody>
      </p:sp>
      <p:sp>
        <p:nvSpPr>
          <p:cNvPr id="9" name="Text 7"/>
          <p:cNvSpPr/>
          <p:nvPr/>
        </p:nvSpPr>
        <p:spPr>
          <a:xfrm>
            <a:off x="1389380" y="3149600"/>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y = rng.randint(0, 2, n_objects)</a:t>
            </a:r>
            <a:endParaRPr lang="en-US" sz="1200" dirty="0"/>
          </a:p>
        </p:txBody>
      </p:sp>
      <p:sp>
        <p:nvSpPr>
          <p:cNvPr id="10" name="Text 8"/>
          <p:cNvSpPr/>
          <p:nvPr/>
        </p:nvSpPr>
        <p:spPr>
          <a:xfrm>
            <a:off x="1389380" y="3362958"/>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sign = (2 * y - 1)[:, None]</a:t>
            </a:r>
            <a:endParaRPr lang="en-US" sz="1200" dirty="0"/>
          </a:p>
        </p:txBody>
      </p:sp>
      <p:sp>
        <p:nvSpPr>
          <p:cNvPr id="11" name="Text 9"/>
          <p:cNvSpPr/>
          <p:nvPr/>
        </p:nvSpPr>
        <p:spPr>
          <a:xfrm>
            <a:off x="1389380" y="3576327"/>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view1 = sign * shift1 + rng.randn(n_objects, 5)</a:t>
            </a:r>
            <a:endParaRPr lang="en-US" sz="1200" dirty="0"/>
          </a:p>
        </p:txBody>
      </p:sp>
      <p:sp>
        <p:nvSpPr>
          <p:cNvPr id="12" name="Text 10"/>
          <p:cNvSpPr/>
          <p:nvPr/>
        </p:nvSpPr>
        <p:spPr>
          <a:xfrm>
            <a:off x="1389380" y="3789685"/>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view2 = sign * shift2 + rng.randn(n_objects, 5)</a:t>
            </a:r>
            <a:endParaRPr lang="en-US" sz="1200" dirty="0"/>
          </a:p>
        </p:txBody>
      </p:sp>
      <p:sp>
        <p:nvSpPr>
          <p:cNvPr id="13" name="Text 11"/>
          <p:cNvSpPr/>
          <p:nvPr/>
        </p:nvSpPr>
        <p:spPr>
          <a:xfrm>
            <a:off x="1389380" y="4003042"/>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IBM Plex Mono" pitchFamily="49" charset="0"/>
                <a:ea typeface="IBM Plex Mono" pitchFamily="49" charset="-122"/>
                <a:cs typeface="IBM Plex Mono" pitchFamily="49" charset="-120"/>
              </a:rPr>
              <a:t>return</a:t>
            </a:r>
            <a:r>
              <a:rPr lang="en-US" sz="1200" dirty="0">
                <a:solidFill>
                  <a:srgbClr val="1A1A1A"/>
                </a:solidFill>
                <a:latin typeface="IBM Plex Mono" pitchFamily="49" charset="0"/>
                <a:ea typeface="IBM Plex Mono" pitchFamily="49" charset="-122"/>
                <a:cs typeface="IBM Plex Mono" pitchFamily="49" charset="-120"/>
              </a:rPr>
              <a:t> np.hstack([view1, view2]), y</a:t>
            </a:r>
            <a:endParaRPr lang="en-US" sz="1200" dirty="0"/>
          </a:p>
        </p:txBody>
      </p:sp>
      <p:sp>
        <p:nvSpPr>
          <p:cNvPr id="14" name="Text 12"/>
          <p:cNvSpPr/>
          <p:nvPr/>
        </p:nvSpPr>
        <p:spPr>
          <a:xfrm>
            <a:off x="1021080" y="4429758"/>
            <a:ext cx="6111443"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IBM Plex Mono" pitchFamily="49" charset="0"/>
                <a:ea typeface="IBM Plex Mono" pitchFamily="49" charset="-122"/>
                <a:cs typeface="IBM Plex Mono" pitchFamily="49" charset="-120"/>
              </a:rPr>
              <a:t>for</a:t>
            </a:r>
            <a:r>
              <a:rPr lang="en-US" sz="1200" dirty="0">
                <a:solidFill>
                  <a:srgbClr val="1A1A1A"/>
                </a:solidFill>
                <a:latin typeface="IBM Plex Mono" pitchFamily="49" charset="0"/>
                <a:ea typeface="IBM Plex Mono" pitchFamily="49" charset="-122"/>
                <a:cs typeface="IBM Plex Mono" pitchFamily="49" charset="-120"/>
              </a:rPr>
              <a:t> scenario, shift2 </a:t>
            </a:r>
            <a:r>
              <a:rPr lang="en-US" sz="1200" dirty="0">
                <a:solidFill>
                  <a:srgbClr val="6639B7"/>
                </a:solidFill>
                <a:latin typeface="IBM Plex Mono" pitchFamily="49" charset="0"/>
                <a:ea typeface="IBM Plex Mono" pitchFamily="49" charset="-122"/>
                <a:cs typeface="IBM Plex Mono" pitchFamily="49" charset="-120"/>
              </a:rPr>
              <a:t>in</a:t>
            </a:r>
            <a:r>
              <a:rPr lang="en-US" sz="1200" dirty="0">
                <a:solidFill>
                  <a:srgbClr val="1A1A1A"/>
                </a:solidFill>
                <a:latin typeface="IBM Plex Mono" pitchFamily="49" charset="0"/>
                <a:ea typeface="IBM Plex Mono" pitchFamily="49" charset="-122"/>
                <a:cs typeface="IBM Plex Mono" pitchFamily="49" charset="-120"/>
              </a:rPr>
              <a:t> scenarios:</a:t>
            </a:r>
            <a:endParaRPr lang="en-US" sz="1200" dirty="0"/>
          </a:p>
        </p:txBody>
      </p:sp>
      <p:sp>
        <p:nvSpPr>
          <p:cNvPr id="15" name="Text 13"/>
          <p:cNvSpPr/>
          <p:nvPr/>
        </p:nvSpPr>
        <p:spPr>
          <a:xfrm>
            <a:off x="1389380" y="4643127"/>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p = Parallel(n_jobs=-1)(</a:t>
            </a:r>
            <a:endParaRPr lang="en-US" sz="1200" dirty="0"/>
          </a:p>
        </p:txBody>
      </p:sp>
      <p:sp>
        <p:nvSpPr>
          <p:cNvPr id="16" name="Text 14"/>
          <p:cNvSpPr/>
          <p:nvPr/>
        </p:nvSpPr>
        <p:spPr>
          <a:xfrm>
            <a:off x="1751330" y="4856485"/>
            <a:ext cx="5359286"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delayed(one_repetition)(r, 200, shift2)</a:t>
            </a:r>
            <a:endParaRPr lang="en-US" sz="1200" dirty="0"/>
          </a:p>
        </p:txBody>
      </p:sp>
      <p:sp>
        <p:nvSpPr>
          <p:cNvPr id="17" name="Text 15"/>
          <p:cNvSpPr/>
          <p:nvPr/>
        </p:nvSpPr>
        <p:spPr>
          <a:xfrm>
            <a:off x="1751330" y="5069842"/>
            <a:ext cx="5359286"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6639B7"/>
                </a:solidFill>
                <a:latin typeface="IBM Plex Mono" pitchFamily="49" charset="0"/>
                <a:ea typeface="IBM Plex Mono" pitchFamily="49" charset="-122"/>
                <a:cs typeface="IBM Plex Mono" pitchFamily="49" charset="-120"/>
              </a:rPr>
              <a:t>for</a:t>
            </a:r>
            <a:r>
              <a:rPr lang="en-US" sz="1200" dirty="0">
                <a:solidFill>
                  <a:srgbClr val="1A1A1A"/>
                </a:solidFill>
                <a:latin typeface="IBM Plex Mono" pitchFamily="49" charset="0"/>
                <a:ea typeface="IBM Plex Mono" pitchFamily="49" charset="-122"/>
                <a:cs typeface="IBM Plex Mono" pitchFamily="49" charset="-120"/>
              </a:rPr>
              <a:t> r </a:t>
            </a:r>
            <a:r>
              <a:rPr lang="en-US" sz="1200" dirty="0">
                <a:solidFill>
                  <a:srgbClr val="6639B7"/>
                </a:solidFill>
                <a:latin typeface="IBM Plex Mono" pitchFamily="49" charset="0"/>
                <a:ea typeface="IBM Plex Mono" pitchFamily="49" charset="-122"/>
                <a:cs typeface="IBM Plex Mono" pitchFamily="49" charset="-120"/>
              </a:rPr>
              <a:t>in</a:t>
            </a:r>
            <a:r>
              <a:rPr lang="en-US" sz="1200" dirty="0">
                <a:solidFill>
                  <a:srgbClr val="1A1A1A"/>
                </a:solidFill>
                <a:latin typeface="IBM Plex Mono" pitchFamily="49" charset="0"/>
                <a:ea typeface="IBM Plex Mono" pitchFamily="49" charset="-122"/>
                <a:cs typeface="IBM Plex Mono" pitchFamily="49" charset="-120"/>
              </a:rPr>
              <a:t> range(500))</a:t>
            </a:r>
            <a:endParaRPr lang="en-US" sz="1200" dirty="0"/>
          </a:p>
        </p:txBody>
      </p:sp>
      <p:sp>
        <p:nvSpPr>
          <p:cNvPr id="18" name="Text 16"/>
          <p:cNvSpPr/>
          <p:nvPr/>
        </p:nvSpPr>
        <p:spPr>
          <a:xfrm>
            <a:off x="1389380" y="5283200"/>
            <a:ext cx="573209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A1A1A"/>
                </a:solidFill>
                <a:latin typeface="IBM Plex Mono" pitchFamily="49" charset="0"/>
                <a:ea typeface="IBM Plex Mono" pitchFamily="49" charset="-122"/>
                <a:cs typeface="IBM Plex Mono" pitchFamily="49" charset="-120"/>
              </a:rPr>
              <a:t>rates[scenario] = (np.array(p) &lt; 0.05).mean(axis=0)</a:t>
            </a:r>
            <a:endParaRPr lang="en-US" sz="1200" dirty="0"/>
          </a:p>
        </p:txBody>
      </p:sp>
      <p:sp>
        <p:nvSpPr>
          <p:cNvPr id="19" name="Text 17"/>
          <p:cNvSpPr/>
          <p:nvPr/>
        </p:nvSpPr>
        <p:spPr>
          <a:xfrm>
            <a:off x="7366000" y="1899927"/>
            <a:ext cx="41335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BM Plex Sans" pitchFamily="34" charset="0"/>
                <a:ea typeface="IBM Plex Sans" pitchFamily="34" charset="-122"/>
                <a:cs typeface="IBM Plex Sans" pitchFamily="34" charset="-120"/>
              </a:rPr>
              <a:t>variance_factor: 1/k для наивного теста, 1/k + 1/(k−1) для corrected.</a:t>
            </a:r>
            <a:endParaRPr lang="en-US" sz="1400" dirty="0"/>
          </a:p>
        </p:txBody>
      </p:sp>
      <p:sp>
        <p:nvSpPr>
          <p:cNvPr id="20" name="Text 18"/>
          <p:cNvSpPr/>
          <p:nvPr/>
        </p:nvSpPr>
        <p:spPr>
          <a:xfrm>
            <a:off x="7366000" y="2524758"/>
            <a:ext cx="41335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A1A"/>
                </a:solidFill>
                <a:latin typeface="IBM Plex Sans" pitchFamily="34" charset="0"/>
                <a:ea typeface="IBM Plex Sans" pitchFamily="34" charset="-122"/>
                <a:cs typeface="IBM Plex Sans" pitchFamily="34" charset="-120"/>
              </a:rPr>
              <a:t>Два «вида» признаков: модель A видит первый, модель B второй.</a:t>
            </a:r>
            <a:endParaRPr lang="en-US" sz="1400" dirty="0"/>
          </a:p>
        </p:txBody>
      </p:sp>
      <p:sp>
        <p:nvSpPr>
          <p:cNvPr id="21" name="Text 19"/>
          <p:cNvSpPr/>
          <p:nvPr/>
        </p:nvSpPr>
        <p:spPr>
          <a:xfrm>
            <a:off x="7366000" y="3149600"/>
            <a:ext cx="413359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6670"/>
                </a:solidFill>
                <a:latin typeface="IBM Plex Sans" pitchFamily="34" charset="0"/>
                <a:ea typeface="IBM Plex Sans" pitchFamily="34" charset="-122"/>
                <a:cs typeface="IBM Plex Sans" pitchFamily="34" charset="-120"/>
              </a:rPr>
              <a:t>scenarios: H₀ (shift2 = 0.45, модели равны) и H₁ (shift2 = 0.30). one_repetition считает пять процедур, код сокращён.</a:t>
            </a:r>
            <a:endParaRPr lang="en-US" sz="1400" dirty="0"/>
          </a:p>
        </p:txBody>
      </p:sp>
      <p:sp>
        <p:nvSpPr>
          <p:cNvPr id="22" name="Text 20"/>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23" name="Text 21"/>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05 · СИМУЛЯЦИЯ</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Где наивный тест действительно ошибается</a:t>
            </a:r>
            <a:endParaRPr lang="en-US" sz="3200" dirty="0"/>
          </a:p>
        </p:txBody>
      </p:sp>
      <p:pic>
        <p:nvPicPr>
          <p:cNvPr id="4" name="Image 0" descr="Два столбчатых графика: ошибка первого рода и мощность пяти процедур; наивный t-test на 30 повторных разбиениях ошибается в 58.8% случаев">    </p:cNvPr>
          <p:cNvPicPr>
            <a:picLocks noChangeAspect="1"/>
          </p:cNvPicPr>
          <p:nvPr/>
        </p:nvPicPr>
        <p:blipFill>
          <a:blip r:embed="rId1"/>
          <a:srcRect l="0" r="0" t="-35" b="-35"/>
          <a:stretch/>
        </p:blipFill>
        <p:spPr>
          <a:xfrm>
            <a:off x="812800" y="1899927"/>
            <a:ext cx="8255000" cy="3028950"/>
          </a:xfrm>
          <a:prstGeom prst="rect">
            <a:avLst/>
          </a:prstGeom>
        </p:spPr>
      </p:pic>
      <p:sp>
        <p:nvSpPr>
          <p:cNvPr id="5" name="Text 2"/>
          <p:cNvSpPr/>
          <p:nvPr/>
        </p:nvSpPr>
        <p:spPr>
          <a:xfrm>
            <a:off x="812800" y="5132077"/>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A1A1A"/>
                </a:solidFill>
                <a:latin typeface="IBM Plex Sans" pitchFamily="34" charset="0"/>
                <a:ea typeface="IBM Plex Sans" pitchFamily="34" charset="-122"/>
                <a:cs typeface="IBM Plex Sans" pitchFamily="34" charset="-120"/>
              </a:rPr>
              <a:t>Повторные разбиения: 58.8% ложных находок при норме 5%. 10-fold: 3.0%. Поправка на 10-fold консервативна: мощность 25% против 53%. При 100 и 400 объектах картина та же.</a:t>
            </a:r>
            <a:endParaRPr lang="en-US" sz="1600" dirty="0"/>
          </a:p>
        </p:txBody>
      </p:sp>
      <p:sp>
        <p:nvSpPr>
          <p:cNvPr id="6" name="Text 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7" name="Text 4"/>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06 · ИТОГИ</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Выводы</a:t>
            </a:r>
            <a:endParaRPr lang="en-US" sz="3200" dirty="0"/>
          </a:p>
        </p:txBody>
      </p:sp>
      <p:sp>
        <p:nvSpPr>
          <p:cNvPr id="4" name="Shape 2"/>
          <p:cNvSpPr/>
          <p:nvPr/>
        </p:nvSpPr>
        <p:spPr>
          <a:xfrm>
            <a:off x="812800" y="1899927"/>
            <a:ext cx="5181600" cy="1376680"/>
          </a:xfrm>
          <a:prstGeom prst="roundRect">
            <a:avLst>
              <a:gd name="adj" fmla="val 7380"/>
            </a:avLst>
          </a:prstGeom>
          <a:solidFill>
            <a:srgbClr val="F1F1EC"/>
          </a:solidFill>
          <a:ln/>
        </p:spPr>
      </p:sp>
      <p:sp>
        <p:nvSpPr>
          <p:cNvPr id="5" name="Text 3"/>
          <p:cNvSpPr/>
          <p:nvPr/>
        </p:nvSpPr>
        <p:spPr>
          <a:xfrm>
            <a:off x="1066800" y="2128527"/>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IBM Plex Sans" pitchFamily="34" charset="0"/>
                <a:ea typeface="IBM Plex Sans" pitchFamily="34" charset="-122"/>
                <a:cs typeface="IBM Plex Sans" pitchFamily="34" charset="-120"/>
              </a:rPr>
              <a:t>Выбор теста меняет вывод</a:t>
            </a:r>
            <a:endParaRPr lang="en-US" sz="1800" dirty="0"/>
          </a:p>
        </p:txBody>
      </p:sp>
      <p:sp>
        <p:nvSpPr>
          <p:cNvPr id="6" name="Text 4"/>
          <p:cNvSpPr/>
          <p:nvPr/>
        </p:nvSpPr>
        <p:spPr>
          <a:xfrm>
            <a:off x="1066800" y="2479042"/>
            <a:ext cx="481380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F6670"/>
                </a:solidFill>
                <a:latin typeface="IBM Plex Sans" pitchFamily="34" charset="0"/>
                <a:ea typeface="IBM Plex Sans" pitchFamily="34" charset="-122"/>
                <a:cs typeface="IBM Plex Sans" pitchFamily="34" charset="-120"/>
              </a:rPr>
              <a:t>Из 45 сравнений наивный тест находит 20 значимых, corrected 14, 5×2cv 9, McNemar 7.</a:t>
            </a:r>
            <a:endParaRPr lang="en-US" sz="1600" dirty="0"/>
          </a:p>
        </p:txBody>
      </p:sp>
      <p:sp>
        <p:nvSpPr>
          <p:cNvPr id="7" name="Shape 5"/>
          <p:cNvSpPr/>
          <p:nvPr/>
        </p:nvSpPr>
        <p:spPr>
          <a:xfrm>
            <a:off x="6197600" y="1899927"/>
            <a:ext cx="5181600" cy="1376680"/>
          </a:xfrm>
          <a:prstGeom prst="roundRect">
            <a:avLst>
              <a:gd name="adj" fmla="val 7380"/>
            </a:avLst>
          </a:prstGeom>
          <a:solidFill>
            <a:srgbClr val="F1F1EC"/>
          </a:solidFill>
          <a:ln/>
        </p:spPr>
      </p:sp>
      <p:sp>
        <p:nvSpPr>
          <p:cNvPr id="8" name="Text 6"/>
          <p:cNvSpPr/>
          <p:nvPr/>
        </p:nvSpPr>
        <p:spPr>
          <a:xfrm>
            <a:off x="6451600" y="2128527"/>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IBM Plex Sans" pitchFamily="34" charset="0"/>
                <a:ea typeface="IBM Plex Sans" pitchFamily="34" charset="-122"/>
                <a:cs typeface="IBM Plex Sans" pitchFamily="34" charset="-120"/>
              </a:rPr>
              <a:t>Сильные различия видны всем</a:t>
            </a:r>
            <a:endParaRPr lang="en-US" sz="1800" dirty="0"/>
          </a:p>
        </p:txBody>
      </p:sp>
      <p:sp>
        <p:nvSpPr>
          <p:cNvPr id="9" name="Text 7"/>
          <p:cNvSpPr/>
          <p:nvPr/>
        </p:nvSpPr>
        <p:spPr>
          <a:xfrm>
            <a:off x="6451600" y="2479042"/>
            <a:ext cx="481380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F6670"/>
                </a:solidFill>
                <a:latin typeface="IBM Plex Sans" pitchFamily="34" charset="0"/>
                <a:ea typeface="IBM Plex Sans" pitchFamily="34" charset="-122"/>
                <a:cs typeface="IBM Plex Sans" pitchFamily="34" charset="-120"/>
              </a:rPr>
              <a:t>После Холма наивный и corrected оставляют одни и те же 6 сравнений (разрыв 2–16 п. п.).</a:t>
            </a:r>
            <a:endParaRPr lang="en-US" sz="1600" dirty="0"/>
          </a:p>
        </p:txBody>
      </p:sp>
      <p:sp>
        <p:nvSpPr>
          <p:cNvPr id="10" name="Shape 8"/>
          <p:cNvSpPr/>
          <p:nvPr/>
        </p:nvSpPr>
        <p:spPr>
          <a:xfrm>
            <a:off x="812800" y="3479800"/>
            <a:ext cx="5181600" cy="1376680"/>
          </a:xfrm>
          <a:prstGeom prst="roundRect">
            <a:avLst>
              <a:gd name="adj" fmla="val 7380"/>
            </a:avLst>
          </a:prstGeom>
          <a:solidFill>
            <a:srgbClr val="F1F1EC"/>
          </a:solidFill>
          <a:ln/>
        </p:spPr>
      </p:sp>
      <p:sp>
        <p:nvSpPr>
          <p:cNvPr id="11" name="Text 9"/>
          <p:cNvSpPr/>
          <p:nvPr/>
        </p:nvSpPr>
        <p:spPr>
          <a:xfrm>
            <a:off x="1066800" y="3708400"/>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IBM Plex Sans" pitchFamily="34" charset="0"/>
                <a:ea typeface="IBM Plex Sans" pitchFamily="34" charset="-122"/>
                <a:cs typeface="IBM Plex Sans" pitchFamily="34" charset="-120"/>
              </a:rPr>
              <a:t>Наивный тест ломается не везде</a:t>
            </a:r>
            <a:endParaRPr lang="en-US" sz="1800" dirty="0"/>
          </a:p>
        </p:txBody>
      </p:sp>
      <p:sp>
        <p:nvSpPr>
          <p:cNvPr id="12" name="Text 10"/>
          <p:cNvSpPr/>
          <p:nvPr/>
        </p:nvSpPr>
        <p:spPr>
          <a:xfrm>
            <a:off x="1066800" y="4058927"/>
            <a:ext cx="481380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F6670"/>
                </a:solidFill>
                <a:latin typeface="IBM Plex Sans" pitchFamily="34" charset="0"/>
                <a:ea typeface="IBM Plex Sans" pitchFamily="34" charset="-122"/>
                <a:cs typeface="IBM Plex Sans" pitchFamily="34" charset="-120"/>
              </a:rPr>
              <a:t>На повторных разбиениях 59% ложных находок, на 10-fold около 3%.</a:t>
            </a:r>
            <a:endParaRPr lang="en-US" sz="1600" dirty="0"/>
          </a:p>
        </p:txBody>
      </p:sp>
      <p:sp>
        <p:nvSpPr>
          <p:cNvPr id="13" name="Shape 11"/>
          <p:cNvSpPr/>
          <p:nvPr/>
        </p:nvSpPr>
        <p:spPr>
          <a:xfrm>
            <a:off x="6197600" y="3479800"/>
            <a:ext cx="5181600" cy="1376680"/>
          </a:xfrm>
          <a:prstGeom prst="roundRect">
            <a:avLst>
              <a:gd name="adj" fmla="val 7380"/>
            </a:avLst>
          </a:prstGeom>
          <a:solidFill>
            <a:srgbClr val="F1F1EC"/>
          </a:solidFill>
          <a:ln/>
        </p:spPr>
      </p:sp>
      <p:sp>
        <p:nvSpPr>
          <p:cNvPr id="14" name="Text 12"/>
          <p:cNvSpPr/>
          <p:nvPr/>
        </p:nvSpPr>
        <p:spPr>
          <a:xfrm>
            <a:off x="6451600" y="3708400"/>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A1A"/>
                </a:solidFill>
                <a:latin typeface="IBM Plex Sans" pitchFamily="34" charset="0"/>
                <a:ea typeface="IBM Plex Sans" pitchFamily="34" charset="-122"/>
                <a:cs typeface="IBM Plex Sans" pitchFamily="34" charset="-120"/>
              </a:rPr>
              <a:t>Лучшей модели в целом нет</a:t>
            </a:r>
            <a:endParaRPr lang="en-US" sz="1800" dirty="0"/>
          </a:p>
        </p:txBody>
      </p:sp>
      <p:sp>
        <p:nvSpPr>
          <p:cNvPr id="15" name="Text 13"/>
          <p:cNvSpPr/>
          <p:nvPr/>
        </p:nvSpPr>
        <p:spPr>
          <a:xfrm>
            <a:off x="6451600" y="4058927"/>
            <a:ext cx="4813808"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F6670"/>
                </a:solidFill>
                <a:latin typeface="IBM Plex Sans" pitchFamily="34" charset="0"/>
                <a:ea typeface="IBM Plex Sans" pitchFamily="34" charset="-122"/>
                <a:cs typeface="IBM Plex Sans" pitchFamily="34" charset="-120"/>
              </a:rPr>
              <a:t>Фридман на 15 датасетах: p = 0.52. Лидер меняется от датасета к датасету.</a:t>
            </a:r>
            <a:endParaRPr lang="en-US" sz="1600" dirty="0"/>
          </a:p>
        </p:txBody>
      </p:sp>
      <p:sp>
        <p:nvSpPr>
          <p:cNvPr id="16" name="Text 14"/>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17" name="Text 15"/>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06 · ИТОГИ</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Ограничения</a:t>
            </a:r>
            <a:endParaRPr lang="en-US" sz="3200" dirty="0"/>
          </a:p>
        </p:txBody>
      </p:sp>
      <p:sp>
        <p:nvSpPr>
          <p:cNvPr id="4" name="Text 2"/>
          <p:cNvSpPr/>
          <p:nvPr/>
        </p:nvSpPr>
        <p:spPr>
          <a:xfrm>
            <a:off x="835660" y="1899927"/>
            <a:ext cx="10852912" cy="1993900"/>
          </a:xfrm>
          <a:prstGeom prst="rect">
            <a:avLst/>
          </a:prstGeom>
          <a:noFill/>
          <a:ln/>
        </p:spPr>
        <p:txBody>
          <a:bodyPr wrap="square" lIns="0" tIns="0" rIns="0" bIns="0" rtlCol="0" anchor="t">
            <a:normAutofit/>
          </a:bodyPr>
          <a:lstStyle/>
          <a:p>
            <a:pPr algn="l" marL="231140" indent="-231140">
              <a:lnSpc>
                <a:spcPts val="3100"/>
              </a:lnSpc>
              <a:buSzPct val="100000"/>
              <a:buChar char="•"/>
            </a:pPr>
            <a:r>
              <a:rPr lang="en-US" sz="2000" dirty="0">
                <a:solidFill>
                  <a:srgbClr val="1A1A1A"/>
                </a:solidFill>
                <a:latin typeface="IBM Plex Sans" pitchFamily="34" charset="0"/>
                <a:ea typeface="IBM Plex Sans" pitchFamily="34" charset="-122"/>
                <a:cs typeface="IBM Plex Sans" pitchFamily="34" charset="-120"/>
              </a:rPr>
              <a:t>15 датасетов: мощность группового теста всё ещё ограничена.</a:t>
            </a:r>
            <a:endParaRPr lang="en-US" sz="2000" dirty="0"/>
          </a:p>
          <a:p>
            <a:pPr algn="l" marL="231140" indent="-231140">
              <a:lnSpc>
                <a:spcPts val="3100"/>
              </a:lnSpc>
              <a:buSzPct val="100000"/>
              <a:buChar char="•"/>
            </a:pPr>
            <a:r>
              <a:rPr lang="en-US" sz="2000" dirty="0">
                <a:solidFill>
                  <a:srgbClr val="1A1A1A"/>
                </a:solidFill>
                <a:latin typeface="IBM Plex Sans" pitchFamily="34" charset="0"/>
                <a:ea typeface="IBM Plex Sans" pitchFamily="34" charset="-122"/>
                <a:cs typeface="IBM Plex Sans" pitchFamily="34" charset="-120"/>
              </a:rPr>
              <a:t>Гиперпараметры по умолчанию: цель работы это тесты, а не точность.</a:t>
            </a:r>
            <a:endParaRPr lang="en-US" sz="2000" dirty="0"/>
          </a:p>
          <a:p>
            <a:pPr algn="l" marL="231140" indent="-231140">
              <a:lnSpc>
                <a:spcPts val="3100"/>
              </a:lnSpc>
              <a:buSzPct val="100000"/>
              <a:buChar char="•"/>
            </a:pPr>
            <a:r>
              <a:rPr lang="en-US" sz="2000" dirty="0">
                <a:solidFill>
                  <a:srgbClr val="1A1A1A"/>
                </a:solidFill>
                <a:latin typeface="IBM Plex Sans" pitchFamily="34" charset="0"/>
                <a:ea typeface="IBM Plex Sans" pitchFamily="34" charset="-122"/>
                <a:cs typeface="IBM Plex Sans" pitchFamily="34" charset="-120"/>
              </a:rPr>
              <a:t>На реальных данных истинная разница неизвестна, поэтому нужна симуляция.</a:t>
            </a:r>
            <a:endParaRPr lang="en-US" sz="2000" dirty="0"/>
          </a:p>
          <a:p>
            <a:pPr algn="l" marL="231140" indent="-231140">
              <a:lnSpc>
                <a:spcPts val="3100"/>
              </a:lnSpc>
              <a:buSzPct val="100000"/>
              <a:buChar char="•"/>
            </a:pPr>
            <a:r>
              <a:rPr lang="en-US" sz="2000" dirty="0">
                <a:solidFill>
                  <a:srgbClr val="1A1A1A"/>
                </a:solidFill>
                <a:latin typeface="IBM Plex Sans" pitchFamily="34" charset="0"/>
                <a:ea typeface="IBM Plex Sans" pitchFamily="34" charset="-122"/>
                <a:cs typeface="IBM Plex Sans" pitchFamily="34" charset="-120"/>
              </a:rPr>
              <a:t>Симуляция: один дизайн (логрегрессия), 100–400 объектов.</a:t>
            </a:r>
            <a:endParaRPr lang="en-US" sz="2000" dirty="0"/>
          </a:p>
          <a:p>
            <a:pPr algn="l" marL="231140" indent="-231140">
              <a:lnSpc>
                <a:spcPts val="3100"/>
              </a:lnSpc>
              <a:buSzPct val="100000"/>
              <a:buChar char="•"/>
            </a:pPr>
            <a:r>
              <a:rPr lang="en-US" sz="2000" dirty="0">
                <a:solidFill>
                  <a:srgbClr val="1A1A1A"/>
                </a:solidFill>
                <a:latin typeface="IBM Plex Sans" pitchFamily="34" charset="0"/>
                <a:ea typeface="IBM Plex Sans" pitchFamily="34" charset="-122"/>
                <a:cs typeface="IBM Plex Sans" pitchFamily="34" charset="-120"/>
              </a:rPr>
              <a:t>5×2cv и McNemar приведены как медиана по нескольким разбиениям.</a:t>
            </a:r>
            <a:endParaRPr lang="en-US" sz="2000" dirty="0"/>
          </a:p>
        </p:txBody>
      </p:sp>
      <p:sp>
        <p:nvSpPr>
          <p:cNvPr id="5" name="Text 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6" name="Text 4"/>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62B5"/>
                </a:solidFill>
                <a:latin typeface="IBM Plex Sans" pitchFamily="34" charset="0"/>
                <a:ea typeface="IBM Plex Sans" pitchFamily="34" charset="-122"/>
                <a:cs typeface="IBM Plex Sans" pitchFamily="34" charset="-120"/>
              </a:rPr>
              <a:t>06 · ИТОГИ</a:t>
            </a:r>
            <a:endParaRPr lang="en-US" sz="1200" dirty="0"/>
          </a:p>
        </p:txBody>
      </p:sp>
      <p:sp>
        <p:nvSpPr>
          <p:cNvPr id="3" name="Text 1"/>
          <p:cNvSpPr/>
          <p:nvPr>
            <p:ph type="title"/>
          </p:nvPr>
        </p:nvSpPr>
        <p:spPr>
          <a:xfrm>
            <a:off x="812800" y="1229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A1A1A"/>
                </a:solidFill>
                <a:latin typeface="IBM Plex Sans" pitchFamily="34" charset="0"/>
                <a:ea typeface="IBM Plex Sans" pitchFamily="34" charset="-122"/>
                <a:cs typeface="IBM Plex Sans" pitchFamily="34" charset="-120"/>
              </a:rPr>
              <a:t>Источники</a:t>
            </a:r>
            <a:endParaRPr lang="en-US" sz="3200" dirty="0"/>
          </a:p>
        </p:txBody>
      </p:sp>
      <p:sp>
        <p:nvSpPr>
          <p:cNvPr id="4" name="Text 2"/>
          <p:cNvSpPr/>
          <p:nvPr/>
        </p:nvSpPr>
        <p:spPr>
          <a:xfrm>
            <a:off x="870458" y="1899927"/>
            <a:ext cx="10818114" cy="2159000"/>
          </a:xfrm>
          <a:prstGeom prst="rect">
            <a:avLst/>
          </a:prstGeom>
          <a:noFill/>
          <a:ln/>
        </p:spPr>
        <p:txBody>
          <a:bodyPr wrap="square" lIns="0" tIns="0" rIns="0" bIns="0" rtlCol="0" anchor="t">
            <a:normAutofit/>
          </a:bodyPr>
          <a:lstStyle/>
          <a:p>
            <a:pPr algn="l" marL="196342" indent="-196342">
              <a:lnSpc>
                <a:spcPts val="2400"/>
              </a:lnSpc>
              <a:buSzPct val="100000"/>
              <a:buChar char="•"/>
            </a:pPr>
            <a:r>
              <a:rPr lang="en-US" sz="1600" dirty="0">
                <a:solidFill>
                  <a:srgbClr val="1A1A1A"/>
                </a:solidFill>
                <a:latin typeface="IBM Plex Sans" pitchFamily="34" charset="0"/>
                <a:ea typeface="IBM Plex Sans" pitchFamily="34" charset="-122"/>
                <a:cs typeface="IBM Plex Sans" pitchFamily="34" charset="-120"/>
              </a:rPr>
              <a:t>Dietterich T. G. (1998). Approximate Statistical Tests for Comparing Supervised Classification Learning Algorithms. Neural Computation, 10(7).</a:t>
            </a:r>
            <a:endParaRPr lang="en-US" sz="1600" dirty="0"/>
          </a:p>
          <a:p>
            <a:pPr algn="l" marL="196342" indent="-196342">
              <a:lnSpc>
                <a:spcPts val="2400"/>
              </a:lnSpc>
              <a:buSzPct val="100000"/>
              <a:buChar char="•"/>
            </a:pPr>
            <a:r>
              <a:rPr lang="en-US" sz="1600" dirty="0">
                <a:solidFill>
                  <a:srgbClr val="1A1A1A"/>
                </a:solidFill>
                <a:latin typeface="IBM Plex Sans" pitchFamily="34" charset="0"/>
                <a:ea typeface="IBM Plex Sans" pitchFamily="34" charset="-122"/>
                <a:cs typeface="IBM Plex Sans" pitchFamily="34" charset="-120"/>
              </a:rPr>
              <a:t>Nadeau C., Bengio Y. (2003). Inference for the Generalization Error. Machine Learning, 52.</a:t>
            </a:r>
            <a:endParaRPr lang="en-US" sz="1600" dirty="0"/>
          </a:p>
          <a:p>
            <a:pPr algn="l" marL="196342" indent="-196342">
              <a:lnSpc>
                <a:spcPts val="2400"/>
              </a:lnSpc>
              <a:buSzPct val="100000"/>
              <a:buChar char="•"/>
            </a:pPr>
            <a:r>
              <a:rPr lang="en-US" sz="1600" dirty="0">
                <a:solidFill>
                  <a:srgbClr val="1A1A1A"/>
                </a:solidFill>
                <a:latin typeface="IBM Plex Sans" pitchFamily="34" charset="0"/>
                <a:ea typeface="IBM Plex Sans" pitchFamily="34" charset="-122"/>
                <a:cs typeface="IBM Plex Sans" pitchFamily="34" charset="-120"/>
              </a:rPr>
              <a:t>Demšar J. (2006). Statistical Comparisons of Classifiers over Multiple Data Sets. JMLR, 7.</a:t>
            </a:r>
            <a:endParaRPr lang="en-US" sz="1600" dirty="0"/>
          </a:p>
          <a:p>
            <a:pPr algn="l" marL="196342" indent="-196342">
              <a:lnSpc>
                <a:spcPts val="2400"/>
              </a:lnSpc>
              <a:buSzPct val="100000"/>
              <a:buChar char="•"/>
            </a:pPr>
            <a:r>
              <a:rPr lang="en-US" sz="1600" dirty="0">
                <a:solidFill>
                  <a:srgbClr val="1A1A1A"/>
                </a:solidFill>
                <a:latin typeface="IBM Plex Sans" pitchFamily="34" charset="0"/>
                <a:ea typeface="IBM Plex Sans" pitchFamily="34" charset="-122"/>
                <a:cs typeface="IBM Plex Sans" pitchFamily="34" charset="-120"/>
              </a:rPr>
              <a:t>García S., Herrera F. (2008). An Extension on «Statistical Comparisons of Classifiers over Multiple Data Sets» for all Pairwise Comparisons. JMLR, 9.</a:t>
            </a:r>
            <a:endParaRPr lang="en-US" sz="1600" dirty="0"/>
          </a:p>
          <a:p>
            <a:pPr algn="l" marL="196342" indent="-196342">
              <a:lnSpc>
                <a:spcPts val="2400"/>
              </a:lnSpc>
              <a:buSzPct val="100000"/>
              <a:buChar char="•"/>
            </a:pPr>
            <a:r>
              <a:rPr lang="en-US" sz="1600" dirty="0">
                <a:solidFill>
                  <a:srgbClr val="1A1A1A"/>
                </a:solidFill>
                <a:latin typeface="IBM Plex Sans" pitchFamily="34" charset="0"/>
                <a:ea typeface="IBM Plex Sans" pitchFamily="34" charset="-122"/>
                <a:cs typeface="IBM Plex Sans" pitchFamily="34" charset="-120"/>
              </a:rPr>
              <a:t>Király F. J., Mateen B., Sonabend R. (2018). NIPS — Not Even Wrong? arXiv:1812.07519.</a:t>
            </a:r>
            <a:endParaRPr lang="en-US" sz="1600" dirty="0"/>
          </a:p>
        </p:txBody>
      </p:sp>
      <p:sp>
        <p:nvSpPr>
          <p:cNvPr id="5" name="Text 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Значимость различий в качестве классификаторов</a:t>
            </a:r>
            <a:endParaRPr lang="en-US" sz="1200" dirty="0"/>
          </a:p>
        </p:txBody>
      </p:sp>
      <p:sp>
        <p:nvSpPr>
          <p:cNvPr id="6" name="Text 4"/>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670"/>
                </a:solidFill>
                <a:latin typeface="IBM Plex Sans" pitchFamily="34" charset="0"/>
                <a:ea typeface="IBM Plex Sans" pitchFamily="34" charset="-122"/>
                <a:cs typeface="IBM Plex Sans"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5202B"/>
        </a:solidFill>
      </p:bgPr>
    </p:bg>
    <p:spTree>
      <p:nvGrpSpPr>
        <p:cNvPr id="1" name=""/>
        <p:cNvGrpSpPr/>
        <p:nvPr/>
      </p:nvGrpSpPr>
      <p:grpSpPr>
        <a:xfrm>
          <a:off x="0" y="0"/>
          <a:ext cx="0" cy="0"/>
          <a:chOff x="0" y="0"/>
          <a:chExt cx="0" cy="0"/>
        </a:xfrm>
      </p:grpSpPr>
      <p:sp>
        <p:nvSpPr>
          <p:cNvPr id="2" name="Shape 0"/>
          <p:cNvSpPr/>
          <p:nvPr/>
        </p:nvSpPr>
        <p:spPr>
          <a:xfrm>
            <a:off x="812800" y="2381250"/>
            <a:ext cx="609600" cy="50800"/>
          </a:xfrm>
          <a:prstGeom prst="rect">
            <a:avLst/>
          </a:prstGeom>
          <a:solidFill>
            <a:srgbClr val="2A78D6"/>
          </a:solidFill>
          <a:ln/>
        </p:spPr>
      </p:sp>
      <p:sp>
        <p:nvSpPr>
          <p:cNvPr id="3" name="Text 1"/>
          <p:cNvSpPr/>
          <p:nvPr>
            <p:ph type="title"/>
          </p:nvPr>
        </p:nvSpPr>
        <p:spPr>
          <a:xfrm>
            <a:off x="812800" y="2686050"/>
            <a:ext cx="10883392" cy="69596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4F4EF"/>
                </a:solidFill>
                <a:latin typeface="IBM Plex Sans" pitchFamily="34" charset="0"/>
                <a:ea typeface="IBM Plex Sans" pitchFamily="34" charset="-122"/>
                <a:cs typeface="IBM Plex Sans" pitchFamily="34" charset="-120"/>
              </a:rPr>
              <a:t>Спасибо за внимание</a:t>
            </a:r>
            <a:endParaRPr lang="en-US" sz="4800" dirty="0"/>
          </a:p>
        </p:txBody>
      </p:sp>
      <p:sp>
        <p:nvSpPr>
          <p:cNvPr id="4" name="Text 2"/>
          <p:cNvSpPr/>
          <p:nvPr/>
        </p:nvSpPr>
        <p:spPr>
          <a:xfrm>
            <a:off x="812800" y="3610608"/>
            <a:ext cx="8502650"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2DB"/>
                </a:solidFill>
                <a:latin typeface="IBM Plex Sans" pitchFamily="34" charset="0"/>
                <a:ea typeface="IBM Plex Sans" pitchFamily="34" charset="-122"/>
                <a:cs typeface="IBM Plex Sans" pitchFamily="34" charset="-120"/>
              </a:rPr>
              <a:t>Вопросы?</a:t>
            </a:r>
            <a:endParaRPr lang="en-US" sz="2200" dirty="0"/>
          </a:p>
        </p:txBody>
      </p:sp>
      <p:sp>
        <p:nvSpPr>
          <p:cNvPr id="5" name="Text 3"/>
          <p:cNvSpPr/>
          <p:nvPr/>
        </p:nvSpPr>
        <p:spPr>
          <a:xfrm>
            <a:off x="812800" y="4227835"/>
            <a:ext cx="850265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8C2"/>
                </a:solidFill>
                <a:latin typeface="IBM Plex Sans" pitchFamily="34" charset="0"/>
                <a:ea typeface="IBM Plex Sans" pitchFamily="34" charset="-122"/>
                <a:cs typeface="IBM Plex Sans" pitchFamily="34" charset="-120"/>
              </a:rPr>
              <a:t>Код, расчёты и графики: ноутбук first.ipynb</a:t>
            </a:r>
            <a:endParaRPr lang="en-US" sz="1400" dirty="0"/>
          </a:p>
        </p:txBody>
      </p:sp>
    </p:spTree>
  </p:cSld>
  <p:clrMapOvr>
    <a:masterClrMapping/>
  </p:clrMapOvr>
</p:sld>
</file>

<file path=ppt/theme/theme1.xml><?xml version="1.0" encoding="utf-8"?>
<a:theme xmlns:a="http://schemas.openxmlformats.org/drawingml/2006/main" name="Значимость различий в качестве классификаторов">
  <a:themeElements>
    <a:clrScheme name="Значимость различий в качестве классификаторов">
      <a:dk1>
        <a:srgbClr val="1A1A1A"/>
      </a:dk1>
      <a:lt1>
        <a:srgbClr val="FBFBF8"/>
      </a:lt1>
      <a:dk2>
        <a:srgbClr val="525252"/>
      </a:dk2>
      <a:lt2>
        <a:srgbClr val="E5E5E2"/>
      </a:lt2>
      <a:accent1>
        <a:srgbClr val="1F62B5"/>
      </a:accent1>
      <a:accent2>
        <a:srgbClr val="0F7A52"/>
      </a:accent2>
      <a:accent3>
        <a:srgbClr val="2A78D6"/>
      </a:accent3>
      <a:accent4>
        <a:srgbClr val="C2410C"/>
      </a:accent4>
      <a:accent5>
        <a:srgbClr val="8AB8F0"/>
      </a:accent5>
      <a:accent6>
        <a:srgbClr val="5F6670"/>
      </a:accent6>
      <a:hlink>
        <a:srgbClr val="0563C1"/>
      </a:hlink>
      <a:folHlink>
        <a:srgbClr val="954F72"/>
      </a:folHlink>
    </a:clrScheme>
    <a:fontScheme name="Значимость различий в качестве классификаторов">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Значимость различий в качестве классификаторов</dc:title>
  <dc:subject/>
  <dc:creator/>
  <cp:lastModifiedBy/>
  <cp:revision>1</cp:revision>
  <dcterms:created xsi:type="dcterms:W3CDTF">2026-10-19T20:28:04Z</dcterms:created>
  <dcterms:modified xsi:type="dcterms:W3CDTF">2026-10-19T20:28:04Z</dcterms:modified>
</cp:coreProperties>
</file>